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422" r:id="rId2"/>
    <p:sldId id="470" r:id="rId3"/>
    <p:sldId id="436" r:id="rId4"/>
    <p:sldId id="437" r:id="rId5"/>
    <p:sldId id="438" r:id="rId6"/>
    <p:sldId id="439" r:id="rId7"/>
    <p:sldId id="440" r:id="rId8"/>
    <p:sldId id="441" r:id="rId9"/>
    <p:sldId id="442" r:id="rId10"/>
    <p:sldId id="443" r:id="rId11"/>
    <p:sldId id="444" r:id="rId12"/>
    <p:sldId id="445" r:id="rId13"/>
    <p:sldId id="446" r:id="rId14"/>
    <p:sldId id="447" r:id="rId15"/>
    <p:sldId id="448" r:id="rId16"/>
    <p:sldId id="449" r:id="rId17"/>
    <p:sldId id="450" r:id="rId18"/>
    <p:sldId id="45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D931C4-C6FF-4AB4-AC79-DF257A656086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A7401D-BE44-4F1B-B290-821050BAB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645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911C2445-FBEF-1B0E-CAB1-2A22FFCF5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A4F6FAE3-BD0D-E533-720F-9F2C99FE3B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10DDCD92-2324-C86B-68F3-E9AC9365D2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56037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46402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90260FC2-C09A-43C4-D780-2240B2909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8946CDF4-3217-C1CD-5E85-213F6F48AB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31FE503A-D13F-AAC5-FD9C-5383B38A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23457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7EED4D03-8915-8870-2802-800BBE49A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45153569-0D53-6198-EC39-F871E3EF37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08BE6C2E-95C3-F7E4-127A-CD9B809021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734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A473B2D2-6F9F-1628-BA01-BF404F4F2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7D891770-B1B4-56E4-9EA6-19F43A7A2B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A5B9CBBC-12FD-7AA3-410C-C2676BFE2B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9924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05F346D7-95FF-53C7-0342-26CC8D636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E37D5636-CB1F-03E8-7B6B-81B79CC744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0A8E6045-4BDA-C436-B3AA-D12B32E71F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24810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01D2C71A-133A-E7B4-DE1D-5C28B92C0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D64F7BC8-E439-BF89-1166-E6E8C52277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2F2F6B1E-5EC6-DCDE-7F5D-ACABE61E66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25442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03364A2A-BA9C-DDC2-7574-B858EBA22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4B7840B1-67FE-1F50-B7F2-2BC72C4139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3371BD6D-77B4-65A2-6959-A3B44929CF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06028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39F693EB-BB1D-566B-EF63-61474E660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642A8547-93E9-F0E1-94A6-8356DB9026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92442D57-28E4-732C-A6F3-4EFB1333CC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80556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266583AB-9DC5-F9ED-8FE7-F9F5E3833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61C3A494-966D-148F-399D-D50CF8AEDB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37CD012A-FB2A-A1CA-AC6F-98AC16FC6B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54187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3CCB253A-E1A9-5977-4DDD-1532B0358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6726C8D8-383E-E675-90EC-1D895305D9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1BCBF40D-DE9F-E120-8E0D-1F4BE84EF2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47249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ABCB2D39-4308-9040-1A9A-4D2E377EA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13B02B77-8B56-4B95-E396-C03FBE1C88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5F2BD42F-3ACB-C14E-EEE9-E91FB1DF00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06527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34D498C2-469D-B2D3-D17E-409DFEF6C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7E65D404-38E5-18D2-143B-50A9EC5E1A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25070F1B-ED1C-F4BD-8FDE-FF99B59326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06183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AF7630F0-AC3A-04E6-924C-82286432F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B50CB64A-48EA-2414-7029-C634B25CE6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465B7854-E2DD-A12C-488C-0BCBBC9986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36219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67B741BF-6C90-83BB-57B5-CFF8BB12F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6FE874B5-99AC-6066-0D74-3752CBD820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A906686A-5F85-1902-E26E-897403A2EF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93337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5DF0905C-9D08-8A7E-6F89-83DDDFBE8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FD7B29F4-F070-78C3-81AB-E91A3078A6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7CA3FE13-A0A9-071A-2567-878EA0E82B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40905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98A4D493-08F5-10A5-56AD-0178EC7A6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5C0CC60A-6140-91C9-FBD8-4D42DFDA6E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0800FF1A-26E6-E7CB-1A26-185565350E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16107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EEF55B77-5774-9D41-1BED-97D9E9444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DD8C999D-6D58-AE74-E4CC-8308E7262B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C1269842-7B37-7832-B95A-E1722B4B28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8351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C537B-B469-5EBA-8A09-A908819459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F76777-2A60-09EF-3CC5-3BBFAFEE3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B0699-3C9A-8BB2-D7B2-768996981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6262F-C896-4CEF-AB3C-88F281EAC56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E558A-3252-1882-6392-3059C6594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7EEEA-DABB-D731-BBF0-F3A9D3829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50F56-B6B5-4D67-B62F-A3371A026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072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86FC4-2471-AC88-3D9E-1604F2FFB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BC2E7-FA5E-6547-7D60-02A116A40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FEA4B-D72B-6042-8165-9B3EEB82D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6262F-C896-4CEF-AB3C-88F281EAC56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A8CA8-73C6-C0EA-7BE7-EBFA48B23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E3E19-710D-7BB5-8B48-538A64628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50F56-B6B5-4D67-B62F-A3371A026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856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CF177-6A0F-04B8-9D99-8AD58AF16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851C2F-79DF-88FD-C57D-6CE12062E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DF3B2-0E33-6232-A1B5-7F7D31BA0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6262F-C896-4CEF-AB3C-88F281EAC56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9A8E6-F674-AC92-55B2-6B10A7FFD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0B749-6526-5780-CB17-87F558CEF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50F56-B6B5-4D67-B62F-A3371A026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39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16D0B-C95E-AAEC-1E4D-8E767FA3F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005CD-B21A-2D45-6069-C15CF2978F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8B9C63-0E33-1068-BA20-CC3D1429D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270CF-39D3-E75B-16C9-11522DBE2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6262F-C896-4CEF-AB3C-88F281EAC56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1CFF5-4A34-8E0B-30C8-15A3B4FCD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5D7C16-A35F-DA08-1BE4-DB2F8A8D4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50F56-B6B5-4D67-B62F-A3371A026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67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82005-E16D-A94A-66CA-3A1F9B8E3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5510E-2F50-DDCB-F696-02D611316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4F1147-AFE9-3273-C4A8-811651E0B6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E1B0F7-8DFB-B8DD-9549-FCF80C7C8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711E98-C079-A2EA-A421-55F4DFFEA4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A96072-8F59-31B5-358C-9F28DB840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6262F-C896-4CEF-AB3C-88F281EAC56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BA89A1-57F2-35C0-4E6A-8EF2E56D9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419EFB-DA02-C5ED-88A4-FEBA12675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50F56-B6B5-4D67-B62F-A3371A026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85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1F762-5932-BC81-079E-6084F388A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44B0CB-F9AE-73D1-DA5D-DF8A59F14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6262F-C896-4CEF-AB3C-88F281EAC56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CEE34C-5A0E-DCBE-F52F-D157692AF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45B9FB-715B-84E3-6F40-170D0BAE4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50F56-B6B5-4D67-B62F-A3371A026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179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D3D34C-C256-CE00-5986-540164AAE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6262F-C896-4CEF-AB3C-88F281EAC56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7E8F11-4A6C-C8EB-5F12-37B02DC22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00955-5944-34A5-FB7E-87BC48D19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50F56-B6B5-4D67-B62F-A3371A026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381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2DEE2-D336-2C45-3F13-75AA03DBE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F34A2-0079-E45F-7FFF-AF0DABC61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0EB735-F3D4-03FF-069A-11D98CCC2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BA2770-90D0-CA8A-53A8-F3EF9CCB1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6262F-C896-4CEF-AB3C-88F281EAC56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FB0C95-736C-5CD6-880B-052C7AE5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46C866-530D-1439-B64D-BFA83383E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50F56-B6B5-4D67-B62F-A3371A026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712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D936F-5264-207E-4C09-DC72B5C90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BD4930-5CDE-F05B-101D-B4C018668E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0DD246-55CC-AAF3-BD72-2648B8640B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9DDBDB-B1B6-5F6C-731F-60BB78BE9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6262F-C896-4CEF-AB3C-88F281EAC56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484DA-9E3B-A797-406E-7EAFE7A3E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8F559-3EED-2C77-4702-281C52FAC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50F56-B6B5-4D67-B62F-A3371A026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882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6DB75-975D-378D-7460-39DD44BEB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E1EC8E-8679-B92A-D509-35BC61AC22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1103F-4730-87A8-F558-6C9E16FA0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6262F-C896-4CEF-AB3C-88F281EAC56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553BB-0174-6CA2-2FA7-4B69F9791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5BE63-5234-22A2-86FE-8C425AED7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50F56-B6B5-4D67-B62F-A3371A026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878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A728B8-DE59-2F33-ACED-C620330AFF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642BB5-F3BD-5F6B-7B4E-23FE31E8A3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0222C-7023-7ECD-5E83-6D1B53830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6262F-C896-4CEF-AB3C-88F281EAC56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58586-C7EB-03EC-BF18-3AB262ED1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7945-9957-A8B3-DA61-E5E977435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50F56-B6B5-4D67-B62F-A3371A026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6159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52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●"/>
              <a:defRPr/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○"/>
              <a:defRPr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■"/>
              <a:defRPr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●"/>
              <a:defRPr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○"/>
              <a:defRPr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■"/>
              <a:defRPr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●"/>
              <a:defRPr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○"/>
              <a:defRPr/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■"/>
              <a:defRPr/>
            </a:lvl9pPr>
          </a:lstStyle>
          <a:p>
            <a:endParaRPr/>
          </a:p>
        </p:txBody>
      </p:sp>
      <p:grpSp>
        <p:nvGrpSpPr>
          <p:cNvPr id="23" name="Google Shape;23;p4"/>
          <p:cNvGrpSpPr/>
          <p:nvPr/>
        </p:nvGrpSpPr>
        <p:grpSpPr>
          <a:xfrm>
            <a:off x="168" y="0"/>
            <a:ext cx="12191833" cy="161200"/>
            <a:chOff x="125" y="0"/>
            <a:chExt cx="9143875" cy="120900"/>
          </a:xfrm>
        </p:grpSpPr>
        <p:sp>
          <p:nvSpPr>
            <p:cNvPr id="24" name="Google Shape;24;p4"/>
            <p:cNvSpPr/>
            <p:nvPr/>
          </p:nvSpPr>
          <p:spPr>
            <a:xfrm flipH="1">
              <a:off x="654900" y="0"/>
              <a:ext cx="8489100" cy="12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 flipH="1">
              <a:off x="125" y="0"/>
              <a:ext cx="713100" cy="120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12783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7"/>
          <p:cNvSpPr txBox="1">
            <a:spLocks noGrp="1"/>
          </p:cNvSpPr>
          <p:nvPr>
            <p:ph type="title" idx="2" hasCustomPrompt="1"/>
          </p:nvPr>
        </p:nvSpPr>
        <p:spPr>
          <a:xfrm>
            <a:off x="2072412" y="1860800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3" name="Google Shape;103;p17"/>
          <p:cNvSpPr txBox="1">
            <a:spLocks noGrp="1"/>
          </p:cNvSpPr>
          <p:nvPr>
            <p:ph type="title" idx="3" hasCustomPrompt="1"/>
          </p:nvPr>
        </p:nvSpPr>
        <p:spPr>
          <a:xfrm>
            <a:off x="2072412" y="4065739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4" name="Google Shape;104;p17"/>
          <p:cNvSpPr txBox="1">
            <a:spLocks noGrp="1"/>
          </p:cNvSpPr>
          <p:nvPr>
            <p:ph type="title" idx="4" hasCustomPrompt="1"/>
          </p:nvPr>
        </p:nvSpPr>
        <p:spPr>
          <a:xfrm>
            <a:off x="5580116" y="1860800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5" name="Google Shape;105;p17"/>
          <p:cNvSpPr txBox="1">
            <a:spLocks noGrp="1"/>
          </p:cNvSpPr>
          <p:nvPr>
            <p:ph type="title" idx="5" hasCustomPrompt="1"/>
          </p:nvPr>
        </p:nvSpPr>
        <p:spPr>
          <a:xfrm>
            <a:off x="5580116" y="4065739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6" name="Google Shape;106;p17"/>
          <p:cNvSpPr txBox="1">
            <a:spLocks noGrp="1"/>
          </p:cNvSpPr>
          <p:nvPr>
            <p:ph type="title" idx="6" hasCustomPrompt="1"/>
          </p:nvPr>
        </p:nvSpPr>
        <p:spPr>
          <a:xfrm>
            <a:off x="9087853" y="1860800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7" name="Google Shape;107;p17"/>
          <p:cNvSpPr txBox="1">
            <a:spLocks noGrp="1"/>
          </p:cNvSpPr>
          <p:nvPr>
            <p:ph type="title" idx="7" hasCustomPrompt="1"/>
          </p:nvPr>
        </p:nvSpPr>
        <p:spPr>
          <a:xfrm>
            <a:off x="9087853" y="4065739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8" name="Google Shape;108;p17"/>
          <p:cNvSpPr txBox="1">
            <a:spLocks noGrp="1"/>
          </p:cNvSpPr>
          <p:nvPr>
            <p:ph type="subTitle" idx="1"/>
          </p:nvPr>
        </p:nvSpPr>
        <p:spPr>
          <a:xfrm>
            <a:off x="960000" y="2893600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ubTitle" idx="8"/>
          </p:nvPr>
        </p:nvSpPr>
        <p:spPr>
          <a:xfrm>
            <a:off x="4467704" y="2893600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subTitle" idx="9"/>
          </p:nvPr>
        </p:nvSpPr>
        <p:spPr>
          <a:xfrm>
            <a:off x="7975441" y="2893600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subTitle" idx="13"/>
          </p:nvPr>
        </p:nvSpPr>
        <p:spPr>
          <a:xfrm>
            <a:off x="960000" y="5098533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subTitle" idx="14"/>
          </p:nvPr>
        </p:nvSpPr>
        <p:spPr>
          <a:xfrm>
            <a:off x="4467704" y="5098533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subTitle" idx="15"/>
          </p:nvPr>
        </p:nvSpPr>
        <p:spPr>
          <a:xfrm>
            <a:off x="7975441" y="5098533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grpSp>
        <p:nvGrpSpPr>
          <p:cNvPr id="114" name="Google Shape;114;p17"/>
          <p:cNvGrpSpPr/>
          <p:nvPr/>
        </p:nvGrpSpPr>
        <p:grpSpPr>
          <a:xfrm>
            <a:off x="-15" y="-16"/>
            <a:ext cx="161217" cy="6862784"/>
            <a:chOff x="-12" y="-12"/>
            <a:chExt cx="120913" cy="5147088"/>
          </a:xfrm>
        </p:grpSpPr>
        <p:sp>
          <p:nvSpPr>
            <p:cNvPr id="115" name="Google Shape;115;p17"/>
            <p:cNvSpPr/>
            <p:nvPr/>
          </p:nvSpPr>
          <p:spPr>
            <a:xfrm rot="5400000" flipH="1">
              <a:off x="-2185650" y="2840525"/>
              <a:ext cx="4492200" cy="12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16" name="Google Shape;116;p17"/>
            <p:cNvSpPr/>
            <p:nvPr/>
          </p:nvSpPr>
          <p:spPr>
            <a:xfrm rot="5400000" flipH="1">
              <a:off x="-296112" y="296088"/>
              <a:ext cx="713100" cy="120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0362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63040D-3591-5EB9-8780-235DC0466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5B7978-671D-6296-5BAF-D2E8178DF7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9AAF2-B23F-0674-7A8D-CE2A510D13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96262F-C896-4CEF-AB3C-88F281EAC56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DAB4F-EDB4-10B9-9186-F88CE22A12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FB2F9-0ADC-FA3C-F004-75D024E6BD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250F56-B6B5-4D67-B62F-A3371A026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911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20696F3D-F282-6F37-6641-B96FD5A2A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044BA9B5-DFF3-84A5-377A-B9E825AD8A0E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B2774590-675A-C344-DE82-9BCEE2D54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712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What we Cover Today:</a:t>
            </a:r>
            <a:endParaRPr dirty="0"/>
          </a:p>
        </p:txBody>
      </p:sp>
      <p:sp>
        <p:nvSpPr>
          <p:cNvPr id="214" name="Google Shape;214;p29"/>
          <p:cNvSpPr txBox="1">
            <a:spLocks noGrp="1"/>
          </p:cNvSpPr>
          <p:nvPr>
            <p:ph type="title" idx="2"/>
          </p:nvPr>
        </p:nvSpPr>
        <p:spPr>
          <a:xfrm>
            <a:off x="2072412" y="1860800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01</a:t>
            </a:r>
            <a:endParaRPr/>
          </a:p>
        </p:txBody>
      </p:sp>
      <p:sp>
        <p:nvSpPr>
          <p:cNvPr id="215" name="Google Shape;215;p29"/>
          <p:cNvSpPr txBox="1">
            <a:spLocks noGrp="1"/>
          </p:cNvSpPr>
          <p:nvPr>
            <p:ph type="title" idx="3"/>
          </p:nvPr>
        </p:nvSpPr>
        <p:spPr>
          <a:xfrm>
            <a:off x="2072412" y="4065739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04</a:t>
            </a:r>
            <a:endParaRPr/>
          </a:p>
        </p:txBody>
      </p:sp>
      <p:sp>
        <p:nvSpPr>
          <p:cNvPr id="216" name="Google Shape;216;p29"/>
          <p:cNvSpPr txBox="1">
            <a:spLocks noGrp="1"/>
          </p:cNvSpPr>
          <p:nvPr>
            <p:ph type="title" idx="4"/>
          </p:nvPr>
        </p:nvSpPr>
        <p:spPr>
          <a:xfrm>
            <a:off x="5580116" y="1860800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02</a:t>
            </a:r>
            <a:endParaRPr/>
          </a:p>
        </p:txBody>
      </p:sp>
      <p:sp>
        <p:nvSpPr>
          <p:cNvPr id="218" name="Google Shape;218;p29"/>
          <p:cNvSpPr txBox="1">
            <a:spLocks noGrp="1"/>
          </p:cNvSpPr>
          <p:nvPr>
            <p:ph type="title" idx="6"/>
          </p:nvPr>
        </p:nvSpPr>
        <p:spPr>
          <a:xfrm>
            <a:off x="9087853" y="1860800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03</a:t>
            </a:r>
            <a:endParaRPr/>
          </a:p>
        </p:txBody>
      </p:sp>
      <p:sp>
        <p:nvSpPr>
          <p:cNvPr id="220" name="Google Shape;220;p29"/>
          <p:cNvSpPr txBox="1">
            <a:spLocks noGrp="1"/>
          </p:cNvSpPr>
          <p:nvPr>
            <p:ph type="subTitle" idx="1"/>
          </p:nvPr>
        </p:nvSpPr>
        <p:spPr>
          <a:xfrm>
            <a:off x="960000" y="2893600"/>
            <a:ext cx="3265600" cy="59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/>
            <a:r>
              <a:rPr lang="en-CA" dirty="0"/>
              <a:t>Anonymous Function</a:t>
            </a:r>
            <a:endParaRPr b="0" dirty="0"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cxnSp>
        <p:nvCxnSpPr>
          <p:cNvPr id="226" name="Google Shape;226;p29"/>
          <p:cNvCxnSpPr/>
          <p:nvPr/>
        </p:nvCxnSpPr>
        <p:spPr>
          <a:xfrm>
            <a:off x="2020000" y="2792000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27" name="Google Shape;227;p29"/>
          <p:cNvCxnSpPr/>
          <p:nvPr/>
        </p:nvCxnSpPr>
        <p:spPr>
          <a:xfrm>
            <a:off x="5527717" y="2792000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28" name="Google Shape;228;p29"/>
          <p:cNvCxnSpPr/>
          <p:nvPr/>
        </p:nvCxnSpPr>
        <p:spPr>
          <a:xfrm>
            <a:off x="9035384" y="2792000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29" name="Google Shape;229;p29"/>
          <p:cNvCxnSpPr/>
          <p:nvPr/>
        </p:nvCxnSpPr>
        <p:spPr>
          <a:xfrm>
            <a:off x="2020000" y="4996933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" name="Google Shape;220;p29">
            <a:extLst>
              <a:ext uri="{FF2B5EF4-FFF2-40B4-BE49-F238E27FC236}">
                <a16:creationId xmlns:a16="http://schemas.microsoft.com/office/drawing/2014/main" id="{646AA688-C953-8207-6385-3D0F7EEDC8EA}"/>
              </a:ext>
            </a:extLst>
          </p:cNvPr>
          <p:cNvSpPr txBox="1">
            <a:spLocks/>
          </p:cNvSpPr>
          <p:nvPr/>
        </p:nvSpPr>
        <p:spPr>
          <a:xfrm>
            <a:off x="4463200" y="2893596"/>
            <a:ext cx="326560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pPr marL="0" indent="0"/>
            <a:r>
              <a:rPr lang="en-GB" sz="2400" dirty="0"/>
              <a:t>Arrow Function</a:t>
            </a:r>
          </a:p>
        </p:txBody>
      </p:sp>
      <p:sp>
        <p:nvSpPr>
          <p:cNvPr id="4" name="Google Shape;220;p29">
            <a:extLst>
              <a:ext uri="{FF2B5EF4-FFF2-40B4-BE49-F238E27FC236}">
                <a16:creationId xmlns:a16="http://schemas.microsoft.com/office/drawing/2014/main" id="{BDB03565-0506-79DC-F6D7-009C8D6D6B35}"/>
              </a:ext>
            </a:extLst>
          </p:cNvPr>
          <p:cNvSpPr txBox="1">
            <a:spLocks/>
          </p:cNvSpPr>
          <p:nvPr/>
        </p:nvSpPr>
        <p:spPr>
          <a:xfrm>
            <a:off x="7966400" y="2876545"/>
            <a:ext cx="326560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pPr marL="0" indent="0"/>
            <a:r>
              <a:rPr lang="en-GB" sz="2400" dirty="0"/>
              <a:t>Scope</a:t>
            </a:r>
          </a:p>
        </p:txBody>
      </p:sp>
      <p:sp>
        <p:nvSpPr>
          <p:cNvPr id="5" name="Google Shape;220;p29">
            <a:extLst>
              <a:ext uri="{FF2B5EF4-FFF2-40B4-BE49-F238E27FC236}">
                <a16:creationId xmlns:a16="http://schemas.microsoft.com/office/drawing/2014/main" id="{AC67C9DB-CC07-97AD-A7A0-9E896C6818EA}"/>
              </a:ext>
            </a:extLst>
          </p:cNvPr>
          <p:cNvSpPr txBox="1">
            <a:spLocks/>
          </p:cNvSpPr>
          <p:nvPr/>
        </p:nvSpPr>
        <p:spPr>
          <a:xfrm>
            <a:off x="960000" y="5027033"/>
            <a:ext cx="326560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pPr marL="0" indent="0"/>
            <a:r>
              <a:rPr lang="en-GB" sz="2400" dirty="0"/>
              <a:t>Exercise</a:t>
            </a:r>
          </a:p>
        </p:txBody>
      </p:sp>
    </p:spTree>
    <p:extLst>
      <p:ext uri="{BB962C8B-B14F-4D97-AF65-F5344CB8AC3E}">
        <p14:creationId xmlns:p14="http://schemas.microsoft.com/office/powerpoint/2010/main" val="4184116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16CED95B-391A-87DD-A667-9AA8BAF4F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EB791621-2971-D99C-294D-DE5F8CC349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Anonymous Function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F5959C3C-8036-DA4A-9484-AB39A65DD763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F8CF7CD-00C7-8F2C-71F0-09714A30A9A5}"/>
              </a:ext>
            </a:extLst>
          </p:cNvPr>
          <p:cNvSpPr txBox="1"/>
          <p:nvPr/>
        </p:nvSpPr>
        <p:spPr>
          <a:xfrm>
            <a:off x="762000" y="1101133"/>
            <a:ext cx="11538857" cy="4366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function without a name.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Usually stored in a variable or used directly.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Commonly used for short tasks or callbacks.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let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variableName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= function(parameters) {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 // code here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};</a:t>
            </a:r>
          </a:p>
          <a:p>
            <a:pPr>
              <a:lnSpc>
                <a:spcPct val="150000"/>
              </a:lnSpc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2159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3C56D16A-CDA0-F0C0-4A2A-CBB83E8B6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96C322E2-5341-C659-B508-8FE35E39A2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Anonymous Function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23A7C691-680B-AE4F-776D-04ED499FFFBF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69E9462-2FD1-1752-8C80-7657A5F35770}"/>
              </a:ext>
            </a:extLst>
          </p:cNvPr>
          <p:cNvSpPr txBox="1"/>
          <p:nvPr/>
        </p:nvSpPr>
        <p:spPr>
          <a:xfrm>
            <a:off x="762000" y="1101132"/>
            <a:ext cx="11538857" cy="320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1: Anonymous Function in a variable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let greet = function(name) {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 console.log("Hello " + name);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};</a:t>
            </a:r>
          </a:p>
          <a:p>
            <a:pPr>
              <a:lnSpc>
                <a:spcPct val="150000"/>
              </a:lnSpc>
            </a:pPr>
            <a:endParaRPr lang="en-GB" sz="2267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greet("Ahmed");  // Output: Hello Ahmed</a:t>
            </a:r>
          </a:p>
        </p:txBody>
      </p:sp>
    </p:spTree>
    <p:extLst>
      <p:ext uri="{BB962C8B-B14F-4D97-AF65-F5344CB8AC3E}">
        <p14:creationId xmlns:p14="http://schemas.microsoft.com/office/powerpoint/2010/main" val="194899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42E4BF1C-8DF3-6A2A-0314-C487F9153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AD05B279-4EF0-922F-7528-AD2EE1429F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Anonymous Function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D5E28F88-EEE5-71FD-C4D7-4D57CD7E3CD2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6A520D6-7BE6-CB0E-1E2D-115CCC1D16F9}"/>
              </a:ext>
            </a:extLst>
          </p:cNvPr>
          <p:cNvSpPr txBox="1"/>
          <p:nvPr/>
        </p:nvSpPr>
        <p:spPr>
          <a:xfrm>
            <a:off x="762000" y="1101132"/>
            <a:ext cx="11538857" cy="585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2: Using Anonymous Function as a callback</a:t>
            </a:r>
          </a:p>
          <a:p>
            <a:pPr>
              <a:lnSpc>
                <a:spcPct val="150000"/>
              </a:lnSpc>
            </a:pP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setTimeout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(function() {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 console.log("This message shows after 2 seconds");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}, 2000);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3: With Array Methods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let numbers = [1, 2, 3, 4];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let squares =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numbers.map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(function(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num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 return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num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*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num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});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console.log(squares); // Output: [1, 4, 9, 16]</a:t>
            </a:r>
          </a:p>
          <a:p>
            <a:pPr>
              <a:lnSpc>
                <a:spcPct val="150000"/>
              </a:lnSpc>
            </a:pPr>
            <a:endParaRPr lang="en-GB" sz="2267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05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99A31FB5-F8C8-93F9-15B1-B907AB776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6C9009C2-B070-CA2B-E385-CA90D98303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Arrow Function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AD244C07-6762-F685-540D-0F649E8B8617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F3FA2CE-CB34-1EC9-9A8C-E0B0757FED6F}"/>
              </a:ext>
            </a:extLst>
          </p:cNvPr>
          <p:cNvSpPr txBox="1"/>
          <p:nvPr/>
        </p:nvSpPr>
        <p:spPr>
          <a:xfrm>
            <a:off x="762000" y="1101133"/>
            <a:ext cx="11538857" cy="4920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shorter way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write a function.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the arrow symbol 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=&gt;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instead of the word function.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Usually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anonymous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(no name), but you can assign it to a variable.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and clean code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 Basic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let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functionName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= (parameters) =&gt; {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 // code here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};</a:t>
            </a:r>
          </a:p>
          <a:p>
            <a:pPr>
              <a:lnSpc>
                <a:spcPct val="150000"/>
              </a:lnSpc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524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0858CFFE-B5BC-3C4E-2D71-C39543F87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F2F4006B-75EA-B6CE-52E3-3B139CB7BC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Arrow Function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808F9526-538D-6136-5FD9-E3C233ED5333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4BBB198-A4FC-4E87-FB01-03D07F688BD6}"/>
              </a:ext>
            </a:extLst>
          </p:cNvPr>
          <p:cNvSpPr txBox="1"/>
          <p:nvPr/>
        </p:nvSpPr>
        <p:spPr>
          <a:xfrm>
            <a:off x="762000" y="1101132"/>
            <a:ext cx="11538857" cy="376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 with single Parameters (no parentheses needed)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let greet = name =&gt; {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 console.log("Hello " + name);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};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 with single line return (no curly braces needed)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let add = (a, b) =&gt; a + b;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console.log(add(5, 7)); // Output: 12</a:t>
            </a:r>
          </a:p>
        </p:txBody>
      </p:sp>
    </p:spTree>
    <p:extLst>
      <p:ext uri="{BB962C8B-B14F-4D97-AF65-F5344CB8AC3E}">
        <p14:creationId xmlns:p14="http://schemas.microsoft.com/office/powerpoint/2010/main" val="17510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4438C21B-AF84-7C84-C82F-0A2F9AF94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5A5B85B2-C26C-8A19-7E7B-5594CEF7C8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Arrow Function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01227758-BB5F-AE96-8876-37A6A7273262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9D85AB2-2530-7295-B5E1-068D75D8CE93}"/>
              </a:ext>
            </a:extLst>
          </p:cNvPr>
          <p:cNvSpPr txBox="1"/>
          <p:nvPr/>
        </p:nvSpPr>
        <p:spPr>
          <a:xfrm>
            <a:off x="762000" y="1101133"/>
            <a:ext cx="11538857" cy="3237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let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sayHi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= () =&gt; console.log("Hi!");</a:t>
            </a:r>
          </a:p>
          <a:p>
            <a:pPr>
              <a:lnSpc>
                <a:spcPct val="150000"/>
              </a:lnSpc>
            </a:pP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sayHi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(); // Output: Hi!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2: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let multiply = (a, b) =&gt; a * b;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console.log(multiply(4, 5)); // Output: 20</a:t>
            </a:r>
          </a:p>
        </p:txBody>
      </p:sp>
    </p:spTree>
    <p:extLst>
      <p:ext uri="{BB962C8B-B14F-4D97-AF65-F5344CB8AC3E}">
        <p14:creationId xmlns:p14="http://schemas.microsoft.com/office/powerpoint/2010/main" val="2389797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0E13E607-7F1A-8CF5-CB7F-63B7A947E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5C18AE76-24EC-7B27-C8DC-0E7A76D95D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Arrow Function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B7E2CEEC-E17D-DEB2-FF14-28FDB4AEA507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7615E61-68EB-2D9F-70FB-C8BC24EEBFFF}"/>
              </a:ext>
            </a:extLst>
          </p:cNvPr>
          <p:cNvSpPr txBox="1"/>
          <p:nvPr/>
        </p:nvSpPr>
        <p:spPr>
          <a:xfrm>
            <a:off x="762000" y="1101133"/>
            <a:ext cx="11538857" cy="4253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Comparison: Normal Function and Arrow Function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// Normal Function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function add(a, b) {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 return a + b;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50000"/>
              </a:lnSpc>
            </a:pPr>
            <a:endParaRPr lang="en-GB" sz="2267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// Arrow Function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let add = (a, b) =&gt; a + b;</a:t>
            </a:r>
          </a:p>
        </p:txBody>
      </p:sp>
    </p:spTree>
    <p:extLst>
      <p:ext uri="{BB962C8B-B14F-4D97-AF65-F5344CB8AC3E}">
        <p14:creationId xmlns:p14="http://schemas.microsoft.com/office/powerpoint/2010/main" val="852512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8CE1BA6F-40D8-3EAD-7BF2-3B25FB424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66E4CC77-C75B-017F-7047-534CB5D34B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Scope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CAF030CE-D247-4578-0039-A793D7E4CA8B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78810B8-DF97-2279-B0AE-AB86C63BE382}"/>
              </a:ext>
            </a:extLst>
          </p:cNvPr>
          <p:cNvSpPr txBox="1"/>
          <p:nvPr/>
        </p:nvSpPr>
        <p:spPr>
          <a:xfrm>
            <a:off x="762000" y="1101132"/>
            <a:ext cx="11538857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defines where a variable or function is accessible in your code.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simple words: where can you use a variable?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three main types of scope in JavaScript:</a:t>
            </a:r>
          </a:p>
          <a:p>
            <a:pPr marL="457189" indent="-457189">
              <a:lnSpc>
                <a:spcPct val="150000"/>
              </a:lnSpc>
              <a:buFont typeface="+mj-lt"/>
              <a:buAutoNum type="arabicPeriod"/>
            </a:pPr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Scope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declared outside any function have global scope.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accessed anywhere in the program, even inside functions.</a:t>
            </a:r>
          </a:p>
        </p:txBody>
      </p:sp>
    </p:spTree>
    <p:extLst>
      <p:ext uri="{BB962C8B-B14F-4D97-AF65-F5344CB8AC3E}">
        <p14:creationId xmlns:p14="http://schemas.microsoft.com/office/powerpoint/2010/main" val="3815002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C234DC85-303A-3FBB-37B4-887C5A6F5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C5E307BA-7693-846F-DFEF-6E7D2E19DD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Scope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A02E0B56-07FB-696D-91C7-9841A08499D5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9A0C967-0ED5-749C-A635-CC2AE67051D2}"/>
              </a:ext>
            </a:extLst>
          </p:cNvPr>
          <p:cNvSpPr txBox="1"/>
          <p:nvPr/>
        </p:nvSpPr>
        <p:spPr>
          <a:xfrm>
            <a:off x="762000" y="1101133"/>
            <a:ext cx="11538857" cy="4807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9" indent="-457189">
              <a:lnSpc>
                <a:spcPct val="150000"/>
              </a:lnSpc>
              <a:buFont typeface="+mj-lt"/>
              <a:buAutoNum type="arabicPeriod"/>
            </a:pPr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Scope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let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globalVar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= "I am global";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function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showGlobal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() {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 console.log(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globalVar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); // Can access global variable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50000"/>
              </a:lnSpc>
            </a:pPr>
            <a:endParaRPr lang="en-GB" sz="2267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showGlobal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();           // Output: I am global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console.log(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globalVar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); // Output: I am global</a:t>
            </a:r>
          </a:p>
        </p:txBody>
      </p:sp>
    </p:spTree>
    <p:extLst>
      <p:ext uri="{BB962C8B-B14F-4D97-AF65-F5344CB8AC3E}">
        <p14:creationId xmlns:p14="http://schemas.microsoft.com/office/powerpoint/2010/main" val="2958514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EE9889C8-F072-5744-F626-0B1098E92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18008CA5-10A9-7ED7-E499-82872C8838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Scope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C61463E6-00DC-DB1F-E906-BF653968277E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95668C1-0EE9-156E-580A-3ABB4F6A0EC4}"/>
              </a:ext>
            </a:extLst>
          </p:cNvPr>
          <p:cNvSpPr txBox="1"/>
          <p:nvPr/>
        </p:nvSpPr>
        <p:spPr>
          <a:xfrm>
            <a:off x="762000" y="1101132"/>
            <a:ext cx="11538857" cy="6304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9" indent="-457189">
              <a:lnSpc>
                <a:spcPct val="150000"/>
              </a:lnSpc>
              <a:buFont typeface="+mj-lt"/>
              <a:buAutoNum type="arabicPeriod" startAt="2"/>
            </a:pPr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Scope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declared inside a function have local scope.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accessed only inside that function.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be accessed outside the function.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GB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greet() {</a:t>
            </a:r>
          </a:p>
          <a:p>
            <a:pPr>
              <a:lnSpc>
                <a:spcPct val="150000"/>
              </a:lnSpc>
            </a:pPr>
            <a:r>
              <a:rPr lang="en-GB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let </a:t>
            </a:r>
            <a:r>
              <a:rPr lang="en-GB" sz="2133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localVar</a:t>
            </a:r>
            <a:r>
              <a:rPr lang="en-GB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"I am local";</a:t>
            </a:r>
          </a:p>
          <a:p>
            <a:pPr>
              <a:lnSpc>
                <a:spcPct val="150000"/>
              </a:lnSpc>
            </a:pPr>
            <a:r>
              <a:rPr lang="en-GB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console.log(</a:t>
            </a:r>
            <a:r>
              <a:rPr lang="en-GB" sz="2133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localVar</a:t>
            </a:r>
            <a:r>
              <a:rPr lang="en-GB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GB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GB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greet();           // Output: I am local</a:t>
            </a:r>
          </a:p>
          <a:p>
            <a:pPr>
              <a:lnSpc>
                <a:spcPct val="150000"/>
              </a:lnSpc>
            </a:pPr>
            <a:r>
              <a:rPr lang="en-GB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console.log(</a:t>
            </a:r>
            <a:r>
              <a:rPr lang="en-GB" sz="2133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localVar</a:t>
            </a:r>
            <a:r>
              <a:rPr lang="en-GB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// Error: </a:t>
            </a:r>
            <a:r>
              <a:rPr lang="en-GB" sz="2133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localVar</a:t>
            </a:r>
            <a:r>
              <a:rPr lang="en-GB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not defined</a:t>
            </a:r>
          </a:p>
          <a:p>
            <a:pPr>
              <a:lnSpc>
                <a:spcPct val="150000"/>
              </a:lnSpc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76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CCD468A6-79D8-3F13-CC4C-2397D896A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C22564B3-259E-B4E3-FB87-38B30DD388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Scope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01EEF433-B2AC-E44C-2FE1-965CFBFC50D3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C554CC2-E939-3AEA-8960-4366FAC113D2}"/>
              </a:ext>
            </a:extLst>
          </p:cNvPr>
          <p:cNvSpPr txBox="1"/>
          <p:nvPr/>
        </p:nvSpPr>
        <p:spPr>
          <a:xfrm>
            <a:off x="762000" y="1101132"/>
            <a:ext cx="11538857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9" indent="-457189">
              <a:lnSpc>
                <a:spcPct val="150000"/>
              </a:lnSpc>
              <a:buFont typeface="+mj-lt"/>
              <a:buAutoNum type="arabicPeriod" startAt="3"/>
            </a:pPr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Scope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block in JavaScript means code inside { } (curly braces).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declared with let or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inside a block can only be used inside that block.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declared with var are not block scoped (they escape out).</a:t>
            </a:r>
          </a:p>
          <a:p>
            <a:pPr>
              <a:lnSpc>
                <a:spcPct val="150000"/>
              </a:lnSpc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4791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AB138C9A-2BA9-4259-07CA-337843BF5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26A8314C-62C9-4849-6C6C-E1194A2C06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Scope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4C35B146-7BBD-AF87-E789-35D3EA5CB4CD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A1E0493-D863-2657-F5A4-2CE301F43BB0}"/>
              </a:ext>
            </a:extLst>
          </p:cNvPr>
          <p:cNvSpPr txBox="1"/>
          <p:nvPr/>
        </p:nvSpPr>
        <p:spPr>
          <a:xfrm>
            <a:off x="762000" y="1101133"/>
            <a:ext cx="11538857" cy="5331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9" indent="-457189">
              <a:lnSpc>
                <a:spcPct val="150000"/>
              </a:lnSpc>
              <a:buFont typeface="+mj-lt"/>
              <a:buAutoNum type="arabicPeriod" startAt="3"/>
            </a:pPr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Scope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 let a = 10;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const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b = 20;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 console.log(a); // 10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 console.log(b); // 20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console.log(a); //  Error: a is not defined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console.log(b); //  Error: b is not defined</a:t>
            </a:r>
          </a:p>
        </p:txBody>
      </p:sp>
    </p:spTree>
    <p:extLst>
      <p:ext uri="{BB962C8B-B14F-4D97-AF65-F5344CB8AC3E}">
        <p14:creationId xmlns:p14="http://schemas.microsoft.com/office/powerpoint/2010/main" val="2075342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EF83D5BD-168C-C98E-BECA-501105B0E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63226F7C-C1D0-5120-264E-0888ADA408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Scope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B777BDB5-94C0-698B-410A-AAAFEF00C6FC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8C32726-63A1-E4F2-560F-71990E69DE58}"/>
              </a:ext>
            </a:extLst>
          </p:cNvPr>
          <p:cNvSpPr txBox="1"/>
          <p:nvPr/>
        </p:nvSpPr>
        <p:spPr>
          <a:xfrm>
            <a:off x="762000" y="1101133"/>
            <a:ext cx="11538857" cy="3237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9" indent="-457189">
              <a:lnSpc>
                <a:spcPct val="150000"/>
              </a:lnSpc>
              <a:buFont typeface="+mj-lt"/>
              <a:buAutoNum type="arabicPeriod" startAt="3"/>
            </a:pPr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Scope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2: with var (not block scoped)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 var x = 100;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console.log(x); // 100 (var ignores block scope)</a:t>
            </a:r>
          </a:p>
        </p:txBody>
      </p:sp>
    </p:spTree>
    <p:extLst>
      <p:ext uri="{BB962C8B-B14F-4D97-AF65-F5344CB8AC3E}">
        <p14:creationId xmlns:p14="http://schemas.microsoft.com/office/powerpoint/2010/main" val="7844903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281C80D2-AEF9-33A6-62ED-5C6EF65D8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7CC0C8D7-469B-5E0E-76D5-CAF16EDE45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Scope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6A2622F9-A42D-8388-406F-800FEB2B31B3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BCC5524-5FB1-3599-C13B-F7E631B0E0C3}"/>
              </a:ext>
            </a:extLst>
          </p:cNvPr>
          <p:cNvSpPr txBox="1"/>
          <p:nvPr/>
        </p:nvSpPr>
        <p:spPr>
          <a:xfrm>
            <a:off x="762000" y="1101133"/>
            <a:ext cx="11538857" cy="1687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Lexical Scope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Inner functions can access variables of outer functions.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outer functions cannot access variables inside inner functions.</a:t>
            </a:r>
          </a:p>
        </p:txBody>
      </p:sp>
    </p:spTree>
    <p:extLst>
      <p:ext uri="{BB962C8B-B14F-4D97-AF65-F5344CB8AC3E}">
        <p14:creationId xmlns:p14="http://schemas.microsoft.com/office/powerpoint/2010/main" val="41452232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46963BDD-6F51-7AF7-C6B0-D49B079D6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72FD4735-64E8-E45A-482E-EFAB441102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Scope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2A73717D-DC76-B9FD-32F8-2C377EF0D5E9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3DCA7F7-E3A1-7A1C-20ED-8501F5838FDE}"/>
              </a:ext>
            </a:extLst>
          </p:cNvPr>
          <p:cNvSpPr txBox="1"/>
          <p:nvPr/>
        </p:nvSpPr>
        <p:spPr>
          <a:xfrm>
            <a:off x="762000" y="1101133"/>
            <a:ext cx="11538857" cy="5331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Lexical Scope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function outer() {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 let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outerVar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= "I am from outer function";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 function inner() {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     console.log(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outerVar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); // inner can access outer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 inner();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outer(); // Output: I am from outer function</a:t>
            </a:r>
          </a:p>
        </p:txBody>
      </p:sp>
    </p:spTree>
    <p:extLst>
      <p:ext uri="{BB962C8B-B14F-4D97-AF65-F5344CB8AC3E}">
        <p14:creationId xmlns:p14="http://schemas.microsoft.com/office/powerpoint/2010/main" val="1955667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D380E542-AC14-7C85-258B-F18BD039F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2FAF834E-FF59-E713-B278-4A34B0D8C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Scope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5D31EF2C-08DE-6F46-E244-55E07FB9A29C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62F75E4-F3FF-F435-3A35-E21432BE20CB}"/>
              </a:ext>
            </a:extLst>
          </p:cNvPr>
          <p:cNvSpPr txBox="1"/>
          <p:nvPr/>
        </p:nvSpPr>
        <p:spPr>
          <a:xfrm>
            <a:off x="762000" y="1101132"/>
            <a:ext cx="11538857" cy="585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Lexical Scope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2: Outer Cannot access inner’s variable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function outer() {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 function inner() {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     let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innerVar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= "I am inner";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     console.log(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innerVar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 inner();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 console.log(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innerVar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); // Error: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innerVar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is not defined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outer();</a:t>
            </a:r>
          </a:p>
        </p:txBody>
      </p:sp>
    </p:spTree>
    <p:extLst>
      <p:ext uri="{BB962C8B-B14F-4D97-AF65-F5344CB8AC3E}">
        <p14:creationId xmlns:p14="http://schemas.microsoft.com/office/powerpoint/2010/main" val="2382596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853</Words>
  <Application>Microsoft Office PowerPoint</Application>
  <PresentationFormat>Widescreen</PresentationFormat>
  <Paragraphs>147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Cairo</vt:lpstr>
      <vt:lpstr>Cairo Light</vt:lpstr>
      <vt:lpstr>Calibri</vt:lpstr>
      <vt:lpstr>Calibri Light</vt:lpstr>
      <vt:lpstr>Consolas</vt:lpstr>
      <vt:lpstr>DM Sans SemiBold</vt:lpstr>
      <vt:lpstr>Times New Roman</vt:lpstr>
      <vt:lpstr>Office Theme</vt:lpstr>
      <vt:lpstr>PowerPoint Presentation</vt:lpstr>
      <vt:lpstr>What we Cover Today:</vt:lpstr>
      <vt:lpstr>Anonymous Function</vt:lpstr>
      <vt:lpstr>Anonymous Function</vt:lpstr>
      <vt:lpstr>Anonymous Function</vt:lpstr>
      <vt:lpstr>Arrow Function</vt:lpstr>
      <vt:lpstr>Arrow Function</vt:lpstr>
      <vt:lpstr>Arrow Function</vt:lpstr>
      <vt:lpstr>Arrow Function</vt:lpstr>
      <vt:lpstr>Scope</vt:lpstr>
      <vt:lpstr>Scope</vt:lpstr>
      <vt:lpstr>Scope</vt:lpstr>
      <vt:lpstr>Scope</vt:lpstr>
      <vt:lpstr>Scope</vt:lpstr>
      <vt:lpstr>Scope</vt:lpstr>
      <vt:lpstr>Scope</vt:lpstr>
      <vt:lpstr>Scope</vt:lpstr>
      <vt:lpstr>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Khalid Sulub</dc:creator>
  <cp:lastModifiedBy>Khalid Sulub</cp:lastModifiedBy>
  <cp:revision>2</cp:revision>
  <dcterms:created xsi:type="dcterms:W3CDTF">2025-12-15T16:44:21Z</dcterms:created>
  <dcterms:modified xsi:type="dcterms:W3CDTF">2025-12-15T16:46:06Z</dcterms:modified>
</cp:coreProperties>
</file>