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847" r:id="rId2"/>
    <p:sldId id="470" r:id="rId3"/>
    <p:sldId id="268" r:id="rId4"/>
    <p:sldId id="313" r:id="rId5"/>
    <p:sldId id="314" r:id="rId6"/>
    <p:sldId id="315" r:id="rId7"/>
    <p:sldId id="316" r:id="rId8"/>
    <p:sldId id="317" r:id="rId9"/>
    <p:sldId id="318" r:id="rId10"/>
    <p:sldId id="319" r:id="rId11"/>
    <p:sldId id="320" r:id="rId12"/>
    <p:sldId id="321" r:id="rId13"/>
    <p:sldId id="322" r:id="rId14"/>
    <p:sldId id="848" r:id="rId15"/>
    <p:sldId id="342" r:id="rId16"/>
    <p:sldId id="344" r:id="rId17"/>
    <p:sldId id="343" r:id="rId18"/>
    <p:sldId id="345" r:id="rId19"/>
    <p:sldId id="34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F907F5-41B7-4DCE-86F1-72CC28D86B60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E17342-083F-4CC4-B38A-F5D5D1EED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805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4640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54dda1946d_4_2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54dda1946d_4_2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>
          <a:extLst>
            <a:ext uri="{FF2B5EF4-FFF2-40B4-BE49-F238E27FC236}">
              <a16:creationId xmlns:a16="http://schemas.microsoft.com/office/drawing/2014/main" id="{E5E2E8F5-4C5E-E0D7-58D6-2B5841D54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54dda1946d_4_2701:notes">
            <a:extLst>
              <a:ext uri="{FF2B5EF4-FFF2-40B4-BE49-F238E27FC236}">
                <a16:creationId xmlns:a16="http://schemas.microsoft.com/office/drawing/2014/main" id="{FD61B8FC-FDA0-5252-0B86-813C99B546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54dda1946d_4_2701:notes">
            <a:extLst>
              <a:ext uri="{FF2B5EF4-FFF2-40B4-BE49-F238E27FC236}">
                <a16:creationId xmlns:a16="http://schemas.microsoft.com/office/drawing/2014/main" id="{25630840-C14D-B9BC-9FAC-01FBBB8479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47523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>
          <a:extLst>
            <a:ext uri="{FF2B5EF4-FFF2-40B4-BE49-F238E27FC236}">
              <a16:creationId xmlns:a16="http://schemas.microsoft.com/office/drawing/2014/main" id="{7928FC08-857A-89F2-79EE-967FEC893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54dda1946d_4_2701:notes">
            <a:extLst>
              <a:ext uri="{FF2B5EF4-FFF2-40B4-BE49-F238E27FC236}">
                <a16:creationId xmlns:a16="http://schemas.microsoft.com/office/drawing/2014/main" id="{96B17B98-4FB0-7791-FEE5-14A3ECEBDB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54dda1946d_4_2701:notes">
            <a:extLst>
              <a:ext uri="{FF2B5EF4-FFF2-40B4-BE49-F238E27FC236}">
                <a16:creationId xmlns:a16="http://schemas.microsoft.com/office/drawing/2014/main" id="{B53D1EC3-95DE-777A-3570-3ED129F522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45067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>
          <a:extLst>
            <a:ext uri="{FF2B5EF4-FFF2-40B4-BE49-F238E27FC236}">
              <a16:creationId xmlns:a16="http://schemas.microsoft.com/office/drawing/2014/main" id="{B321B766-B103-FE0C-E54A-234144881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54dda1946d_4_2701:notes">
            <a:extLst>
              <a:ext uri="{FF2B5EF4-FFF2-40B4-BE49-F238E27FC236}">
                <a16:creationId xmlns:a16="http://schemas.microsoft.com/office/drawing/2014/main" id="{5686FCB8-F3FB-F199-4B79-649A5E780C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54dda1946d_4_2701:notes">
            <a:extLst>
              <a:ext uri="{FF2B5EF4-FFF2-40B4-BE49-F238E27FC236}">
                <a16:creationId xmlns:a16="http://schemas.microsoft.com/office/drawing/2014/main" id="{B1170CB3-458C-E1DE-8DE2-8BB08AD951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6379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>
          <a:extLst>
            <a:ext uri="{FF2B5EF4-FFF2-40B4-BE49-F238E27FC236}">
              <a16:creationId xmlns:a16="http://schemas.microsoft.com/office/drawing/2014/main" id="{41876AC8-8532-FC2F-2A74-CBA2CFC6C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54dda1946d_4_2701:notes">
            <a:extLst>
              <a:ext uri="{FF2B5EF4-FFF2-40B4-BE49-F238E27FC236}">
                <a16:creationId xmlns:a16="http://schemas.microsoft.com/office/drawing/2014/main" id="{251F5541-D849-44D5-AC4D-BE78B4F4B2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54dda1946d_4_2701:notes">
            <a:extLst>
              <a:ext uri="{FF2B5EF4-FFF2-40B4-BE49-F238E27FC236}">
                <a16:creationId xmlns:a16="http://schemas.microsoft.com/office/drawing/2014/main" id="{3DE2E75C-A709-8E78-962C-3F9D29F2B5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76365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>
          <a:extLst>
            <a:ext uri="{FF2B5EF4-FFF2-40B4-BE49-F238E27FC236}">
              <a16:creationId xmlns:a16="http://schemas.microsoft.com/office/drawing/2014/main" id="{80B1AA8D-91F5-3E2C-9FD0-65F81AF42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54dda1946d_4_2701:notes">
            <a:extLst>
              <a:ext uri="{FF2B5EF4-FFF2-40B4-BE49-F238E27FC236}">
                <a16:creationId xmlns:a16="http://schemas.microsoft.com/office/drawing/2014/main" id="{19B15E91-15AA-3A0C-E192-2987B2F956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54dda1946d_4_2701:notes">
            <a:extLst>
              <a:ext uri="{FF2B5EF4-FFF2-40B4-BE49-F238E27FC236}">
                <a16:creationId xmlns:a16="http://schemas.microsoft.com/office/drawing/2014/main" id="{7A8A0E91-2313-A369-94E1-B81AC6196F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47285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>
          <a:extLst>
            <a:ext uri="{FF2B5EF4-FFF2-40B4-BE49-F238E27FC236}">
              <a16:creationId xmlns:a16="http://schemas.microsoft.com/office/drawing/2014/main" id="{90A64851-94C0-7541-BBE3-D6589CEF5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54dda1946d_4_2701:notes">
            <a:extLst>
              <a:ext uri="{FF2B5EF4-FFF2-40B4-BE49-F238E27FC236}">
                <a16:creationId xmlns:a16="http://schemas.microsoft.com/office/drawing/2014/main" id="{0076F402-DFAF-2BB4-557C-BE1B669E25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54dda1946d_4_2701:notes">
            <a:extLst>
              <a:ext uri="{FF2B5EF4-FFF2-40B4-BE49-F238E27FC236}">
                <a16:creationId xmlns:a16="http://schemas.microsoft.com/office/drawing/2014/main" id="{7776CE4D-5FF5-5EB3-665B-EF62C12E49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86692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>
          <a:extLst>
            <a:ext uri="{FF2B5EF4-FFF2-40B4-BE49-F238E27FC236}">
              <a16:creationId xmlns:a16="http://schemas.microsoft.com/office/drawing/2014/main" id="{7D677E80-355A-DE3E-1005-7F8F297FA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54dda1946d_4_2701:notes">
            <a:extLst>
              <a:ext uri="{FF2B5EF4-FFF2-40B4-BE49-F238E27FC236}">
                <a16:creationId xmlns:a16="http://schemas.microsoft.com/office/drawing/2014/main" id="{4CBE8582-83E2-A3E2-93CD-2BA42DE119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54dda1946d_4_2701:notes">
            <a:extLst>
              <a:ext uri="{FF2B5EF4-FFF2-40B4-BE49-F238E27FC236}">
                <a16:creationId xmlns:a16="http://schemas.microsoft.com/office/drawing/2014/main" id="{420EB586-56C6-89E4-6C92-A3BA6F6290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34148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>
          <a:extLst>
            <a:ext uri="{FF2B5EF4-FFF2-40B4-BE49-F238E27FC236}">
              <a16:creationId xmlns:a16="http://schemas.microsoft.com/office/drawing/2014/main" id="{FFA4942E-0509-0C2D-787A-E6168A417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54dda1946d_4_2701:notes">
            <a:extLst>
              <a:ext uri="{FF2B5EF4-FFF2-40B4-BE49-F238E27FC236}">
                <a16:creationId xmlns:a16="http://schemas.microsoft.com/office/drawing/2014/main" id="{FEA10210-3E05-82D0-72BB-E33B7C5206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54dda1946d_4_2701:notes">
            <a:extLst>
              <a:ext uri="{FF2B5EF4-FFF2-40B4-BE49-F238E27FC236}">
                <a16:creationId xmlns:a16="http://schemas.microsoft.com/office/drawing/2014/main" id="{1D6C9B25-52D9-FE09-B5C9-5CFC379718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0445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>
          <a:extLst>
            <a:ext uri="{FF2B5EF4-FFF2-40B4-BE49-F238E27FC236}">
              <a16:creationId xmlns:a16="http://schemas.microsoft.com/office/drawing/2014/main" id="{BD5A5E37-811E-C4A8-15AB-389B32CBD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54dda1946d_4_2701:notes">
            <a:extLst>
              <a:ext uri="{FF2B5EF4-FFF2-40B4-BE49-F238E27FC236}">
                <a16:creationId xmlns:a16="http://schemas.microsoft.com/office/drawing/2014/main" id="{5AF8B26F-1B34-C5FE-07AA-D81AA6E3EA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54dda1946d_4_2701:notes">
            <a:extLst>
              <a:ext uri="{FF2B5EF4-FFF2-40B4-BE49-F238E27FC236}">
                <a16:creationId xmlns:a16="http://schemas.microsoft.com/office/drawing/2014/main" id="{70AC47E7-38D3-B6FD-3DC3-B51CF1B3AA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57727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>
          <a:extLst>
            <a:ext uri="{FF2B5EF4-FFF2-40B4-BE49-F238E27FC236}">
              <a16:creationId xmlns:a16="http://schemas.microsoft.com/office/drawing/2014/main" id="{57EFECC0-8720-DF16-9308-09FE089C9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54dda1946d_4_2701:notes">
            <a:extLst>
              <a:ext uri="{FF2B5EF4-FFF2-40B4-BE49-F238E27FC236}">
                <a16:creationId xmlns:a16="http://schemas.microsoft.com/office/drawing/2014/main" id="{FFCB8F25-EFA5-ED3D-9E4E-5C2102EF7B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54dda1946d_4_2701:notes">
            <a:extLst>
              <a:ext uri="{FF2B5EF4-FFF2-40B4-BE49-F238E27FC236}">
                <a16:creationId xmlns:a16="http://schemas.microsoft.com/office/drawing/2014/main" id="{F36C4E4D-7B3B-CFDF-0164-726A0EBD4B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85442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>
          <a:extLst>
            <a:ext uri="{FF2B5EF4-FFF2-40B4-BE49-F238E27FC236}">
              <a16:creationId xmlns:a16="http://schemas.microsoft.com/office/drawing/2014/main" id="{002A9C64-7BDF-3D44-E997-EB7390027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54dda1946d_4_2701:notes">
            <a:extLst>
              <a:ext uri="{FF2B5EF4-FFF2-40B4-BE49-F238E27FC236}">
                <a16:creationId xmlns:a16="http://schemas.microsoft.com/office/drawing/2014/main" id="{26080F43-3974-95BE-3173-E890C7C29F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54dda1946d_4_2701:notes">
            <a:extLst>
              <a:ext uri="{FF2B5EF4-FFF2-40B4-BE49-F238E27FC236}">
                <a16:creationId xmlns:a16="http://schemas.microsoft.com/office/drawing/2014/main" id="{753B2C82-BAB8-2E3B-EEA4-971FA0F5C0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61380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>
          <a:extLst>
            <a:ext uri="{FF2B5EF4-FFF2-40B4-BE49-F238E27FC236}">
              <a16:creationId xmlns:a16="http://schemas.microsoft.com/office/drawing/2014/main" id="{295B7905-41BC-AF9E-F5CE-694CEB909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54dda1946d_4_2701:notes">
            <a:extLst>
              <a:ext uri="{FF2B5EF4-FFF2-40B4-BE49-F238E27FC236}">
                <a16:creationId xmlns:a16="http://schemas.microsoft.com/office/drawing/2014/main" id="{3E5E794F-3D66-AB4C-E1D6-8DFC86106E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54dda1946d_4_2701:notes">
            <a:extLst>
              <a:ext uri="{FF2B5EF4-FFF2-40B4-BE49-F238E27FC236}">
                <a16:creationId xmlns:a16="http://schemas.microsoft.com/office/drawing/2014/main" id="{EAFB8CEB-B073-3585-70AF-DBE5015235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39564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>
          <a:extLst>
            <a:ext uri="{FF2B5EF4-FFF2-40B4-BE49-F238E27FC236}">
              <a16:creationId xmlns:a16="http://schemas.microsoft.com/office/drawing/2014/main" id="{052BE3F7-9EBF-BF05-311A-2B6592B61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54dda1946d_4_2701:notes">
            <a:extLst>
              <a:ext uri="{FF2B5EF4-FFF2-40B4-BE49-F238E27FC236}">
                <a16:creationId xmlns:a16="http://schemas.microsoft.com/office/drawing/2014/main" id="{3EC12A42-0201-912D-D451-0807383594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54dda1946d_4_2701:notes">
            <a:extLst>
              <a:ext uri="{FF2B5EF4-FFF2-40B4-BE49-F238E27FC236}">
                <a16:creationId xmlns:a16="http://schemas.microsoft.com/office/drawing/2014/main" id="{60A30ABF-C39F-18E0-73DA-24163C4468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92164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>
          <a:extLst>
            <a:ext uri="{FF2B5EF4-FFF2-40B4-BE49-F238E27FC236}">
              <a16:creationId xmlns:a16="http://schemas.microsoft.com/office/drawing/2014/main" id="{E2067673-CF86-3B46-B872-4F8FDEC20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54dda1946d_4_2701:notes">
            <a:extLst>
              <a:ext uri="{FF2B5EF4-FFF2-40B4-BE49-F238E27FC236}">
                <a16:creationId xmlns:a16="http://schemas.microsoft.com/office/drawing/2014/main" id="{9C711773-7D79-7692-5691-11F45AC6C8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54dda1946d_4_2701:notes">
            <a:extLst>
              <a:ext uri="{FF2B5EF4-FFF2-40B4-BE49-F238E27FC236}">
                <a16:creationId xmlns:a16="http://schemas.microsoft.com/office/drawing/2014/main" id="{5AE0E2DA-CE18-7E15-8FCA-41D2C331DF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74844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>
          <a:extLst>
            <a:ext uri="{FF2B5EF4-FFF2-40B4-BE49-F238E27FC236}">
              <a16:creationId xmlns:a16="http://schemas.microsoft.com/office/drawing/2014/main" id="{D6534D67-BBC9-6FE6-2B79-2D653CF2D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54dda1946d_4_2701:notes">
            <a:extLst>
              <a:ext uri="{FF2B5EF4-FFF2-40B4-BE49-F238E27FC236}">
                <a16:creationId xmlns:a16="http://schemas.microsoft.com/office/drawing/2014/main" id="{C554AAFB-26F3-4374-0951-6EDBD81445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54dda1946d_4_2701:notes">
            <a:extLst>
              <a:ext uri="{FF2B5EF4-FFF2-40B4-BE49-F238E27FC236}">
                <a16:creationId xmlns:a16="http://schemas.microsoft.com/office/drawing/2014/main" id="{F9B50295-5177-5567-A780-450CD8FBA6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2994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90D93-36F9-5E8B-ACE4-E6C8AE5E38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56E83A-CFEF-9AB2-8D8A-453B9CDA22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73689-78AF-ADF2-C9B4-690B9A4C8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C1E7-DE20-4F9E-B704-2002E4A4D2E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DD58B-AAF5-476B-5704-E19CA6CD7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98554-EF3E-0075-9A84-583E092B4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4FF2-A164-435A-B13D-A35A0E622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726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D3A14-A190-FCF7-4293-9542D22DA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EECEB-85DB-E53F-F1A5-B11452144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AE2DE-39CB-9637-9866-78B837CF7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C1E7-DE20-4F9E-B704-2002E4A4D2E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F8CD2-9EB7-390F-9D21-8BB3A7A83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921A6-EA88-FC69-B44C-A5A50000C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4FF2-A164-435A-B13D-A35A0E622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53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2CBFA-E6E5-91E0-CE91-0688A06AE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3031B2-66B3-04D2-6DB3-9691390E4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CBEAC-2E9A-FDB8-5427-A6EBC6F03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C1E7-DE20-4F9E-B704-2002E4A4D2E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D30CC-A648-1960-5906-3995F477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0815B-B907-55F8-4A34-6C9B12646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4FF2-A164-435A-B13D-A35A0E622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203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6B547-1D38-CCE8-BE98-D0820D87E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79C73-0DF5-7FE2-BC59-1527B7B37E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91A9D7-06AF-B08A-7A91-56F097DAAA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E395F2-4BE1-CBAB-5ADE-C61F5CA1C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C1E7-DE20-4F9E-B704-2002E4A4D2E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5F7403-3D07-CF8A-7AC9-FA6C050E3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F0B8BD-AE38-5490-DCEE-9BCE005D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4FF2-A164-435A-B13D-A35A0E622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262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1FACB-2621-6D3B-985C-B94C367E4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6F209E-955E-6901-F7B0-E954CCD70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9C4C59-0427-EAD9-F15F-F1068CAEF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4D8B99-D645-0C20-E738-6AD7A722BB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73C2EA-FF98-5FD0-0A66-E2028CC395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C36ED5-4B5F-83F6-8BCB-0256AD05C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C1E7-DE20-4F9E-B704-2002E4A4D2E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14AE9E-D199-C078-E567-5305EE814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C52876-D920-D02E-7C14-452FB868E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4FF2-A164-435A-B13D-A35A0E622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001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52BDF-CC5A-5E8D-6432-CDD445CD6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3285DB-1FFC-4B5A-A39B-9E5028DD3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C1E7-DE20-4F9E-B704-2002E4A4D2E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7951F6-504A-D4C9-7253-9F6002647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EF67CE-E312-E5DB-3D60-6BD00C65B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4FF2-A164-435A-B13D-A35A0E622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861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C4272F-2E33-B520-6E1F-856EFA5AB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C1E7-DE20-4F9E-B704-2002E4A4D2E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A60E22-F471-C587-1471-AE904F59C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65EBC-041C-8440-AF26-D2EF3C480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4FF2-A164-435A-B13D-A35A0E622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064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0ABFC-BC49-661A-F6B2-20713D11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7CF6F-B7D6-04D2-5A1A-7E76F61FA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8EC91A-3AD0-B828-9A82-04C41A4BB6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F15298-1E5B-43A6-167A-F084885BA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C1E7-DE20-4F9E-B704-2002E4A4D2E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75288C-9108-F4BD-08F8-FD084B998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0ECC4F-9857-C492-ACA0-D2DAF5100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4FF2-A164-435A-B13D-A35A0E622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881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BBB2D-0C41-E791-352C-F4A572BC7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A3A0A3-A9CB-E1DF-07FF-209509726F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3F9443-BD39-B11B-C489-69E9215F51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BC1673-F2FB-E755-D052-2C6017264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C1E7-DE20-4F9E-B704-2002E4A4D2E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288D3C-C81E-51DC-06D3-A236D81C5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1B6141-AC0F-044A-E842-F4B32F71B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4FF2-A164-435A-B13D-A35A0E622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634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874E6-CD6B-EC1C-20A7-AFAAAB6BF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B86F34-C4B9-CFAD-A9F9-1788EC5A30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7A198-A65C-DA42-EBA8-FA6367A74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C1E7-DE20-4F9E-B704-2002E4A4D2E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2E979-4E81-8099-72C2-4BC841CAA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39C07-080B-0438-C9F4-0C7D756D1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4FF2-A164-435A-B13D-A35A0E622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60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47C2DF-2FFA-7B72-ADC7-13066D29AC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9FCFEA-8857-6654-468F-126D319039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A4F66-2F16-42AC-03A4-831E2B47E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C1E7-DE20-4F9E-B704-2002E4A4D2E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DF5AB-2F0A-6FED-6182-D99EFDBF5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43EE9-139C-3C39-E689-BD7D82578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4FF2-A164-435A-B13D-A35A0E622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8035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6" name="Google Shape;76;p13"/>
          <p:cNvGrpSpPr/>
          <p:nvPr/>
        </p:nvGrpSpPr>
        <p:grpSpPr>
          <a:xfrm>
            <a:off x="168" y="6696800"/>
            <a:ext cx="12191833" cy="161200"/>
            <a:chOff x="125" y="0"/>
            <a:chExt cx="9143875" cy="120900"/>
          </a:xfrm>
        </p:grpSpPr>
        <p:sp>
          <p:nvSpPr>
            <p:cNvPr id="77" name="Google Shape;77;p13"/>
            <p:cNvSpPr/>
            <p:nvPr/>
          </p:nvSpPr>
          <p:spPr>
            <a:xfrm flipH="1">
              <a:off x="654900" y="0"/>
              <a:ext cx="84891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78" name="Google Shape;78;p13"/>
            <p:cNvSpPr/>
            <p:nvPr/>
          </p:nvSpPr>
          <p:spPr>
            <a:xfrm flipH="1">
              <a:off x="125" y="0"/>
              <a:ext cx="7131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cxnSp>
        <p:nvCxnSpPr>
          <p:cNvPr id="79" name="Google Shape;79;p13"/>
          <p:cNvCxnSpPr/>
          <p:nvPr/>
        </p:nvCxnSpPr>
        <p:spPr>
          <a:xfrm>
            <a:off x="849367" y="0"/>
            <a:ext cx="0" cy="16784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2837424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title" idx="2" hasCustomPrompt="1"/>
          </p:nvPr>
        </p:nvSpPr>
        <p:spPr>
          <a:xfrm>
            <a:off x="2072412" y="1860800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3" name="Google Shape;103;p17"/>
          <p:cNvSpPr txBox="1">
            <a:spLocks noGrp="1"/>
          </p:cNvSpPr>
          <p:nvPr>
            <p:ph type="title" idx="3" hasCustomPrompt="1"/>
          </p:nvPr>
        </p:nvSpPr>
        <p:spPr>
          <a:xfrm>
            <a:off x="2072412" y="4065739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4" name="Google Shape;104;p17"/>
          <p:cNvSpPr txBox="1">
            <a:spLocks noGrp="1"/>
          </p:cNvSpPr>
          <p:nvPr>
            <p:ph type="title" idx="4" hasCustomPrompt="1"/>
          </p:nvPr>
        </p:nvSpPr>
        <p:spPr>
          <a:xfrm>
            <a:off x="5580116" y="1860800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5" name="Google Shape;105;p17"/>
          <p:cNvSpPr txBox="1">
            <a:spLocks noGrp="1"/>
          </p:cNvSpPr>
          <p:nvPr>
            <p:ph type="title" idx="5" hasCustomPrompt="1"/>
          </p:nvPr>
        </p:nvSpPr>
        <p:spPr>
          <a:xfrm>
            <a:off x="5580116" y="4065739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6" name="Google Shape;106;p17"/>
          <p:cNvSpPr txBox="1">
            <a:spLocks noGrp="1"/>
          </p:cNvSpPr>
          <p:nvPr>
            <p:ph type="title" idx="6" hasCustomPrompt="1"/>
          </p:nvPr>
        </p:nvSpPr>
        <p:spPr>
          <a:xfrm>
            <a:off x="9087853" y="1860800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7" name="Google Shape;107;p17"/>
          <p:cNvSpPr txBox="1">
            <a:spLocks noGrp="1"/>
          </p:cNvSpPr>
          <p:nvPr>
            <p:ph type="title" idx="7" hasCustomPrompt="1"/>
          </p:nvPr>
        </p:nvSpPr>
        <p:spPr>
          <a:xfrm>
            <a:off x="9087853" y="4065739"/>
            <a:ext cx="1040800" cy="8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t>xx%</a:t>
            </a:r>
          </a:p>
        </p:txBody>
      </p:sp>
      <p:sp>
        <p:nvSpPr>
          <p:cNvPr id="108" name="Google Shape;108;p17"/>
          <p:cNvSpPr txBox="1">
            <a:spLocks noGrp="1"/>
          </p:cNvSpPr>
          <p:nvPr>
            <p:ph type="subTitle" idx="1"/>
          </p:nvPr>
        </p:nvSpPr>
        <p:spPr>
          <a:xfrm>
            <a:off x="960000" y="2893600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ubTitle" idx="8"/>
          </p:nvPr>
        </p:nvSpPr>
        <p:spPr>
          <a:xfrm>
            <a:off x="4467704" y="2893600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subTitle" idx="9"/>
          </p:nvPr>
        </p:nvSpPr>
        <p:spPr>
          <a:xfrm>
            <a:off x="7975441" y="2893600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subTitle" idx="13"/>
          </p:nvPr>
        </p:nvSpPr>
        <p:spPr>
          <a:xfrm>
            <a:off x="960000" y="5098533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subTitle" idx="14"/>
          </p:nvPr>
        </p:nvSpPr>
        <p:spPr>
          <a:xfrm>
            <a:off x="4467704" y="5098533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subTitle" idx="15"/>
          </p:nvPr>
        </p:nvSpPr>
        <p:spPr>
          <a:xfrm>
            <a:off x="7975441" y="5098533"/>
            <a:ext cx="32656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SemiBold"/>
              <a:buNone/>
              <a:defRPr sz="24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endParaRPr/>
          </a:p>
        </p:txBody>
      </p:sp>
      <p:grpSp>
        <p:nvGrpSpPr>
          <p:cNvPr id="114" name="Google Shape;114;p17"/>
          <p:cNvGrpSpPr/>
          <p:nvPr/>
        </p:nvGrpSpPr>
        <p:grpSpPr>
          <a:xfrm>
            <a:off x="-15" y="-16"/>
            <a:ext cx="161217" cy="6862784"/>
            <a:chOff x="-12" y="-12"/>
            <a:chExt cx="120913" cy="5147088"/>
          </a:xfrm>
        </p:grpSpPr>
        <p:sp>
          <p:nvSpPr>
            <p:cNvPr id="115" name="Google Shape;115;p17"/>
            <p:cNvSpPr/>
            <p:nvPr/>
          </p:nvSpPr>
          <p:spPr>
            <a:xfrm rot="5400000" flipH="1">
              <a:off x="-2185650" y="2840525"/>
              <a:ext cx="44922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16" name="Google Shape;116;p17"/>
            <p:cNvSpPr/>
            <p:nvPr/>
          </p:nvSpPr>
          <p:spPr>
            <a:xfrm rot="5400000" flipH="1">
              <a:off x="-296112" y="296088"/>
              <a:ext cx="7131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2101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7548D3-784B-0CA5-FD2F-45B894CF2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25E838-36FA-006A-7C33-DFF171D61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9D95D-F30B-4F0E-5C79-E75A1ED6C3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28C1E7-DE20-4F9E-B704-2002E4A4D2E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51DF9-2791-ED1D-2BA4-20A9AAE28F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050F5-D6ED-393C-4B03-74F7D95A2C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C4FF2-A164-435A-B13D-A35A0E622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454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DA127B-3B0D-0851-2C24-A687092A03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571" b="14821"/>
          <a:stretch>
            <a:fillRect/>
          </a:stretch>
        </p:blipFill>
        <p:spPr>
          <a:xfrm>
            <a:off x="-1" y="0"/>
            <a:ext cx="12202135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8054C93-CE03-27B4-51DD-0F27D4387BBE}"/>
              </a:ext>
            </a:extLst>
          </p:cNvPr>
          <p:cNvSpPr/>
          <p:nvPr/>
        </p:nvSpPr>
        <p:spPr>
          <a:xfrm>
            <a:off x="7957458" y="587828"/>
            <a:ext cx="3135085" cy="2558144"/>
          </a:xfrm>
          <a:prstGeom prst="roundRect">
            <a:avLst/>
          </a:prstGeom>
          <a:solidFill>
            <a:srgbClr val="F7C5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26DBCF-50F7-450F-8F0C-2ADFCAF8336E}"/>
              </a:ext>
            </a:extLst>
          </p:cNvPr>
          <p:cNvSpPr/>
          <p:nvPr/>
        </p:nvSpPr>
        <p:spPr>
          <a:xfrm>
            <a:off x="1600201" y="3712029"/>
            <a:ext cx="2775857" cy="1164772"/>
          </a:xfrm>
          <a:prstGeom prst="rect">
            <a:avLst/>
          </a:prstGeom>
          <a:solidFill>
            <a:srgbClr val="2E2E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925460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What we Cover Today:</a:t>
            </a:r>
            <a:endParaRPr dirty="0"/>
          </a:p>
        </p:txBody>
      </p:sp>
      <p:sp>
        <p:nvSpPr>
          <p:cNvPr id="214" name="Google Shape;214;p29"/>
          <p:cNvSpPr txBox="1">
            <a:spLocks noGrp="1"/>
          </p:cNvSpPr>
          <p:nvPr>
            <p:ph type="title" idx="2"/>
          </p:nvPr>
        </p:nvSpPr>
        <p:spPr>
          <a:xfrm>
            <a:off x="2072412" y="1860800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01</a:t>
            </a:r>
            <a:endParaRPr/>
          </a:p>
        </p:txBody>
      </p:sp>
      <p:sp>
        <p:nvSpPr>
          <p:cNvPr id="215" name="Google Shape;215;p29"/>
          <p:cNvSpPr txBox="1">
            <a:spLocks noGrp="1"/>
          </p:cNvSpPr>
          <p:nvPr>
            <p:ph type="title" idx="3"/>
          </p:nvPr>
        </p:nvSpPr>
        <p:spPr>
          <a:xfrm>
            <a:off x="2072412" y="4065739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04</a:t>
            </a:r>
            <a:endParaRPr/>
          </a:p>
        </p:txBody>
      </p:sp>
      <p:sp>
        <p:nvSpPr>
          <p:cNvPr id="216" name="Google Shape;216;p29"/>
          <p:cNvSpPr txBox="1">
            <a:spLocks noGrp="1"/>
          </p:cNvSpPr>
          <p:nvPr>
            <p:ph type="title" idx="4"/>
          </p:nvPr>
        </p:nvSpPr>
        <p:spPr>
          <a:xfrm>
            <a:off x="5580116" y="1860800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02</a:t>
            </a:r>
            <a:endParaRPr/>
          </a:p>
        </p:txBody>
      </p:sp>
      <p:sp>
        <p:nvSpPr>
          <p:cNvPr id="217" name="Google Shape;217;p29"/>
          <p:cNvSpPr txBox="1">
            <a:spLocks noGrp="1"/>
          </p:cNvSpPr>
          <p:nvPr>
            <p:ph type="title" idx="5"/>
          </p:nvPr>
        </p:nvSpPr>
        <p:spPr>
          <a:xfrm>
            <a:off x="5580116" y="4065739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dirty="0"/>
              <a:t>05</a:t>
            </a:r>
            <a:endParaRPr dirty="0"/>
          </a:p>
        </p:txBody>
      </p:sp>
      <p:sp>
        <p:nvSpPr>
          <p:cNvPr id="218" name="Google Shape;218;p29"/>
          <p:cNvSpPr txBox="1">
            <a:spLocks noGrp="1"/>
          </p:cNvSpPr>
          <p:nvPr>
            <p:ph type="title" idx="6"/>
          </p:nvPr>
        </p:nvSpPr>
        <p:spPr>
          <a:xfrm>
            <a:off x="9087853" y="1860800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/>
              <a:t>03</a:t>
            </a:r>
            <a:endParaRPr/>
          </a:p>
        </p:txBody>
      </p:sp>
      <p:sp>
        <p:nvSpPr>
          <p:cNvPr id="220" name="Google Shape;220;p29"/>
          <p:cNvSpPr txBox="1">
            <a:spLocks noGrp="1"/>
          </p:cNvSpPr>
          <p:nvPr>
            <p:ph type="subTitle" idx="1"/>
          </p:nvPr>
        </p:nvSpPr>
        <p:spPr>
          <a:xfrm>
            <a:off x="960000" y="2893600"/>
            <a:ext cx="3265600" cy="59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en-CA" b="0" dirty="0">
                <a:latin typeface="DM Sans SemiBold"/>
                <a:ea typeface="DM Sans SemiBold"/>
                <a:cs typeface="DM Sans SemiBold"/>
                <a:sym typeface="DM Sans SemiBold"/>
              </a:rPr>
              <a:t>Data Type</a:t>
            </a:r>
            <a:endParaRPr b="0" dirty="0"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cxnSp>
        <p:nvCxnSpPr>
          <p:cNvPr id="226" name="Google Shape;226;p29"/>
          <p:cNvCxnSpPr/>
          <p:nvPr/>
        </p:nvCxnSpPr>
        <p:spPr>
          <a:xfrm>
            <a:off x="2020000" y="2792000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27" name="Google Shape;227;p29"/>
          <p:cNvCxnSpPr/>
          <p:nvPr/>
        </p:nvCxnSpPr>
        <p:spPr>
          <a:xfrm>
            <a:off x="5527717" y="2792000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28" name="Google Shape;228;p29"/>
          <p:cNvCxnSpPr/>
          <p:nvPr/>
        </p:nvCxnSpPr>
        <p:spPr>
          <a:xfrm>
            <a:off x="9035384" y="2792000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29" name="Google Shape;229;p29"/>
          <p:cNvCxnSpPr/>
          <p:nvPr/>
        </p:nvCxnSpPr>
        <p:spPr>
          <a:xfrm>
            <a:off x="2020000" y="4996933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30" name="Google Shape;230;p29"/>
          <p:cNvCxnSpPr/>
          <p:nvPr/>
        </p:nvCxnSpPr>
        <p:spPr>
          <a:xfrm>
            <a:off x="5527717" y="4996933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" name="Google Shape;220;p29">
            <a:extLst>
              <a:ext uri="{FF2B5EF4-FFF2-40B4-BE49-F238E27FC236}">
                <a16:creationId xmlns:a16="http://schemas.microsoft.com/office/drawing/2014/main" id="{646AA688-C953-8207-6385-3D0F7EEDC8EA}"/>
              </a:ext>
            </a:extLst>
          </p:cNvPr>
          <p:cNvSpPr txBox="1">
            <a:spLocks/>
          </p:cNvSpPr>
          <p:nvPr/>
        </p:nvSpPr>
        <p:spPr>
          <a:xfrm>
            <a:off x="4463200" y="2893596"/>
            <a:ext cx="32656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-GB" sz="2400" dirty="0" err="1"/>
              <a:t>Typeof</a:t>
            </a:r>
            <a:r>
              <a:rPr lang="en-GB" sz="2400" dirty="0"/>
              <a:t> Operator</a:t>
            </a:r>
          </a:p>
        </p:txBody>
      </p:sp>
      <p:sp>
        <p:nvSpPr>
          <p:cNvPr id="4" name="Google Shape;220;p29">
            <a:extLst>
              <a:ext uri="{FF2B5EF4-FFF2-40B4-BE49-F238E27FC236}">
                <a16:creationId xmlns:a16="http://schemas.microsoft.com/office/drawing/2014/main" id="{BDB03565-0506-79DC-F6D7-009C8D6D6B35}"/>
              </a:ext>
            </a:extLst>
          </p:cNvPr>
          <p:cNvSpPr txBox="1">
            <a:spLocks/>
          </p:cNvSpPr>
          <p:nvPr/>
        </p:nvSpPr>
        <p:spPr>
          <a:xfrm>
            <a:off x="7966400" y="2876545"/>
            <a:ext cx="32656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-GB" sz="2400" dirty="0"/>
              <a:t>Variables</a:t>
            </a:r>
          </a:p>
        </p:txBody>
      </p:sp>
      <p:sp>
        <p:nvSpPr>
          <p:cNvPr id="5" name="Google Shape;220;p29">
            <a:extLst>
              <a:ext uri="{FF2B5EF4-FFF2-40B4-BE49-F238E27FC236}">
                <a16:creationId xmlns:a16="http://schemas.microsoft.com/office/drawing/2014/main" id="{AC67C9DB-CC07-97AD-A7A0-9E896C6818EA}"/>
              </a:ext>
            </a:extLst>
          </p:cNvPr>
          <p:cNvSpPr txBox="1">
            <a:spLocks/>
          </p:cNvSpPr>
          <p:nvPr/>
        </p:nvSpPr>
        <p:spPr>
          <a:xfrm>
            <a:off x="960000" y="5027033"/>
            <a:ext cx="32656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-GB" sz="2400" dirty="0"/>
              <a:t>Var, Let, </a:t>
            </a:r>
            <a:r>
              <a:rPr lang="en-GB" sz="2400" dirty="0" err="1"/>
              <a:t>Const</a:t>
            </a:r>
            <a:endParaRPr lang="en-GB" sz="2400" dirty="0"/>
          </a:p>
        </p:txBody>
      </p:sp>
      <p:sp>
        <p:nvSpPr>
          <p:cNvPr id="6" name="Google Shape;220;p29">
            <a:extLst>
              <a:ext uri="{FF2B5EF4-FFF2-40B4-BE49-F238E27FC236}">
                <a16:creationId xmlns:a16="http://schemas.microsoft.com/office/drawing/2014/main" id="{F2ABA3A9-70CA-444E-BC51-7CD0A40DE7DF}"/>
              </a:ext>
            </a:extLst>
          </p:cNvPr>
          <p:cNvSpPr txBox="1">
            <a:spLocks/>
          </p:cNvSpPr>
          <p:nvPr/>
        </p:nvSpPr>
        <p:spPr>
          <a:xfrm>
            <a:off x="4463200" y="5098529"/>
            <a:ext cx="32656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-GB" sz="2400" dirty="0"/>
              <a:t>String and </a:t>
            </a:r>
            <a:r>
              <a:rPr lang="en" sz="2400" dirty="0"/>
              <a:t>String Literals Template</a:t>
            </a:r>
            <a:endParaRPr lang="en-GB" sz="2400" dirty="0"/>
          </a:p>
        </p:txBody>
      </p:sp>
      <p:sp>
        <p:nvSpPr>
          <p:cNvPr id="2" name="Google Shape;217;p29">
            <a:extLst>
              <a:ext uri="{FF2B5EF4-FFF2-40B4-BE49-F238E27FC236}">
                <a16:creationId xmlns:a16="http://schemas.microsoft.com/office/drawing/2014/main" id="{5BB09D62-BF6A-DB34-274C-168462175DAA}"/>
              </a:ext>
            </a:extLst>
          </p:cNvPr>
          <p:cNvSpPr txBox="1">
            <a:spLocks/>
          </p:cNvSpPr>
          <p:nvPr/>
        </p:nvSpPr>
        <p:spPr>
          <a:xfrm>
            <a:off x="9087853" y="4065739"/>
            <a:ext cx="1040800" cy="829600"/>
          </a:xfrm>
          <a:prstGeom prst="rect">
            <a:avLst/>
          </a:prstGeom>
          <a:noFill/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lvl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" dirty="0"/>
              <a:t>06</a:t>
            </a:r>
          </a:p>
        </p:txBody>
      </p:sp>
      <p:cxnSp>
        <p:nvCxnSpPr>
          <p:cNvPr id="7" name="Google Shape;230;p29">
            <a:extLst>
              <a:ext uri="{FF2B5EF4-FFF2-40B4-BE49-F238E27FC236}">
                <a16:creationId xmlns:a16="http://schemas.microsoft.com/office/drawing/2014/main" id="{E7A130C1-8D36-5669-4FC9-F21CE2589541}"/>
              </a:ext>
            </a:extLst>
          </p:cNvPr>
          <p:cNvCxnSpPr/>
          <p:nvPr/>
        </p:nvCxnSpPr>
        <p:spPr>
          <a:xfrm>
            <a:off x="9035454" y="4996933"/>
            <a:ext cx="1145600" cy="0"/>
          </a:xfrm>
          <a:prstGeom prst="straightConnector1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8" name="Google Shape;220;p29">
            <a:extLst>
              <a:ext uri="{FF2B5EF4-FFF2-40B4-BE49-F238E27FC236}">
                <a16:creationId xmlns:a16="http://schemas.microsoft.com/office/drawing/2014/main" id="{63A31314-ACE2-D4CA-7A22-1F63F120AAC0}"/>
              </a:ext>
            </a:extLst>
          </p:cNvPr>
          <p:cNvSpPr txBox="1">
            <a:spLocks/>
          </p:cNvSpPr>
          <p:nvPr/>
        </p:nvSpPr>
        <p:spPr>
          <a:xfrm>
            <a:off x="7970937" y="5098529"/>
            <a:ext cx="326560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None/>
              <a:defRPr sz="1800" b="0" i="0" u="none" strike="noStrike" cap="none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>
            <a:pPr marL="0" indent="0"/>
            <a:r>
              <a:rPr lang="en-GB" sz="2400" dirty="0"/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4184116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Data Types and variables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BAD229B-3BCC-6599-6F30-56EC1036EE85}"/>
              </a:ext>
            </a:extLst>
          </p:cNvPr>
          <p:cNvSpPr txBox="1">
            <a:spLocks/>
          </p:cNvSpPr>
          <p:nvPr/>
        </p:nvSpPr>
        <p:spPr>
          <a:xfrm>
            <a:off x="831200" y="1356966"/>
            <a:ext cx="7903069" cy="510879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396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 has 8 Datatypes: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Array (Object)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Boolean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Undefined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Null (object)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Bigint</a:t>
            </a: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(ES6 or ES 2020)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Symbol (ES6 or ES 2020)</a:t>
            </a:r>
          </a:p>
          <a:p>
            <a:pPr marL="152396">
              <a:lnSpc>
                <a:spcPct val="150000"/>
              </a:lnSpc>
            </a:pPr>
            <a:endParaRPr lang="en-GB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52396">
              <a:lnSpc>
                <a:spcPct val="150000"/>
              </a:lnSpc>
            </a:pP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>
          <a:extLst>
            <a:ext uri="{FF2B5EF4-FFF2-40B4-BE49-F238E27FC236}">
              <a16:creationId xmlns:a16="http://schemas.microsoft.com/office/drawing/2014/main" id="{7A2678A7-64C9-014C-7A1D-261FBCC30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0">
            <a:extLst>
              <a:ext uri="{FF2B5EF4-FFF2-40B4-BE49-F238E27FC236}">
                <a16:creationId xmlns:a16="http://schemas.microsoft.com/office/drawing/2014/main" id="{2413E22B-8620-B8E8-BD61-8993050C6A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Data Types and variables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3DE5AF9-9E6A-D56E-5183-4E5D33359DDF}"/>
              </a:ext>
            </a:extLst>
          </p:cNvPr>
          <p:cNvSpPr txBox="1">
            <a:spLocks/>
          </p:cNvSpPr>
          <p:nvPr/>
        </p:nvSpPr>
        <p:spPr>
          <a:xfrm>
            <a:off x="831200" y="1356966"/>
            <a:ext cx="10681245" cy="510879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396">
              <a:lnSpc>
                <a:spcPct val="150000"/>
              </a:lnSpc>
            </a:pPr>
            <a:r>
              <a:rPr lang="en-GB" sz="2667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String</a:t>
            </a:r>
          </a:p>
          <a:p>
            <a:pPr marL="152396"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String are written with quotes. You can use single or double quotes</a:t>
            </a:r>
          </a:p>
          <a:p>
            <a:pPr marL="152396"/>
            <a:r>
              <a:rPr lang="en-GB" sz="2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let </a:t>
            </a:r>
            <a:r>
              <a:rPr lang="en-GB" sz="2400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color</a:t>
            </a:r>
            <a:r>
              <a:rPr lang="en-GB" sz="2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= “Black”;</a:t>
            </a:r>
          </a:p>
          <a:p>
            <a:pPr marL="152396"/>
            <a:r>
              <a:rPr lang="en-GB" sz="2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Let name = ‘Khalid’;</a:t>
            </a:r>
          </a:p>
          <a:p>
            <a:pPr marL="152396"/>
            <a:endParaRPr lang="en-GB" sz="2400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52396">
              <a:lnSpc>
                <a:spcPct val="150000"/>
              </a:lnSpc>
            </a:pPr>
            <a:r>
              <a:rPr lang="en-GB" sz="2667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	</a:t>
            </a:r>
          </a:p>
          <a:p>
            <a:pPr marL="152396"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Any number Integer or Float</a:t>
            </a:r>
          </a:p>
          <a:p>
            <a:pPr marL="152396"/>
            <a:r>
              <a:rPr lang="en-GB" sz="24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let length = 16;</a:t>
            </a:r>
          </a:p>
          <a:p>
            <a:pPr marL="152396"/>
            <a:r>
              <a:rPr lang="en-GB" sz="24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Let weight = 7.5;</a:t>
            </a:r>
          </a:p>
          <a:p>
            <a:pPr marL="152396"/>
            <a:r>
              <a:rPr lang="en-GB" sz="24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Let y = 123e5 = 12300000</a:t>
            </a:r>
            <a:endParaRPr lang="en-GB" sz="2400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52396">
              <a:lnSpc>
                <a:spcPct val="150000"/>
              </a:lnSpc>
            </a:pP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425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>
          <a:extLst>
            <a:ext uri="{FF2B5EF4-FFF2-40B4-BE49-F238E27FC236}">
              <a16:creationId xmlns:a16="http://schemas.microsoft.com/office/drawing/2014/main" id="{8DBC4621-64A8-4B84-AF3A-A9C472E30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0">
            <a:extLst>
              <a:ext uri="{FF2B5EF4-FFF2-40B4-BE49-F238E27FC236}">
                <a16:creationId xmlns:a16="http://schemas.microsoft.com/office/drawing/2014/main" id="{8381DB10-3675-7B1E-C830-77EE397013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Data Types and variables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CA54683-9401-A4BC-C02C-910ABA3E73B0}"/>
              </a:ext>
            </a:extLst>
          </p:cNvPr>
          <p:cNvSpPr txBox="1">
            <a:spLocks/>
          </p:cNvSpPr>
          <p:nvPr/>
        </p:nvSpPr>
        <p:spPr>
          <a:xfrm>
            <a:off x="831200" y="1356966"/>
            <a:ext cx="10681245" cy="510879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396">
              <a:lnSpc>
                <a:spcPct val="150000"/>
              </a:lnSpc>
            </a:pPr>
            <a:r>
              <a:rPr lang="en-GB" sz="2667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Array</a:t>
            </a:r>
          </a:p>
          <a:p>
            <a:pPr marL="152396"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 also is an Object</a:t>
            </a:r>
          </a:p>
          <a:p>
            <a:pPr marL="152396"/>
            <a:r>
              <a:rPr lang="en-GB" sz="24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let scores = [15, 20, 33];</a:t>
            </a:r>
          </a:p>
          <a:p>
            <a:pPr marL="152396"/>
            <a:r>
              <a:rPr lang="en-GB" sz="24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let names = [“Ahmed”, “Yusuf”, “Ali”];</a:t>
            </a:r>
          </a:p>
          <a:p>
            <a:pPr marL="152396"/>
            <a:endParaRPr lang="en-GB" sz="2400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52396">
              <a:lnSpc>
                <a:spcPct val="150000"/>
              </a:lnSpc>
            </a:pPr>
            <a:r>
              <a:rPr lang="en-GB" sz="2667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Booleans	</a:t>
            </a:r>
          </a:p>
          <a:p>
            <a:pPr marL="152396"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Booleans can only have two values: true or false.</a:t>
            </a:r>
          </a:p>
          <a:p>
            <a:pPr marL="152396"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Booleans are often used in conditional testing. </a:t>
            </a:r>
          </a:p>
          <a:p>
            <a:pPr marL="152396">
              <a:lnSpc>
                <a:spcPct val="150000"/>
              </a:lnSpc>
            </a:pPr>
            <a:r>
              <a:rPr lang="da-DK" sz="24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let x = true;</a:t>
            </a:r>
          </a:p>
          <a:p>
            <a:pPr marL="152396">
              <a:lnSpc>
                <a:spcPct val="150000"/>
              </a:lnSpc>
            </a:pPr>
            <a:r>
              <a:rPr lang="da-DK" sz="24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Let y = false;</a:t>
            </a:r>
          </a:p>
          <a:p>
            <a:pPr marL="152396">
              <a:lnSpc>
                <a:spcPct val="150000"/>
              </a:lnSpc>
            </a:pP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692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>
          <a:extLst>
            <a:ext uri="{FF2B5EF4-FFF2-40B4-BE49-F238E27FC236}">
              <a16:creationId xmlns:a16="http://schemas.microsoft.com/office/drawing/2014/main" id="{0299A40E-B25F-9312-09E7-3D7B04839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0">
            <a:extLst>
              <a:ext uri="{FF2B5EF4-FFF2-40B4-BE49-F238E27FC236}">
                <a16:creationId xmlns:a16="http://schemas.microsoft.com/office/drawing/2014/main" id="{23DF83AC-1C4E-CB6A-88D9-5B2EF29D45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Data Types and variables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238A07F-0E9F-5BE6-0236-904552EE9651}"/>
              </a:ext>
            </a:extLst>
          </p:cNvPr>
          <p:cNvSpPr txBox="1">
            <a:spLocks/>
          </p:cNvSpPr>
          <p:nvPr/>
        </p:nvSpPr>
        <p:spPr>
          <a:xfrm>
            <a:off x="831200" y="1356966"/>
            <a:ext cx="10681245" cy="510879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396">
              <a:lnSpc>
                <a:spcPct val="150000"/>
              </a:lnSpc>
            </a:pPr>
            <a:r>
              <a:rPr lang="en-GB" sz="2667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undefined</a:t>
            </a:r>
          </a:p>
          <a:p>
            <a:pPr marL="152396">
              <a:lnSpc>
                <a:spcPct val="150000"/>
              </a:lnSpc>
            </a:pPr>
            <a:r>
              <a:rPr lang="en-GB" sz="24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let x;</a:t>
            </a:r>
            <a:endParaRPr lang="en-GB" sz="2400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52396">
              <a:lnSpc>
                <a:spcPct val="150000"/>
              </a:lnSpc>
            </a:pPr>
            <a:r>
              <a:rPr lang="en-GB" sz="2667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Null	</a:t>
            </a:r>
          </a:p>
          <a:p>
            <a:pPr marL="152396"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Empty or unknown value</a:t>
            </a:r>
          </a:p>
          <a:p>
            <a:pPr marL="152396">
              <a:lnSpc>
                <a:spcPct val="150000"/>
              </a:lnSpc>
            </a:pPr>
            <a:r>
              <a:rPr lang="da-DK" sz="24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let x = null;</a:t>
            </a:r>
          </a:p>
          <a:p>
            <a:pPr marL="152396">
              <a:lnSpc>
                <a:spcPct val="150000"/>
              </a:lnSpc>
            </a:pPr>
            <a:r>
              <a:rPr lang="da-DK" sz="2667" b="1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Object</a:t>
            </a:r>
          </a:p>
          <a:p>
            <a:pPr marL="152396"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Collection of data</a:t>
            </a:r>
          </a:p>
          <a:p>
            <a:pPr marL="152396">
              <a:lnSpc>
                <a:spcPct val="150000"/>
              </a:lnSpc>
            </a:pPr>
            <a:r>
              <a:rPr lang="en-GB" sz="2400" dirty="0">
                <a:latin typeface="Consolas" panose="020B0609020204030204" pitchFamily="49" charset="0"/>
              </a:rPr>
              <a:t>{ name: "Ali", age: 25 }</a:t>
            </a:r>
            <a:endParaRPr lang="en-GB" sz="2400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4590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>
          <a:extLst>
            <a:ext uri="{FF2B5EF4-FFF2-40B4-BE49-F238E27FC236}">
              <a16:creationId xmlns:a16="http://schemas.microsoft.com/office/drawing/2014/main" id="{CA1BF148-AC76-1EDB-828B-F6CF7020E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0">
            <a:extLst>
              <a:ext uri="{FF2B5EF4-FFF2-40B4-BE49-F238E27FC236}">
                <a16:creationId xmlns:a16="http://schemas.microsoft.com/office/drawing/2014/main" id="{04B2C0F4-C25D-30C8-6224-8019555B51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Data Types and variables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E40658D-B933-790D-5DAD-7C2CC97237E5}"/>
              </a:ext>
            </a:extLst>
          </p:cNvPr>
          <p:cNvSpPr txBox="1">
            <a:spLocks/>
          </p:cNvSpPr>
          <p:nvPr/>
        </p:nvSpPr>
        <p:spPr>
          <a:xfrm>
            <a:off x="831200" y="1356966"/>
            <a:ext cx="10681245" cy="510879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396">
              <a:lnSpc>
                <a:spcPct val="150000"/>
              </a:lnSpc>
            </a:pPr>
            <a:r>
              <a:rPr lang="en-GB" sz="2667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Typeof</a:t>
            </a:r>
            <a:r>
              <a:rPr lang="en-GB" sz="2667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Operator</a:t>
            </a:r>
          </a:p>
          <a:p>
            <a:pPr marL="152396">
              <a:lnSpc>
                <a:spcPct val="150000"/>
              </a:lnSpc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GB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typeof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operator is used to check the data type of a value or variable.</a:t>
            </a:r>
          </a:p>
          <a:p>
            <a:pPr marL="152396">
              <a:lnSpc>
                <a:spcPct val="150000"/>
              </a:lnSpc>
            </a:pPr>
            <a:r>
              <a:rPr lang="da-DK" sz="24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typeof "Hello";           	  	  // "string"</a:t>
            </a:r>
          </a:p>
          <a:p>
            <a:pPr marL="152396">
              <a:lnSpc>
                <a:spcPct val="150000"/>
              </a:lnSpc>
            </a:pPr>
            <a:r>
              <a:rPr lang="da-DK" sz="24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typeof 42;                		  // "number"</a:t>
            </a:r>
          </a:p>
          <a:p>
            <a:pPr marL="152396">
              <a:lnSpc>
                <a:spcPct val="150000"/>
              </a:lnSpc>
            </a:pPr>
            <a:r>
              <a:rPr lang="da-DK" sz="24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typeof true;              		  // "boolean"</a:t>
            </a:r>
          </a:p>
          <a:p>
            <a:pPr marL="152396">
              <a:lnSpc>
                <a:spcPct val="150000"/>
              </a:lnSpc>
            </a:pPr>
            <a:r>
              <a:rPr lang="da-DK" sz="24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typeof undefined;         		  // "undefined"</a:t>
            </a:r>
          </a:p>
          <a:p>
            <a:pPr marL="152396">
              <a:lnSpc>
                <a:spcPct val="150000"/>
              </a:lnSpc>
            </a:pPr>
            <a:r>
              <a:rPr lang="da-DK" sz="24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typeof null;              		  // "object" </a:t>
            </a:r>
          </a:p>
          <a:p>
            <a:pPr marL="152396">
              <a:lnSpc>
                <a:spcPct val="150000"/>
              </a:lnSpc>
            </a:pPr>
            <a:r>
              <a:rPr lang="da-DK" sz="24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typeof [1, 2, 3];         		  // "object"</a:t>
            </a:r>
          </a:p>
          <a:p>
            <a:pPr marL="152396">
              <a:lnSpc>
                <a:spcPct val="150000"/>
              </a:lnSpc>
            </a:pPr>
            <a:r>
              <a:rPr lang="da-DK" sz="24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typeof {name: ”khalid”, Age: ”23”};  // "object"</a:t>
            </a:r>
          </a:p>
        </p:txBody>
      </p:sp>
    </p:spTree>
    <p:extLst>
      <p:ext uri="{BB962C8B-B14F-4D97-AF65-F5344CB8AC3E}">
        <p14:creationId xmlns:p14="http://schemas.microsoft.com/office/powerpoint/2010/main" val="2013319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>
          <a:extLst>
            <a:ext uri="{FF2B5EF4-FFF2-40B4-BE49-F238E27FC236}">
              <a16:creationId xmlns:a16="http://schemas.microsoft.com/office/drawing/2014/main" id="{81CFEE03-9E1A-3338-3D3B-456B2FA33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0">
            <a:extLst>
              <a:ext uri="{FF2B5EF4-FFF2-40B4-BE49-F238E27FC236}">
                <a16:creationId xmlns:a16="http://schemas.microsoft.com/office/drawing/2014/main" id="{F544B859-D5C6-76C7-7F27-C98FA5CD72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Data Types and variables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3ABC49B-1F04-8F42-6B9D-EC0359834108}"/>
              </a:ext>
            </a:extLst>
          </p:cNvPr>
          <p:cNvSpPr txBox="1">
            <a:spLocks/>
          </p:cNvSpPr>
          <p:nvPr/>
        </p:nvSpPr>
        <p:spPr>
          <a:xfrm>
            <a:off x="831200" y="1356966"/>
            <a:ext cx="10681245" cy="510879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396">
              <a:lnSpc>
                <a:spcPct val="150000"/>
              </a:lnSpc>
            </a:pPr>
            <a:r>
              <a:rPr lang="en-GB" sz="2667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Concept of Data Types</a:t>
            </a:r>
          </a:p>
          <a:p>
            <a:pPr marL="152396">
              <a:lnSpc>
                <a:spcPct val="150000"/>
              </a:lnSpc>
            </a:pPr>
            <a:r>
              <a:rPr lang="en-GB" sz="24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Let x = 16 + “Books” // </a:t>
            </a: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16Books (Number convert into String)</a:t>
            </a:r>
          </a:p>
          <a:p>
            <a:pPr marL="152396">
              <a:lnSpc>
                <a:spcPct val="150000"/>
              </a:lnSpc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JS evaluates expressions from left to right. Different sequences can produce different results</a:t>
            </a:r>
          </a:p>
          <a:p>
            <a:pPr marL="152396">
              <a:lnSpc>
                <a:spcPct val="150000"/>
              </a:lnSpc>
            </a:pPr>
            <a:r>
              <a:rPr lang="en-GB" sz="24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Let x = 16 + 4 + “Students”; // 20Students</a:t>
            </a:r>
          </a:p>
          <a:p>
            <a:pPr marL="152396">
              <a:lnSpc>
                <a:spcPct val="150000"/>
              </a:lnSpc>
            </a:pPr>
            <a:r>
              <a:rPr lang="en-GB" sz="24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Let x = “Students” + 16 + 4; // Students164</a:t>
            </a:r>
            <a:endParaRPr lang="en-GB" sz="2667" dirty="0">
              <a:solidFill>
                <a:schemeClr val="tx1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235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>
          <a:extLst>
            <a:ext uri="{FF2B5EF4-FFF2-40B4-BE49-F238E27FC236}">
              <a16:creationId xmlns:a16="http://schemas.microsoft.com/office/drawing/2014/main" id="{0E2064F3-7199-B070-DCFA-EF80A8B59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0">
            <a:extLst>
              <a:ext uri="{FF2B5EF4-FFF2-40B4-BE49-F238E27FC236}">
                <a16:creationId xmlns:a16="http://schemas.microsoft.com/office/drawing/2014/main" id="{2090686C-5342-58DC-FB31-97F4BB92BC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Data Types and variables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D108DD4-1D9E-F342-7D04-395EE103C6DD}"/>
              </a:ext>
            </a:extLst>
          </p:cNvPr>
          <p:cNvSpPr txBox="1">
            <a:spLocks/>
          </p:cNvSpPr>
          <p:nvPr/>
        </p:nvSpPr>
        <p:spPr>
          <a:xfrm>
            <a:off x="831200" y="1356966"/>
            <a:ext cx="10681245" cy="510879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396">
              <a:lnSpc>
                <a:spcPct val="150000"/>
              </a:lnSpc>
            </a:pPr>
            <a:r>
              <a:rPr lang="en-GB" sz="2667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Variables</a:t>
            </a:r>
          </a:p>
          <a:p>
            <a:pPr marL="152396">
              <a:lnSpc>
                <a:spcPct val="150000"/>
              </a:lnSpc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Variables – are containers for storing data values</a:t>
            </a:r>
          </a:p>
          <a:p>
            <a:pPr marL="152396">
              <a:lnSpc>
                <a:spcPct val="150000"/>
              </a:lnSpc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SYNTAX </a:t>
            </a:r>
          </a:p>
          <a:p>
            <a:pPr marL="152396">
              <a:lnSpc>
                <a:spcPct val="150000"/>
              </a:lnSpc>
            </a:pPr>
            <a:r>
              <a:rPr lang="en-GB" sz="2133" dirty="0">
                <a:solidFill>
                  <a:srgbClr val="00B0F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Keyword</a:t>
            </a:r>
            <a:r>
              <a:rPr lang="en-GB" sz="2133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| </a:t>
            </a:r>
            <a:r>
              <a:rPr lang="en-GB" sz="2133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Variable Name</a:t>
            </a:r>
            <a:r>
              <a:rPr lang="en-GB" sz="2133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| Assignment Operator | </a:t>
            </a:r>
            <a:r>
              <a:rPr lang="en-GB" sz="2133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Value</a:t>
            </a:r>
            <a:r>
              <a:rPr lang="en-GB" sz="2133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 marL="152396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 variables can be declared in 4 ways:</a:t>
            </a:r>
          </a:p>
          <a:p>
            <a:pPr marL="380990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133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Automatically </a:t>
            </a:r>
            <a:r>
              <a:rPr lang="en-US" sz="2133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x </a:t>
            </a:r>
            <a:r>
              <a:rPr lang="en-US" sz="2133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US" sz="2133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33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lang="en-US" sz="2133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r>
              <a:rPr lang="en-US" sz="2133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2133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US" sz="2133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33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lang="en-US" sz="2133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 marL="380990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133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Using </a:t>
            </a:r>
            <a:r>
              <a:rPr lang="en-US" sz="2133" dirty="0">
                <a:solidFill>
                  <a:srgbClr val="00B0F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var </a:t>
            </a:r>
            <a:r>
              <a:rPr lang="en-US" sz="2133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name = </a:t>
            </a:r>
            <a:r>
              <a:rPr lang="en-US" sz="2133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“Khalid”</a:t>
            </a:r>
            <a:r>
              <a:rPr lang="en-US" sz="2133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 marL="380990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133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Using </a:t>
            </a:r>
            <a:r>
              <a:rPr lang="en-US" sz="2133" dirty="0">
                <a:solidFill>
                  <a:srgbClr val="00B0F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let </a:t>
            </a:r>
            <a:r>
              <a:rPr lang="en-US" sz="2133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length = </a:t>
            </a:r>
            <a:r>
              <a:rPr lang="en-US" sz="2133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193</a:t>
            </a:r>
            <a:r>
              <a:rPr lang="en-US" sz="2133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 marL="380990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133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Using </a:t>
            </a:r>
            <a:r>
              <a:rPr lang="en-US" sz="2133" dirty="0">
                <a:solidFill>
                  <a:srgbClr val="00B0F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const </a:t>
            </a:r>
            <a:r>
              <a:rPr lang="en-US" sz="2133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PI = </a:t>
            </a:r>
            <a:r>
              <a:rPr lang="en-US" sz="2133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3.14</a:t>
            </a:r>
            <a:r>
              <a:rPr lang="en-US" sz="2133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 marL="152396">
              <a:lnSpc>
                <a:spcPct val="150000"/>
              </a:lnSpc>
            </a:pPr>
            <a:endParaRPr lang="en-GB" sz="2400" dirty="0">
              <a:solidFill>
                <a:schemeClr val="tx1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05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>
          <a:extLst>
            <a:ext uri="{FF2B5EF4-FFF2-40B4-BE49-F238E27FC236}">
              <a16:creationId xmlns:a16="http://schemas.microsoft.com/office/drawing/2014/main" id="{F2F90BF8-A5F3-1FC3-1C84-00CC272B3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0">
            <a:extLst>
              <a:ext uri="{FF2B5EF4-FFF2-40B4-BE49-F238E27FC236}">
                <a16:creationId xmlns:a16="http://schemas.microsoft.com/office/drawing/2014/main" id="{AADDA561-F200-5BC4-000F-60F2D3CD0B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Data Types and variables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D13B476-0984-1B47-AA79-592CE911BCD5}"/>
              </a:ext>
            </a:extLst>
          </p:cNvPr>
          <p:cNvSpPr txBox="1">
            <a:spLocks/>
          </p:cNvSpPr>
          <p:nvPr/>
        </p:nvSpPr>
        <p:spPr>
          <a:xfrm>
            <a:off x="831200" y="1356966"/>
            <a:ext cx="10681245" cy="510879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396">
              <a:lnSpc>
                <a:spcPct val="150000"/>
              </a:lnSpc>
            </a:pPr>
            <a:r>
              <a:rPr lang="en-GB" sz="2667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Identifiers</a:t>
            </a:r>
          </a:p>
          <a:p>
            <a:pPr marL="152396">
              <a:lnSpc>
                <a:spcPct val="150000"/>
              </a:lnSpc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JavaScript variables must be identified with unique names.</a:t>
            </a:r>
          </a:p>
          <a:p>
            <a:pPr marL="152396">
              <a:lnSpc>
                <a:spcPct val="150000"/>
              </a:lnSpc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unique names are called identifiers.</a:t>
            </a:r>
          </a:p>
          <a:p>
            <a:pPr marL="152396">
              <a:lnSpc>
                <a:spcPct val="150000"/>
              </a:lnSpc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Identifiers can be short names (like x and y) or more descriptive names (age, sum, </a:t>
            </a:r>
            <a:r>
              <a:rPr lang="en-GB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userName</a:t>
            </a: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(camelCase)).</a:t>
            </a:r>
          </a:p>
        </p:txBody>
      </p:sp>
    </p:spTree>
    <p:extLst>
      <p:ext uri="{BB962C8B-B14F-4D97-AF65-F5344CB8AC3E}">
        <p14:creationId xmlns:p14="http://schemas.microsoft.com/office/powerpoint/2010/main" val="717233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>
          <a:extLst>
            <a:ext uri="{FF2B5EF4-FFF2-40B4-BE49-F238E27FC236}">
              <a16:creationId xmlns:a16="http://schemas.microsoft.com/office/drawing/2014/main" id="{B399FE15-3364-2032-D4B3-135F26706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0">
            <a:extLst>
              <a:ext uri="{FF2B5EF4-FFF2-40B4-BE49-F238E27FC236}">
                <a16:creationId xmlns:a16="http://schemas.microsoft.com/office/drawing/2014/main" id="{359F38C9-15C5-1588-CA71-08985AB152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Data Types and variables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A1EF00F-C4F4-7D70-D0C7-319BB458694C}"/>
              </a:ext>
            </a:extLst>
          </p:cNvPr>
          <p:cNvSpPr txBox="1">
            <a:spLocks/>
          </p:cNvSpPr>
          <p:nvPr/>
        </p:nvSpPr>
        <p:spPr>
          <a:xfrm>
            <a:off x="831200" y="1356966"/>
            <a:ext cx="10681245" cy="510879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396">
              <a:lnSpc>
                <a:spcPct val="150000"/>
              </a:lnSpc>
            </a:pPr>
            <a:r>
              <a:rPr lang="en-GB" sz="2667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Identifiers</a:t>
            </a:r>
          </a:p>
          <a:p>
            <a:pPr marL="152396">
              <a:lnSpc>
                <a:spcPct val="150000"/>
              </a:lnSpc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general rules for constructing names for variables (unique identifiers) are:</a:t>
            </a:r>
          </a:p>
          <a:p>
            <a:pPr marL="533387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Names can contain letters, digits, underscores, and dollar signs.</a:t>
            </a:r>
          </a:p>
          <a:p>
            <a:pPr marL="533387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Names must begin with a letter.</a:t>
            </a:r>
          </a:p>
          <a:p>
            <a:pPr marL="533387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Names can also begin with $ and _ </a:t>
            </a:r>
          </a:p>
          <a:p>
            <a:pPr marL="533387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Names are case sensitive (y and Y are different variables).</a:t>
            </a:r>
          </a:p>
          <a:p>
            <a:pPr marL="533387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Reserved words (like JavaScript keywords) cannot be used as names. (var, function, let, etc)</a:t>
            </a:r>
          </a:p>
        </p:txBody>
      </p:sp>
    </p:spTree>
    <p:extLst>
      <p:ext uri="{BB962C8B-B14F-4D97-AF65-F5344CB8AC3E}">
        <p14:creationId xmlns:p14="http://schemas.microsoft.com/office/powerpoint/2010/main" val="230607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>
          <a:extLst>
            <a:ext uri="{FF2B5EF4-FFF2-40B4-BE49-F238E27FC236}">
              <a16:creationId xmlns:a16="http://schemas.microsoft.com/office/drawing/2014/main" id="{7E65EA50-E9ED-0778-7485-1878067F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0">
            <a:extLst>
              <a:ext uri="{FF2B5EF4-FFF2-40B4-BE49-F238E27FC236}">
                <a16:creationId xmlns:a16="http://schemas.microsoft.com/office/drawing/2014/main" id="{5F56A035-0804-E7C3-AADB-39B8DEAA50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Data Types and variables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7B17883-F75B-C3DB-C742-A22FF4CA00B5}"/>
              </a:ext>
            </a:extLst>
          </p:cNvPr>
          <p:cNvSpPr txBox="1">
            <a:spLocks/>
          </p:cNvSpPr>
          <p:nvPr/>
        </p:nvSpPr>
        <p:spPr>
          <a:xfrm>
            <a:off x="831200" y="1356966"/>
            <a:ext cx="10681245" cy="510879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396">
              <a:lnSpc>
                <a:spcPct val="150000"/>
              </a:lnSpc>
            </a:pPr>
            <a:r>
              <a:rPr lang="en-GB" sz="2667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Var, Let, </a:t>
            </a:r>
            <a:r>
              <a:rPr lang="en-GB" sz="2667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</a:t>
            </a:r>
            <a:r>
              <a:rPr lang="en-GB" sz="2667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Compare</a:t>
            </a:r>
          </a:p>
          <a:p>
            <a:pPr marL="533387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Always declare variables</a:t>
            </a:r>
          </a:p>
          <a:p>
            <a:pPr marL="533387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Always use </a:t>
            </a:r>
            <a:r>
              <a:rPr lang="en-GB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</a:t>
            </a: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the value should not be changed</a:t>
            </a:r>
          </a:p>
          <a:p>
            <a:pPr marL="533387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Always use </a:t>
            </a:r>
            <a:r>
              <a:rPr lang="en-GB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</a:t>
            </a: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the type should not be changed (Arrays and Objects)</a:t>
            </a:r>
          </a:p>
          <a:p>
            <a:pPr marL="533387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Only use let if you can’t use </a:t>
            </a:r>
            <a:r>
              <a:rPr lang="en-GB" sz="24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</a:t>
            </a:r>
            <a:endParaRPr lang="en-GB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33387" indent="-38099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Only use var if you must support old browsers.</a:t>
            </a:r>
          </a:p>
        </p:txBody>
      </p:sp>
    </p:spTree>
    <p:extLst>
      <p:ext uri="{BB962C8B-B14F-4D97-AF65-F5344CB8AC3E}">
        <p14:creationId xmlns:p14="http://schemas.microsoft.com/office/powerpoint/2010/main" val="3950486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>
          <a:extLst>
            <a:ext uri="{FF2B5EF4-FFF2-40B4-BE49-F238E27FC236}">
              <a16:creationId xmlns:a16="http://schemas.microsoft.com/office/drawing/2014/main" id="{3910277E-5D65-43BD-8773-0C09A4FA7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0">
            <a:extLst>
              <a:ext uri="{FF2B5EF4-FFF2-40B4-BE49-F238E27FC236}">
                <a16:creationId xmlns:a16="http://schemas.microsoft.com/office/drawing/2014/main" id="{183F984C-5690-0E35-4BF1-67543E9241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Data Types and variables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8F4E978-EB34-961D-41F4-4E2FB3BEB3F1}"/>
              </a:ext>
            </a:extLst>
          </p:cNvPr>
          <p:cNvSpPr txBox="1">
            <a:spLocks/>
          </p:cNvSpPr>
          <p:nvPr/>
        </p:nvSpPr>
        <p:spPr>
          <a:xfrm>
            <a:off x="831200" y="1356966"/>
            <a:ext cx="10681245" cy="510879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396">
              <a:lnSpc>
                <a:spcPct val="150000"/>
              </a:lnSpc>
            </a:pPr>
            <a:r>
              <a:rPr lang="en-GB" sz="2667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Var, Let, </a:t>
            </a:r>
            <a:r>
              <a:rPr lang="en-GB" sz="2667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</a:t>
            </a:r>
            <a:r>
              <a:rPr lang="en-GB" sz="2667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Compare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9089746-67FC-F09D-0671-9A2A28C1DD88}"/>
              </a:ext>
            </a:extLst>
          </p:cNvPr>
          <p:cNvGraphicFramePr>
            <a:graphicFrameLocks noGrp="1"/>
          </p:cNvGraphicFramePr>
          <p:nvPr/>
        </p:nvGraphicFramePr>
        <p:xfrm>
          <a:off x="877614" y="2120139"/>
          <a:ext cx="10436772" cy="4490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9193">
                  <a:extLst>
                    <a:ext uri="{9D8B030D-6E8A-4147-A177-3AD203B41FA5}">
                      <a16:colId xmlns:a16="http://schemas.microsoft.com/office/drawing/2014/main" val="65320648"/>
                    </a:ext>
                  </a:extLst>
                </a:gridCol>
                <a:gridCol w="2609193">
                  <a:extLst>
                    <a:ext uri="{9D8B030D-6E8A-4147-A177-3AD203B41FA5}">
                      <a16:colId xmlns:a16="http://schemas.microsoft.com/office/drawing/2014/main" val="3565080701"/>
                    </a:ext>
                  </a:extLst>
                </a:gridCol>
                <a:gridCol w="2609193">
                  <a:extLst>
                    <a:ext uri="{9D8B030D-6E8A-4147-A177-3AD203B41FA5}">
                      <a16:colId xmlns:a16="http://schemas.microsoft.com/office/drawing/2014/main" val="638219185"/>
                    </a:ext>
                  </a:extLst>
                </a:gridCol>
                <a:gridCol w="2609193">
                  <a:extLst>
                    <a:ext uri="{9D8B030D-6E8A-4147-A177-3AD203B41FA5}">
                      <a16:colId xmlns:a16="http://schemas.microsoft.com/office/drawing/2014/main" val="2108400213"/>
                    </a:ext>
                  </a:extLst>
                </a:gridCol>
              </a:tblGrid>
              <a:tr h="72741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Feature</a:t>
                      </a:r>
                      <a:endParaRPr lang="en-GB" sz="24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var</a:t>
                      </a:r>
                      <a:endParaRPr lang="en-GB" sz="24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let</a:t>
                      </a:r>
                      <a:endParaRPr lang="en-GB" sz="24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const</a:t>
                      </a:r>
                      <a:endParaRPr lang="en-GB" sz="2400" dirty="0"/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3279790274"/>
                  </a:ext>
                </a:extLst>
              </a:tr>
              <a:tr h="72741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Scope</a:t>
                      </a:r>
                      <a:endParaRPr lang="en-GB" sz="24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Function-scoped</a:t>
                      </a:r>
                      <a:endParaRPr lang="en-GB" sz="24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Block-scoped</a:t>
                      </a:r>
                      <a:endParaRPr lang="en-GB" sz="24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Block-scoped</a:t>
                      </a:r>
                      <a:endParaRPr lang="en-GB" sz="2400" dirty="0"/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519087274"/>
                  </a:ext>
                </a:extLst>
              </a:tr>
              <a:tr h="72741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Reassignable</a:t>
                      </a:r>
                      <a:endParaRPr lang="en-GB" sz="24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Yes</a:t>
                      </a:r>
                      <a:endParaRPr lang="en-GB" sz="24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Yes</a:t>
                      </a:r>
                      <a:endParaRPr lang="en-GB" sz="24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No</a:t>
                      </a:r>
                      <a:endParaRPr lang="en-GB" sz="2400" dirty="0"/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2789061674"/>
                  </a:ext>
                </a:extLst>
              </a:tr>
              <a:tr h="72741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Redeclarable</a:t>
                      </a:r>
                      <a:endParaRPr lang="en-GB" sz="24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Yes</a:t>
                      </a:r>
                      <a:endParaRPr lang="en-GB" sz="24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No</a:t>
                      </a:r>
                      <a:endParaRPr lang="en-GB" sz="24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No</a:t>
                      </a:r>
                      <a:endParaRPr lang="en-GB" sz="2400" dirty="0"/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2369147321"/>
                  </a:ext>
                </a:extLst>
              </a:tr>
              <a:tr h="72741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Global Object</a:t>
                      </a:r>
                      <a:endParaRPr lang="en-GB" sz="24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Yes (</a:t>
                      </a:r>
                      <a:r>
                        <a:rPr lang="en-US" sz="2400" dirty="0" err="1"/>
                        <a:t>window.var</a:t>
                      </a:r>
                      <a:r>
                        <a:rPr lang="en-US" sz="2400" dirty="0"/>
                        <a:t>)</a:t>
                      </a:r>
                      <a:endParaRPr lang="en-GB" sz="24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No</a:t>
                      </a:r>
                      <a:endParaRPr lang="en-GB" sz="24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No</a:t>
                      </a:r>
                      <a:endParaRPr lang="en-GB" sz="2400" dirty="0"/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3261547247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Access Before Declare</a:t>
                      </a:r>
                      <a:endParaRPr lang="en-GB" sz="24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Undefined</a:t>
                      </a:r>
                      <a:endParaRPr lang="en-GB" sz="24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Error</a:t>
                      </a:r>
                      <a:endParaRPr lang="en-GB" sz="2400" dirty="0"/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Error</a:t>
                      </a:r>
                      <a:endParaRPr lang="en-GB" sz="2400" dirty="0"/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209226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7155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4F6E72-CF4A-1B5A-2C77-50CE38938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40" y="0"/>
            <a:ext cx="122072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804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>
          <a:extLst>
            <a:ext uri="{FF2B5EF4-FFF2-40B4-BE49-F238E27FC236}">
              <a16:creationId xmlns:a16="http://schemas.microsoft.com/office/drawing/2014/main" id="{14E0AEB1-7F82-A0F3-466F-CB8104001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0">
            <a:extLst>
              <a:ext uri="{FF2B5EF4-FFF2-40B4-BE49-F238E27FC236}">
                <a16:creationId xmlns:a16="http://schemas.microsoft.com/office/drawing/2014/main" id="{AA9692CE-1AB4-DE99-C634-0FD1A4E4F0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String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164273C-A596-82BB-E5BE-D6CEECCE0F79}"/>
              </a:ext>
            </a:extLst>
          </p:cNvPr>
          <p:cNvSpPr txBox="1">
            <a:spLocks/>
          </p:cNvSpPr>
          <p:nvPr/>
        </p:nvSpPr>
        <p:spPr>
          <a:xfrm>
            <a:off x="831200" y="1356966"/>
            <a:ext cx="10681245" cy="510879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396">
              <a:lnSpc>
                <a:spcPct val="150000"/>
              </a:lnSpc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Strings are for storing text</a:t>
            </a:r>
          </a:p>
          <a:p>
            <a:pPr marL="152396">
              <a:lnSpc>
                <a:spcPct val="150000"/>
              </a:lnSpc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Strings are written with quotes</a:t>
            </a:r>
          </a:p>
          <a:p>
            <a:pPr marL="152396">
              <a:lnSpc>
                <a:spcPct val="150000"/>
              </a:lnSpc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pPr marL="152396">
              <a:lnSpc>
                <a:spcPct val="150000"/>
              </a:lnSpc>
            </a:pPr>
            <a:r>
              <a:rPr lang="en-GB" sz="24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let text = “Mohamed”;</a:t>
            </a:r>
          </a:p>
          <a:p>
            <a:pPr marL="152396">
              <a:lnSpc>
                <a:spcPct val="150000"/>
              </a:lnSpc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can use </a:t>
            </a:r>
            <a:r>
              <a:rPr lang="en-GB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</a:t>
            </a: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en-GB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double</a:t>
            </a: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quotes:</a:t>
            </a:r>
          </a:p>
          <a:p>
            <a:pPr marL="152396">
              <a:lnSpc>
                <a:spcPct val="150000"/>
              </a:lnSpc>
            </a:pPr>
            <a:r>
              <a:rPr lang="en-GB" sz="24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let </a:t>
            </a:r>
            <a:r>
              <a:rPr lang="en-GB" sz="2400" dirty="0" err="1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myName</a:t>
            </a:r>
            <a:r>
              <a:rPr lang="en-GB" sz="24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= “Khalid”;</a:t>
            </a:r>
          </a:p>
          <a:p>
            <a:pPr marL="152396">
              <a:lnSpc>
                <a:spcPct val="150000"/>
              </a:lnSpc>
            </a:pPr>
            <a:r>
              <a:rPr lang="en-GB" sz="24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let </a:t>
            </a:r>
            <a:r>
              <a:rPr lang="en-GB" sz="2400" dirty="0" err="1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myName</a:t>
            </a:r>
            <a:r>
              <a:rPr lang="en-GB" sz="24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= ‘Khalid’;</a:t>
            </a:r>
          </a:p>
          <a:p>
            <a:pPr marL="152396">
              <a:lnSpc>
                <a:spcPct val="150000"/>
              </a:lnSpc>
            </a:pPr>
            <a:endParaRPr lang="en-GB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227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>
          <a:extLst>
            <a:ext uri="{FF2B5EF4-FFF2-40B4-BE49-F238E27FC236}">
              <a16:creationId xmlns:a16="http://schemas.microsoft.com/office/drawing/2014/main" id="{B2889AE3-9280-1780-4654-BC33819F8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0">
            <a:extLst>
              <a:ext uri="{FF2B5EF4-FFF2-40B4-BE49-F238E27FC236}">
                <a16:creationId xmlns:a16="http://schemas.microsoft.com/office/drawing/2014/main" id="{DE71921D-5F4A-4E9B-AC99-66F8C5AECC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String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8A92198-A4DE-3FD8-963F-8B7FFDD7520D}"/>
              </a:ext>
            </a:extLst>
          </p:cNvPr>
          <p:cNvSpPr txBox="1">
            <a:spLocks/>
          </p:cNvSpPr>
          <p:nvPr/>
        </p:nvSpPr>
        <p:spPr>
          <a:xfrm>
            <a:off x="831200" y="1356966"/>
            <a:ext cx="10681245" cy="510879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396">
              <a:lnSpc>
                <a:spcPct val="150000"/>
              </a:lnSpc>
            </a:pPr>
            <a:r>
              <a:rPr lang="en-GB" sz="2667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Escape Characters</a:t>
            </a:r>
          </a:p>
          <a:p>
            <a:pPr marL="152396">
              <a:lnSpc>
                <a:spcPct val="150000"/>
              </a:lnSpc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Because strings must be written within quotes, JavaScript will misunderstand this string:</a:t>
            </a:r>
          </a:p>
          <a:p>
            <a:pPr marL="152396">
              <a:lnSpc>
                <a:spcPct val="150000"/>
              </a:lnSpc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live = “We live in “Somaliland””;</a:t>
            </a:r>
          </a:p>
          <a:p>
            <a:pPr marL="152396">
              <a:lnSpc>
                <a:spcPct val="150000"/>
              </a:lnSpc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string will be chopped to "We live in".</a:t>
            </a:r>
          </a:p>
          <a:p>
            <a:pPr marL="152396">
              <a:lnSpc>
                <a:spcPct val="150000"/>
              </a:lnSpc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solve this problem, you can use an backslash escape character.</a:t>
            </a:r>
          </a:p>
          <a:p>
            <a:pPr marL="152396">
              <a:lnSpc>
                <a:spcPct val="150000"/>
              </a:lnSpc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backslash escape character (\) turns special characters into string characters:</a:t>
            </a:r>
          </a:p>
        </p:txBody>
      </p:sp>
    </p:spTree>
    <p:extLst>
      <p:ext uri="{BB962C8B-B14F-4D97-AF65-F5344CB8AC3E}">
        <p14:creationId xmlns:p14="http://schemas.microsoft.com/office/powerpoint/2010/main" val="19458158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>
          <a:extLst>
            <a:ext uri="{FF2B5EF4-FFF2-40B4-BE49-F238E27FC236}">
              <a16:creationId xmlns:a16="http://schemas.microsoft.com/office/drawing/2014/main" id="{351B8663-B0AA-A65E-F83C-7ECA276DC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0">
            <a:extLst>
              <a:ext uri="{FF2B5EF4-FFF2-40B4-BE49-F238E27FC236}">
                <a16:creationId xmlns:a16="http://schemas.microsoft.com/office/drawing/2014/main" id="{AA6F9398-C498-2873-9377-A0AFD745D7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String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5E59F9D-99B1-281B-785F-42A8D4AA3B29}"/>
              </a:ext>
            </a:extLst>
          </p:cNvPr>
          <p:cNvSpPr txBox="1">
            <a:spLocks/>
          </p:cNvSpPr>
          <p:nvPr/>
        </p:nvSpPr>
        <p:spPr>
          <a:xfrm>
            <a:off x="831200" y="1356966"/>
            <a:ext cx="10681245" cy="510879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396">
              <a:lnSpc>
                <a:spcPct val="150000"/>
              </a:lnSpc>
            </a:pPr>
            <a:r>
              <a:rPr lang="en-GB" sz="2667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Escape Characters</a:t>
            </a:r>
          </a:p>
          <a:p>
            <a:pPr marL="152396">
              <a:lnSpc>
                <a:spcPct val="150000"/>
              </a:lnSpc>
            </a:pPr>
            <a:endParaRPr lang="en-GB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70AE98F-280D-687F-283D-B95BA510E14A}"/>
              </a:ext>
            </a:extLst>
          </p:cNvPr>
          <p:cNvGraphicFramePr>
            <a:graphicFrameLocks noGrp="1"/>
          </p:cNvGraphicFramePr>
          <p:nvPr/>
        </p:nvGraphicFramePr>
        <p:xfrm>
          <a:off x="960001" y="2234112"/>
          <a:ext cx="8445258" cy="305366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378103">
                  <a:extLst>
                    <a:ext uri="{9D8B030D-6E8A-4147-A177-3AD203B41FA5}">
                      <a16:colId xmlns:a16="http://schemas.microsoft.com/office/drawing/2014/main" val="638279167"/>
                    </a:ext>
                  </a:extLst>
                </a:gridCol>
                <a:gridCol w="5067155">
                  <a:extLst>
                    <a:ext uri="{9D8B030D-6E8A-4147-A177-3AD203B41FA5}">
                      <a16:colId xmlns:a16="http://schemas.microsoft.com/office/drawing/2014/main" val="2972554853"/>
                    </a:ext>
                  </a:extLst>
                </a:gridCol>
              </a:tblGrid>
              <a:tr h="5089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Code</a:t>
                      </a:r>
                    </a:p>
                  </a:txBody>
                  <a:tcPr marL="135467" marR="67733" marT="67733" marB="6773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Result</a:t>
                      </a:r>
                    </a:p>
                  </a:txBody>
                  <a:tcPr marL="67733" marR="67733" marT="67733" marB="67733"/>
                </a:tc>
                <a:extLst>
                  <a:ext uri="{0D108BD9-81ED-4DB2-BD59-A6C34878D82A}">
                    <a16:rowId xmlns:a16="http://schemas.microsoft.com/office/drawing/2014/main" val="3218420550"/>
                  </a:ext>
                </a:extLst>
              </a:tr>
              <a:tr h="5089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\'</a:t>
                      </a:r>
                    </a:p>
                  </a:txBody>
                  <a:tcPr marL="135467" marR="67733" marT="67733" marB="6773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'</a:t>
                      </a:r>
                    </a:p>
                  </a:txBody>
                  <a:tcPr marL="67733" marR="67733" marT="67733" marB="67733"/>
                </a:tc>
                <a:extLst>
                  <a:ext uri="{0D108BD9-81ED-4DB2-BD59-A6C34878D82A}">
                    <a16:rowId xmlns:a16="http://schemas.microsoft.com/office/drawing/2014/main" val="1806217430"/>
                  </a:ext>
                </a:extLst>
              </a:tr>
              <a:tr h="5089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\"</a:t>
                      </a:r>
                    </a:p>
                  </a:txBody>
                  <a:tcPr marL="135467" marR="67733" marT="67733" marB="6773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"</a:t>
                      </a:r>
                    </a:p>
                  </a:txBody>
                  <a:tcPr marL="67733" marR="67733" marT="67733" marB="67733"/>
                </a:tc>
                <a:extLst>
                  <a:ext uri="{0D108BD9-81ED-4DB2-BD59-A6C34878D82A}">
                    <a16:rowId xmlns:a16="http://schemas.microsoft.com/office/drawing/2014/main" val="2723279092"/>
                  </a:ext>
                </a:extLst>
              </a:tr>
              <a:tr h="5089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\\</a:t>
                      </a:r>
                    </a:p>
                  </a:txBody>
                  <a:tcPr marL="135467" marR="67733" marT="67733" marB="6773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\</a:t>
                      </a:r>
                    </a:p>
                  </a:txBody>
                  <a:tcPr marL="67733" marR="67733" marT="67733" marB="67733"/>
                </a:tc>
                <a:extLst>
                  <a:ext uri="{0D108BD9-81ED-4DB2-BD59-A6C34878D82A}">
                    <a16:rowId xmlns:a16="http://schemas.microsoft.com/office/drawing/2014/main" val="3911388180"/>
                  </a:ext>
                </a:extLst>
              </a:tr>
              <a:tr h="5089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CA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\n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5467" marR="67733" marT="67733" marB="6773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CA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New Line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33" marR="67733" marT="67733" marB="67733"/>
                </a:tc>
                <a:extLst>
                  <a:ext uri="{0D108BD9-81ED-4DB2-BD59-A6C34878D82A}">
                    <a16:rowId xmlns:a16="http://schemas.microsoft.com/office/drawing/2014/main" val="301889650"/>
                  </a:ext>
                </a:extLst>
              </a:tr>
              <a:tr h="5089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CA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\t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5467" marR="67733" marT="67733" marB="6773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CA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Horizontal Tabulator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33" marR="67733" marT="67733" marB="67733"/>
                </a:tc>
                <a:extLst>
                  <a:ext uri="{0D108BD9-81ED-4DB2-BD59-A6C34878D82A}">
                    <a16:rowId xmlns:a16="http://schemas.microsoft.com/office/drawing/2014/main" val="1856585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30414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>
          <a:extLst>
            <a:ext uri="{FF2B5EF4-FFF2-40B4-BE49-F238E27FC236}">
              <a16:creationId xmlns:a16="http://schemas.microsoft.com/office/drawing/2014/main" id="{6D24BF38-5FC9-BFAA-6C2E-6065C7126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0">
            <a:extLst>
              <a:ext uri="{FF2B5EF4-FFF2-40B4-BE49-F238E27FC236}">
                <a16:creationId xmlns:a16="http://schemas.microsoft.com/office/drawing/2014/main" id="{FE077E49-FA91-EE7C-40A4-BA93D7C6D0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234139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String Literals Template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58760F3-FA92-E3C7-45A8-CDE7131466D7}"/>
              </a:ext>
            </a:extLst>
          </p:cNvPr>
          <p:cNvSpPr txBox="1">
            <a:spLocks/>
          </p:cNvSpPr>
          <p:nvPr/>
        </p:nvSpPr>
        <p:spPr>
          <a:xfrm>
            <a:off x="960000" y="997739"/>
            <a:ext cx="10681245" cy="551191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396">
              <a:lnSpc>
                <a:spcPct val="150000"/>
              </a:lnSpc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string template in JavaScript is a new way to write text (string).</a:t>
            </a:r>
          </a:p>
          <a:p>
            <a:pPr marL="152396">
              <a:lnSpc>
                <a:spcPct val="150000"/>
              </a:lnSpc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uses backticks </a:t>
            </a:r>
            <a:r>
              <a:rPr lang="en-GB" sz="2400" b="1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`</a:t>
            </a: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(not quotes </a:t>
            </a:r>
            <a:r>
              <a:rPr lang="en-GB" sz="24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 "</a:t>
            </a: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152396">
              <a:lnSpc>
                <a:spcPct val="150000"/>
              </a:lnSpc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easier to:</a:t>
            </a:r>
          </a:p>
          <a:p>
            <a:pPr marL="609585" indent="-457189">
              <a:lnSpc>
                <a:spcPct val="150000"/>
              </a:lnSpc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long text (many lines).</a:t>
            </a:r>
          </a:p>
          <a:p>
            <a:pPr marL="609585" indent="-457189">
              <a:lnSpc>
                <a:spcPct val="150000"/>
              </a:lnSpc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Put variables inside text.</a:t>
            </a:r>
          </a:p>
          <a:p>
            <a:pPr marL="152396">
              <a:lnSpc>
                <a:spcPct val="150000"/>
              </a:lnSpc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1: Normal String</a:t>
            </a:r>
          </a:p>
          <a:p>
            <a:pPr marL="152396">
              <a:lnSpc>
                <a:spcPct val="150000"/>
              </a:lnSpc>
            </a:pPr>
            <a:r>
              <a:rPr lang="en-GB" sz="2267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let name = "Khalid";</a:t>
            </a:r>
          </a:p>
          <a:p>
            <a:pPr marL="152396">
              <a:lnSpc>
                <a:spcPct val="150000"/>
              </a:lnSpc>
            </a:pPr>
            <a:r>
              <a:rPr lang="en-GB" sz="2267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let text = "Hello, my name is " + name + ".";</a:t>
            </a:r>
          </a:p>
          <a:p>
            <a:pPr marL="152396">
              <a:lnSpc>
                <a:spcPct val="150000"/>
              </a:lnSpc>
            </a:pPr>
            <a:r>
              <a:rPr lang="en-GB" sz="2267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console.log(text);</a:t>
            </a:r>
          </a:p>
          <a:p>
            <a:pPr marL="152396">
              <a:lnSpc>
                <a:spcPct val="150000"/>
              </a:lnSpc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is a bit hard because we must use + to join words.</a:t>
            </a:r>
          </a:p>
          <a:p>
            <a:pPr marL="152396">
              <a:lnSpc>
                <a:spcPct val="150000"/>
              </a:lnSpc>
            </a:pPr>
            <a:endParaRPr lang="en-GB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52396">
              <a:lnSpc>
                <a:spcPct val="150000"/>
              </a:lnSpc>
            </a:pPr>
            <a:endParaRPr lang="en-GB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9065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>
          <a:extLst>
            <a:ext uri="{FF2B5EF4-FFF2-40B4-BE49-F238E27FC236}">
              <a16:creationId xmlns:a16="http://schemas.microsoft.com/office/drawing/2014/main" id="{FA56F226-1556-3BEB-9085-B6D05011E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0">
            <a:extLst>
              <a:ext uri="{FF2B5EF4-FFF2-40B4-BE49-F238E27FC236}">
                <a16:creationId xmlns:a16="http://schemas.microsoft.com/office/drawing/2014/main" id="{68FF5B78-9C4A-FAE5-BC42-C8A68BDC8B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234139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/>
              <a:t>String Literals Template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BD47506-286E-F0DB-5741-76A2D5868416}"/>
              </a:ext>
            </a:extLst>
          </p:cNvPr>
          <p:cNvSpPr txBox="1">
            <a:spLocks/>
          </p:cNvSpPr>
          <p:nvPr/>
        </p:nvSpPr>
        <p:spPr>
          <a:xfrm>
            <a:off x="960000" y="997739"/>
            <a:ext cx="10681245" cy="551191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396">
              <a:lnSpc>
                <a:spcPct val="150000"/>
              </a:lnSpc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2: String Template</a:t>
            </a:r>
          </a:p>
          <a:p>
            <a:pPr marL="152396">
              <a:lnSpc>
                <a:spcPct val="150000"/>
              </a:lnSpc>
            </a:pPr>
            <a:r>
              <a:rPr lang="en-GB" sz="2267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let name = "Khalid";</a:t>
            </a:r>
          </a:p>
          <a:p>
            <a:pPr marL="152396">
              <a:lnSpc>
                <a:spcPct val="150000"/>
              </a:lnSpc>
            </a:pPr>
            <a:r>
              <a:rPr lang="en-GB" sz="2267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let text = `Hello, my name is ${name}.`;</a:t>
            </a:r>
          </a:p>
          <a:p>
            <a:pPr marL="152396">
              <a:lnSpc>
                <a:spcPct val="150000"/>
              </a:lnSpc>
            </a:pPr>
            <a:r>
              <a:rPr lang="en-GB" sz="2267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console.log(text);</a:t>
            </a:r>
          </a:p>
          <a:p>
            <a:pPr marL="152396">
              <a:lnSpc>
                <a:spcPct val="150000"/>
              </a:lnSpc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Much easier no + we use </a:t>
            </a:r>
            <a:r>
              <a:rPr lang="en-GB" sz="2267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${variable} </a:t>
            </a: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inside </a:t>
            </a:r>
            <a:r>
              <a:rPr lang="en-GB" sz="2267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`</a:t>
            </a:r>
          </a:p>
          <a:p>
            <a:pPr marL="152396">
              <a:lnSpc>
                <a:spcPct val="150000"/>
              </a:lnSpc>
            </a:pP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3: Multi line text</a:t>
            </a:r>
          </a:p>
          <a:p>
            <a:pPr marL="152396">
              <a:lnSpc>
                <a:spcPct val="150000"/>
              </a:lnSpc>
            </a:pPr>
            <a:r>
              <a:rPr lang="en-GB" sz="2267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let poem = `Roses are red</a:t>
            </a:r>
          </a:p>
          <a:p>
            <a:pPr marL="152396">
              <a:lnSpc>
                <a:spcPct val="150000"/>
              </a:lnSpc>
            </a:pPr>
            <a:r>
              <a:rPr lang="en-GB" sz="2267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JavaScript is fun</a:t>
            </a:r>
          </a:p>
          <a:p>
            <a:pPr marL="152396">
              <a:lnSpc>
                <a:spcPct val="150000"/>
              </a:lnSpc>
            </a:pPr>
            <a:r>
              <a:rPr lang="en-GB" sz="2267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And easy for you!`;</a:t>
            </a:r>
          </a:p>
          <a:p>
            <a:pPr marL="152396">
              <a:lnSpc>
                <a:spcPct val="150000"/>
              </a:lnSpc>
            </a:pPr>
            <a:r>
              <a:rPr lang="en-GB" sz="2267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console.log(poem);   </a:t>
            </a:r>
            <a:r>
              <a:rPr lang="en-GB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We can write on many lines without \n</a:t>
            </a:r>
          </a:p>
          <a:p>
            <a:pPr marL="152396">
              <a:lnSpc>
                <a:spcPct val="150000"/>
              </a:lnSpc>
            </a:pPr>
            <a:endParaRPr lang="en-GB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52396">
              <a:lnSpc>
                <a:spcPct val="150000"/>
              </a:lnSpc>
            </a:pPr>
            <a:endParaRPr lang="en-GB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300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956</Words>
  <Application>Microsoft Office PowerPoint</Application>
  <PresentationFormat>Widescreen</PresentationFormat>
  <Paragraphs>177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Cairo</vt:lpstr>
      <vt:lpstr>Calibri</vt:lpstr>
      <vt:lpstr>Calibri Light</vt:lpstr>
      <vt:lpstr>Consolas</vt:lpstr>
      <vt:lpstr>DM Sans SemiBold</vt:lpstr>
      <vt:lpstr>Wingdings</vt:lpstr>
      <vt:lpstr>Office Theme</vt:lpstr>
      <vt:lpstr>PowerPoint Presentation</vt:lpstr>
      <vt:lpstr>What we Cover Today:</vt:lpstr>
      <vt:lpstr>Data Types and variables</vt:lpstr>
      <vt:lpstr>Data Types and variables</vt:lpstr>
      <vt:lpstr>Data Types and variables</vt:lpstr>
      <vt:lpstr>Data Types and variables</vt:lpstr>
      <vt:lpstr>Data Types and variables</vt:lpstr>
      <vt:lpstr>Data Types and variables</vt:lpstr>
      <vt:lpstr>Data Types and variables</vt:lpstr>
      <vt:lpstr>Data Types and variables</vt:lpstr>
      <vt:lpstr>Data Types and variables</vt:lpstr>
      <vt:lpstr>Data Types and variables</vt:lpstr>
      <vt:lpstr>Data Types and variables</vt:lpstr>
      <vt:lpstr>PowerPoint Presentation</vt:lpstr>
      <vt:lpstr>String</vt:lpstr>
      <vt:lpstr>String</vt:lpstr>
      <vt:lpstr>String</vt:lpstr>
      <vt:lpstr>String Literals Template</vt:lpstr>
      <vt:lpstr>String Literals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Khalid Sulub</dc:creator>
  <cp:lastModifiedBy>Khalid Sulub</cp:lastModifiedBy>
  <cp:revision>3</cp:revision>
  <dcterms:created xsi:type="dcterms:W3CDTF">2025-12-15T15:49:39Z</dcterms:created>
  <dcterms:modified xsi:type="dcterms:W3CDTF">2026-02-11T17:57:50Z</dcterms:modified>
</cp:coreProperties>
</file>