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850" r:id="rId2"/>
    <p:sldId id="470" r:id="rId3"/>
    <p:sldId id="347" r:id="rId4"/>
    <p:sldId id="348" r:id="rId5"/>
    <p:sldId id="352" r:id="rId6"/>
    <p:sldId id="349" r:id="rId7"/>
    <p:sldId id="350" r:id="rId8"/>
    <p:sldId id="351" r:id="rId9"/>
    <p:sldId id="353" r:id="rId10"/>
    <p:sldId id="354" r:id="rId11"/>
    <p:sldId id="355" r:id="rId12"/>
    <p:sldId id="356" r:id="rId13"/>
    <p:sldId id="357" r:id="rId14"/>
    <p:sldId id="358" r:id="rId15"/>
    <p:sldId id="35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885F9A-E49D-4FF7-B0C7-9F595393FEDF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D9AFF9-18C3-4770-96BB-6D24EF66C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336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4640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2226DA8C-F371-FDCF-8B98-DC9F09E9F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1B29DF6C-50CB-992D-5D9C-CE9BC5D6DB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77FCAB04-E52E-0046-D069-394E1245B6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21029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626895D7-AB0E-1749-74F0-F4AA5A5A2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2350929F-B6DD-CA31-1711-48F2CFF438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53A2AB7B-CCE9-7F3D-DAAD-082E5C742A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29815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B99603A8-ABA6-FF13-1532-5ECD72880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3410A149-5181-68D4-92B6-1A26FB8700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9D6C4B5F-CC32-FA52-EBC8-F561C3113D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4211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9F27DACC-6C93-7EBE-F3CF-7779602DA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31855FB4-6410-34B9-2FFE-A894004DFC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13F88905-688D-3A5B-D6A9-66DC55E43F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19168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72026FB9-978D-A007-B768-DF75E3B71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4B485A44-51BE-6A94-4B57-6DFE9C5265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240BC522-80BE-0940-B41F-844CBB84E5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21655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96975F69-10B6-0EEA-6356-38FF14E4F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61B9F536-96B9-B21D-F3EF-F70C4A1F77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9F28BCD3-AADB-52CA-47EC-AD753A7A14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00989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72DD458E-91FC-0442-5B34-15D71E055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D587425E-2A11-E893-6AF8-836EDB2A0D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DD9B3348-131D-6FEA-2131-D7BD1250C7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81959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92D10F80-C853-2B5B-3CD0-A41D7DF42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11EF4BD3-EE65-0380-7EB4-CCE9EB6870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070BCF0C-35A8-5586-DA07-81C6908C46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88254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AB1BCA46-A4F5-21A2-6BC2-94F7C2B15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CDCA76D1-0137-FB64-34EF-1C877AF1BC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7F12F10F-BA1C-B785-7996-6CE154B487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60342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A436EC4D-A7B3-E5A0-4008-35F7C5DCE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9363EAEE-A0BD-9D4D-54CD-AC0D68BB3B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CD700CA1-18DC-E039-9417-4DC64991EE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70447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025E8336-2725-0180-4887-DCA264EA9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9ED10B69-8025-BF63-0362-CC6B3EC04E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96A34A07-CCE7-97BB-B58C-4A8E7D91F1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07550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79194EB7-15CC-41FB-D74A-0B2DDF2AE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FF6350F1-E7DE-931B-659F-EFE8D2059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A2822101-E54A-65DE-8645-62902091E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97711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7D511B8D-9029-CDD3-457B-9DEFF54D4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C56322AE-810B-6F09-4D89-AE9E5CB6EF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FB4E1743-7DB9-A31E-99C7-47130A4A1E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0037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DF2BD-4ACC-7E68-B678-2233490746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506BBA-7405-616B-D439-29688E4EDB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0DEE3-00F8-BA31-CC19-B34EC7485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40E77-840A-4104-99C4-B12C3A511FA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89488-642F-730F-932A-D51ABB8E1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8D8C3-BC34-1EED-25A1-47528AE61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282ED-DC08-4229-9A6D-1B453727B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803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6C176-4A76-74E5-DFC2-5CA67DFE8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3570F-86B5-FF17-F9BB-07693F759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71AD9-E588-ED3B-4ECF-EC92CBC4E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40E77-840A-4104-99C4-B12C3A511FA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F445E-1A2A-62D0-2FC6-97D180288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E470F-9214-8D36-0134-0DFCD7E97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282ED-DC08-4229-9A6D-1B453727B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FB1F8-9AAD-C28C-37E0-E3F05560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7A2068-878A-4C70-7DA8-18D7DA9F8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39E62-DC2E-1FA3-B4A0-191B8EEBA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40E77-840A-4104-99C4-B12C3A511FA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E9641-C4E7-22F5-4EC3-66CAD8337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48BBD-DC66-3453-05C4-B36F0C9AE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282ED-DC08-4229-9A6D-1B453727B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862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60546-E097-1992-2C1C-F4C8E920B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F0418-ABE1-48F9-284E-DB2D2A2BFD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A3C3CE-594B-4A97-EF2B-1D30DC048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FE347E-D379-9C72-5FF1-2B93692A8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40E77-840A-4104-99C4-B12C3A511FA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BD87D8-A839-8E0D-DDEF-86790C0D4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1D8341-6E30-5790-7386-CEC9A9EC5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282ED-DC08-4229-9A6D-1B453727B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967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06F4C-E0B0-37C6-54FD-362609235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9A0B28-6958-8241-7E7A-1BE8E1F4D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112FFE-42BB-00A6-BD35-F04ECD89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60176E-2225-CE00-85D4-F511950DF4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E18957-7E4A-8311-93A9-0E1483182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6D3B4D-11B0-D524-FEE7-A6677614F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40E77-840A-4104-99C4-B12C3A511FA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8944AD-1F4C-89B7-FC82-98F3D9A46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C82A6A-0B54-643D-AE1E-23D77ABBD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282ED-DC08-4229-9A6D-1B453727B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438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28B14-A1E5-E257-6319-87C21835D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304B2-DB71-7733-3E9C-955887D9B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40E77-840A-4104-99C4-B12C3A511FA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CD93BC-FCDA-B63A-632C-34BD19B33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20E80F-C10C-2854-7118-5B30D6102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282ED-DC08-4229-9A6D-1B453727B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816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8D88F2-85D5-B605-BF64-30434964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40E77-840A-4104-99C4-B12C3A511FA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8B3244-757C-2FE8-AB64-D3797160B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C98F35-3086-5392-54EC-0FFAA240D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282ED-DC08-4229-9A6D-1B453727B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202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4939D-1769-7C6A-0A60-BEAD6E8A8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D9234-12D4-AF5D-3E22-8557970FF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0C0121-DD35-68A2-CDE8-1EE9D91078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5DD443-66A7-C5F5-8907-47DACB507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40E77-840A-4104-99C4-B12C3A511FA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7D00FD-8997-2468-5D01-6FA8706DD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4E71FF-E3E9-3360-2587-DEFF54F6F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282ED-DC08-4229-9A6D-1B453727B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01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654AB-6577-2043-9C70-4F4362E68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E68889-962C-CB8E-DEC0-4288BC20B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929C3B-1DEB-9F7D-08AA-BFB3818198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32503A-D4F1-F19A-2E98-F3C50DE96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40E77-840A-4104-99C4-B12C3A511FA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EB980F-9B21-04F1-0D06-680A20863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83F5B8-66CC-C5CE-F765-AF1F483E6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282ED-DC08-4229-9A6D-1B453727B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796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6679C-3AB3-47F9-75BC-F2EF2E6BD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1E48B6-9782-58E1-6E13-67AF4BA3C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AE563-8E95-711E-7EB8-A4F01691E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40E77-840A-4104-99C4-B12C3A511FA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4E1E2-9790-FDBC-B28D-D6609EB8B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94B05-9CA9-B7FC-798C-4097A1925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282ED-DC08-4229-9A6D-1B453727B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587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23B644-78C1-4D47-75CB-CB1FF3E852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EBA012-3F6F-2FAF-7946-CD7899C6CF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4D411-9165-801A-022F-48BB91363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40E77-840A-4104-99C4-B12C3A511FA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40ECF-1387-99AC-F4D6-302928063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517E3-024E-39DF-4418-9F7CD3A82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282ED-DC08-4229-9A6D-1B453727B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305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52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●"/>
              <a:defRPr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○"/>
              <a:defRPr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■"/>
              <a:defRPr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●"/>
              <a:defRPr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○"/>
              <a:defRPr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■"/>
              <a:defRPr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●"/>
              <a:defRPr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○"/>
              <a:defRPr/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3" name="Google Shape;23;p4"/>
          <p:cNvGrpSpPr/>
          <p:nvPr/>
        </p:nvGrpSpPr>
        <p:grpSpPr>
          <a:xfrm>
            <a:off x="168" y="0"/>
            <a:ext cx="12191833" cy="161200"/>
            <a:chOff x="125" y="0"/>
            <a:chExt cx="9143875" cy="120900"/>
          </a:xfrm>
        </p:grpSpPr>
        <p:sp>
          <p:nvSpPr>
            <p:cNvPr id="24" name="Google Shape;24;p4"/>
            <p:cNvSpPr/>
            <p:nvPr/>
          </p:nvSpPr>
          <p:spPr>
            <a:xfrm flipH="1">
              <a:off x="654900" y="0"/>
              <a:ext cx="84891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 flipH="1">
              <a:off x="125" y="0"/>
              <a:ext cx="7131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43259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title" idx="2" hasCustomPrompt="1"/>
          </p:nvPr>
        </p:nvSpPr>
        <p:spPr>
          <a:xfrm>
            <a:off x="2072412" y="1860800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3" name="Google Shape;103;p17"/>
          <p:cNvSpPr txBox="1">
            <a:spLocks noGrp="1"/>
          </p:cNvSpPr>
          <p:nvPr>
            <p:ph type="title" idx="3" hasCustomPrompt="1"/>
          </p:nvPr>
        </p:nvSpPr>
        <p:spPr>
          <a:xfrm>
            <a:off x="2072412" y="4065739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4" name="Google Shape;104;p17"/>
          <p:cNvSpPr txBox="1">
            <a:spLocks noGrp="1"/>
          </p:cNvSpPr>
          <p:nvPr>
            <p:ph type="title" idx="4" hasCustomPrompt="1"/>
          </p:nvPr>
        </p:nvSpPr>
        <p:spPr>
          <a:xfrm>
            <a:off x="5580116" y="1860800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5" name="Google Shape;105;p17"/>
          <p:cNvSpPr txBox="1">
            <a:spLocks noGrp="1"/>
          </p:cNvSpPr>
          <p:nvPr>
            <p:ph type="title" idx="5" hasCustomPrompt="1"/>
          </p:nvPr>
        </p:nvSpPr>
        <p:spPr>
          <a:xfrm>
            <a:off x="5580116" y="4065739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6" name="Google Shape;106;p17"/>
          <p:cNvSpPr txBox="1">
            <a:spLocks noGrp="1"/>
          </p:cNvSpPr>
          <p:nvPr>
            <p:ph type="title" idx="6" hasCustomPrompt="1"/>
          </p:nvPr>
        </p:nvSpPr>
        <p:spPr>
          <a:xfrm>
            <a:off x="9087853" y="1860800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7" name="Google Shape;107;p17"/>
          <p:cNvSpPr txBox="1">
            <a:spLocks noGrp="1"/>
          </p:cNvSpPr>
          <p:nvPr>
            <p:ph type="title" idx="7" hasCustomPrompt="1"/>
          </p:nvPr>
        </p:nvSpPr>
        <p:spPr>
          <a:xfrm>
            <a:off x="9087853" y="4065739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8" name="Google Shape;108;p17"/>
          <p:cNvSpPr txBox="1">
            <a:spLocks noGrp="1"/>
          </p:cNvSpPr>
          <p:nvPr>
            <p:ph type="subTitle" idx="1"/>
          </p:nvPr>
        </p:nvSpPr>
        <p:spPr>
          <a:xfrm>
            <a:off x="960000" y="2893600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ubTitle" idx="8"/>
          </p:nvPr>
        </p:nvSpPr>
        <p:spPr>
          <a:xfrm>
            <a:off x="4467704" y="2893600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subTitle" idx="9"/>
          </p:nvPr>
        </p:nvSpPr>
        <p:spPr>
          <a:xfrm>
            <a:off x="7975441" y="2893600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subTitle" idx="13"/>
          </p:nvPr>
        </p:nvSpPr>
        <p:spPr>
          <a:xfrm>
            <a:off x="960000" y="5098533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subTitle" idx="14"/>
          </p:nvPr>
        </p:nvSpPr>
        <p:spPr>
          <a:xfrm>
            <a:off x="4467704" y="5098533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subTitle" idx="15"/>
          </p:nvPr>
        </p:nvSpPr>
        <p:spPr>
          <a:xfrm>
            <a:off x="7975441" y="5098533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grpSp>
        <p:nvGrpSpPr>
          <p:cNvPr id="114" name="Google Shape;114;p17"/>
          <p:cNvGrpSpPr/>
          <p:nvPr/>
        </p:nvGrpSpPr>
        <p:grpSpPr>
          <a:xfrm>
            <a:off x="-15" y="-16"/>
            <a:ext cx="161217" cy="6862784"/>
            <a:chOff x="-12" y="-12"/>
            <a:chExt cx="120913" cy="5147088"/>
          </a:xfrm>
        </p:grpSpPr>
        <p:sp>
          <p:nvSpPr>
            <p:cNvPr id="115" name="Google Shape;115;p17"/>
            <p:cNvSpPr/>
            <p:nvPr/>
          </p:nvSpPr>
          <p:spPr>
            <a:xfrm rot="5400000" flipH="1">
              <a:off x="-2185650" y="2840525"/>
              <a:ext cx="44922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16" name="Google Shape;116;p17"/>
            <p:cNvSpPr/>
            <p:nvPr/>
          </p:nvSpPr>
          <p:spPr>
            <a:xfrm rot="5400000" flipH="1">
              <a:off x="-296112" y="296088"/>
              <a:ext cx="7131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3433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1082A2-A4F6-76C7-2559-5DF26EEDD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32A2B5-5D33-7803-F7E5-5426AF051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54925-D7E8-BE53-3609-54B8A73AFF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40E77-840A-4104-99C4-B12C3A511FA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0263E-AFA1-E550-DEB5-AEC2087D55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5EF3E-48BF-D30C-3044-FD1BC2C627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282ED-DC08-4229-9A6D-1B453727B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520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Работа с числами в JavaScript · ИТ Шеф">
            <a:extLst>
              <a:ext uri="{FF2B5EF4-FFF2-40B4-BE49-F238E27FC236}">
                <a16:creationId xmlns:a16="http://schemas.microsoft.com/office/drawing/2014/main" id="{281A2959-AA80-DCA6-8788-63022EE0E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2639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What we Cover Today:</a:t>
            </a:r>
            <a:endParaRPr dirty="0"/>
          </a:p>
        </p:txBody>
      </p:sp>
      <p:sp>
        <p:nvSpPr>
          <p:cNvPr id="214" name="Google Shape;214;p29"/>
          <p:cNvSpPr txBox="1">
            <a:spLocks noGrp="1"/>
          </p:cNvSpPr>
          <p:nvPr>
            <p:ph type="title" idx="2"/>
          </p:nvPr>
        </p:nvSpPr>
        <p:spPr>
          <a:xfrm>
            <a:off x="2072412" y="1860800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01</a:t>
            </a:r>
            <a:endParaRPr/>
          </a:p>
        </p:txBody>
      </p:sp>
      <p:sp>
        <p:nvSpPr>
          <p:cNvPr id="215" name="Google Shape;215;p29"/>
          <p:cNvSpPr txBox="1">
            <a:spLocks noGrp="1"/>
          </p:cNvSpPr>
          <p:nvPr>
            <p:ph type="title" idx="3"/>
          </p:nvPr>
        </p:nvSpPr>
        <p:spPr>
          <a:xfrm>
            <a:off x="2072412" y="4065739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04</a:t>
            </a:r>
            <a:endParaRPr/>
          </a:p>
        </p:txBody>
      </p:sp>
      <p:sp>
        <p:nvSpPr>
          <p:cNvPr id="216" name="Google Shape;216;p29"/>
          <p:cNvSpPr txBox="1">
            <a:spLocks noGrp="1"/>
          </p:cNvSpPr>
          <p:nvPr>
            <p:ph type="title" idx="4"/>
          </p:nvPr>
        </p:nvSpPr>
        <p:spPr>
          <a:xfrm>
            <a:off x="5580116" y="1860800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02</a:t>
            </a:r>
            <a:endParaRPr/>
          </a:p>
        </p:txBody>
      </p:sp>
      <p:sp>
        <p:nvSpPr>
          <p:cNvPr id="218" name="Google Shape;218;p29"/>
          <p:cNvSpPr txBox="1">
            <a:spLocks noGrp="1"/>
          </p:cNvSpPr>
          <p:nvPr>
            <p:ph type="title" idx="6"/>
          </p:nvPr>
        </p:nvSpPr>
        <p:spPr>
          <a:xfrm>
            <a:off x="9087853" y="1860800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03</a:t>
            </a:r>
            <a:endParaRPr/>
          </a:p>
        </p:txBody>
      </p:sp>
      <p:sp>
        <p:nvSpPr>
          <p:cNvPr id="220" name="Google Shape;220;p29"/>
          <p:cNvSpPr txBox="1">
            <a:spLocks noGrp="1"/>
          </p:cNvSpPr>
          <p:nvPr>
            <p:ph type="subTitle" idx="1"/>
          </p:nvPr>
        </p:nvSpPr>
        <p:spPr>
          <a:xfrm>
            <a:off x="960000" y="2893600"/>
            <a:ext cx="3265600" cy="59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en-CA" b="0" dirty="0">
                <a:latin typeface="DM Sans SemiBold"/>
                <a:ea typeface="DM Sans SemiBold"/>
                <a:cs typeface="DM Sans SemiBold"/>
                <a:sym typeface="DM Sans SemiBold"/>
              </a:rPr>
              <a:t>Number</a:t>
            </a:r>
            <a:endParaRPr b="0" dirty="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cxnSp>
        <p:nvCxnSpPr>
          <p:cNvPr id="226" name="Google Shape;226;p29"/>
          <p:cNvCxnSpPr/>
          <p:nvPr/>
        </p:nvCxnSpPr>
        <p:spPr>
          <a:xfrm>
            <a:off x="2020000" y="2792000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27" name="Google Shape;227;p29"/>
          <p:cNvCxnSpPr/>
          <p:nvPr/>
        </p:nvCxnSpPr>
        <p:spPr>
          <a:xfrm>
            <a:off x="5527717" y="2792000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28" name="Google Shape;228;p29"/>
          <p:cNvCxnSpPr/>
          <p:nvPr/>
        </p:nvCxnSpPr>
        <p:spPr>
          <a:xfrm>
            <a:off x="9035384" y="2792000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29" name="Google Shape;229;p29"/>
          <p:cNvCxnSpPr/>
          <p:nvPr/>
        </p:nvCxnSpPr>
        <p:spPr>
          <a:xfrm>
            <a:off x="2020000" y="4996933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" name="Google Shape;220;p29">
            <a:extLst>
              <a:ext uri="{FF2B5EF4-FFF2-40B4-BE49-F238E27FC236}">
                <a16:creationId xmlns:a16="http://schemas.microsoft.com/office/drawing/2014/main" id="{646AA688-C953-8207-6385-3D0F7EEDC8EA}"/>
              </a:ext>
            </a:extLst>
          </p:cNvPr>
          <p:cNvSpPr txBox="1">
            <a:spLocks/>
          </p:cNvSpPr>
          <p:nvPr/>
        </p:nvSpPr>
        <p:spPr>
          <a:xfrm>
            <a:off x="4463200" y="2893596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-GB" sz="2400" dirty="0"/>
              <a:t>Number Methods</a:t>
            </a:r>
          </a:p>
        </p:txBody>
      </p:sp>
      <p:sp>
        <p:nvSpPr>
          <p:cNvPr id="4" name="Google Shape;220;p29">
            <a:extLst>
              <a:ext uri="{FF2B5EF4-FFF2-40B4-BE49-F238E27FC236}">
                <a16:creationId xmlns:a16="http://schemas.microsoft.com/office/drawing/2014/main" id="{BDB03565-0506-79DC-F6D7-009C8D6D6B35}"/>
              </a:ext>
            </a:extLst>
          </p:cNvPr>
          <p:cNvSpPr txBox="1">
            <a:spLocks/>
          </p:cNvSpPr>
          <p:nvPr/>
        </p:nvSpPr>
        <p:spPr>
          <a:xfrm>
            <a:off x="7966400" y="2876545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-GB" sz="2400" dirty="0"/>
              <a:t>Math Object</a:t>
            </a:r>
          </a:p>
        </p:txBody>
      </p:sp>
      <p:sp>
        <p:nvSpPr>
          <p:cNvPr id="5" name="Google Shape;220;p29">
            <a:extLst>
              <a:ext uri="{FF2B5EF4-FFF2-40B4-BE49-F238E27FC236}">
                <a16:creationId xmlns:a16="http://schemas.microsoft.com/office/drawing/2014/main" id="{AC67C9DB-CC07-97AD-A7A0-9E896C6818EA}"/>
              </a:ext>
            </a:extLst>
          </p:cNvPr>
          <p:cNvSpPr txBox="1">
            <a:spLocks/>
          </p:cNvSpPr>
          <p:nvPr/>
        </p:nvSpPr>
        <p:spPr>
          <a:xfrm>
            <a:off x="960000" y="5027033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-GB" sz="2400" dirty="0"/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4184116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ECBB6042-E6DA-5209-FDB9-820F60FE8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41BC3827-C9A3-B83C-B6C3-1D131CEC59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409111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Number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26DD5600-2C3B-FF65-C054-E405028AC7C9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9093B56-AD2D-C238-8D38-AA8F0265B68D}"/>
              </a:ext>
            </a:extLst>
          </p:cNvPr>
          <p:cNvSpPr txBox="1"/>
          <p:nvPr/>
        </p:nvSpPr>
        <p:spPr>
          <a:xfrm>
            <a:off x="960000" y="1172711"/>
            <a:ext cx="10792288" cy="3911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number is a value for counting or calculating.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JavaScript, all numbers are the same type (no difference between integer and float).</a:t>
            </a:r>
          </a:p>
          <a:p>
            <a:pPr lvl="0">
              <a:lnSpc>
                <a:spcPct val="150000"/>
              </a:lnSpc>
            </a:pPr>
            <a:r>
              <a:rPr lang="en-GB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Example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let num1 = 24; 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let num2 = 10.5; 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let num3 = 1_000_000;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let num4 = 1e6;</a:t>
            </a:r>
          </a:p>
        </p:txBody>
      </p:sp>
    </p:spTree>
    <p:extLst>
      <p:ext uri="{BB962C8B-B14F-4D97-AF65-F5344CB8AC3E}">
        <p14:creationId xmlns:p14="http://schemas.microsoft.com/office/powerpoint/2010/main" val="2160981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92FFFB33-B2CB-1290-7DC5-750415421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87A8593A-456D-FEDD-D4C4-7FC7684975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409111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Number Methods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AEBE481B-B274-AF2B-162A-CAE28E1D7D97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FE56930-4FDF-B6D0-4432-A0293B5CFF44}"/>
              </a:ext>
            </a:extLst>
          </p:cNvPr>
          <p:cNvSpPr txBox="1"/>
          <p:nvPr/>
        </p:nvSpPr>
        <p:spPr>
          <a:xfrm>
            <a:off x="960000" y="1172711"/>
            <a:ext cx="10792288" cy="5361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Number()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Number()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method can be used to convert JavaScript variables to numbers</a:t>
            </a:r>
            <a:endParaRPr lang="en-GB" sz="2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</a:rPr>
              <a:t>Number(true);    // 1</a:t>
            </a:r>
            <a:br>
              <a:rPr lang="en-GB" sz="2267" dirty="0">
                <a:latin typeface="Consolas" panose="020B0609020204030204" pitchFamily="49" charset="0"/>
              </a:rPr>
            </a:br>
            <a:r>
              <a:rPr lang="en-GB" sz="2267" dirty="0">
                <a:latin typeface="Consolas" panose="020B0609020204030204" pitchFamily="49" charset="0"/>
              </a:rPr>
              <a:t>Number(false);   // 0</a:t>
            </a:r>
            <a:br>
              <a:rPr lang="en-GB" sz="2267" dirty="0">
                <a:latin typeface="Consolas" panose="020B0609020204030204" pitchFamily="49" charset="0"/>
              </a:rPr>
            </a:br>
            <a:r>
              <a:rPr lang="en-GB" sz="2267" dirty="0">
                <a:latin typeface="Consolas" panose="020B0609020204030204" pitchFamily="49" charset="0"/>
              </a:rPr>
              <a:t>Number("10");    // 10</a:t>
            </a:r>
            <a:br>
              <a:rPr lang="en-GB" sz="2267" dirty="0">
                <a:latin typeface="Consolas" panose="020B0609020204030204" pitchFamily="49" charset="0"/>
              </a:rPr>
            </a:br>
            <a:r>
              <a:rPr lang="en-GB" sz="2267" dirty="0">
                <a:latin typeface="Consolas" panose="020B0609020204030204" pitchFamily="49" charset="0"/>
              </a:rPr>
              <a:t>Number("10.33"); // 10.33</a:t>
            </a:r>
            <a:br>
              <a:rPr lang="en-GB" sz="2267" dirty="0">
                <a:latin typeface="Consolas" panose="020B0609020204030204" pitchFamily="49" charset="0"/>
              </a:rPr>
            </a:br>
            <a:r>
              <a:rPr lang="en-GB" sz="2267" dirty="0">
                <a:latin typeface="Consolas" panose="020B0609020204030204" pitchFamily="49" charset="0"/>
              </a:rPr>
              <a:t>Number("10,33"); // </a:t>
            </a:r>
            <a:r>
              <a:rPr lang="en-GB" sz="2267" dirty="0" err="1">
                <a:latin typeface="Consolas" panose="020B0609020204030204" pitchFamily="49" charset="0"/>
              </a:rPr>
              <a:t>NaN</a:t>
            </a:r>
            <a:br>
              <a:rPr lang="en-GB" sz="2267" dirty="0">
                <a:latin typeface="Consolas" panose="020B0609020204030204" pitchFamily="49" charset="0"/>
              </a:rPr>
            </a:br>
            <a:r>
              <a:rPr lang="en-GB" sz="2267" dirty="0">
                <a:latin typeface="Consolas" panose="020B0609020204030204" pitchFamily="49" charset="0"/>
              </a:rPr>
              <a:t>Number("10 33"); // </a:t>
            </a:r>
            <a:r>
              <a:rPr lang="en-GB" sz="2267" dirty="0" err="1">
                <a:latin typeface="Consolas" panose="020B0609020204030204" pitchFamily="49" charset="0"/>
              </a:rPr>
              <a:t>NaN</a:t>
            </a:r>
            <a:br>
              <a:rPr lang="en-GB" sz="2267" dirty="0">
                <a:latin typeface="Consolas" panose="020B0609020204030204" pitchFamily="49" charset="0"/>
              </a:rPr>
            </a:br>
            <a:r>
              <a:rPr lang="en-GB" sz="2267" dirty="0">
                <a:latin typeface="Consolas" panose="020B0609020204030204" pitchFamily="49" charset="0"/>
              </a:rPr>
              <a:t>Number("John");  // </a:t>
            </a:r>
            <a:r>
              <a:rPr lang="en-GB" sz="2267" dirty="0" err="1">
                <a:latin typeface="Consolas" panose="020B0609020204030204" pitchFamily="49" charset="0"/>
              </a:rPr>
              <a:t>NaN</a:t>
            </a:r>
            <a:endParaRPr lang="en-GB" sz="2267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3146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B5E4DEE1-54CF-0B6F-9D22-2132AC992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1ED59C8D-A672-09C0-A6BD-C83C2689E2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409111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Number Methods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792167A7-D169-2222-6AD6-AA524E59BA51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0C99E46-7694-338C-D4A8-34BB6D1FF5A9}"/>
              </a:ext>
            </a:extLst>
          </p:cNvPr>
          <p:cNvSpPr txBox="1"/>
          <p:nvPr/>
        </p:nvSpPr>
        <p:spPr>
          <a:xfrm>
            <a:off x="960000" y="1172711"/>
            <a:ext cx="10792288" cy="4899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toString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sz="2267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toString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method returns a number as a string.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 number methods can be used on any type of numbers (literals, variables, or expressions)</a:t>
            </a:r>
            <a:r>
              <a:rPr lang="en-GB" sz="2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pPr lvl="0"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let x = 123;</a:t>
            </a:r>
            <a:br>
              <a:rPr lang="en-US" sz="2267" dirty="0">
                <a:latin typeface="Consolas" panose="020B0609020204030204" pitchFamily="49" charset="0"/>
              </a:rPr>
            </a:br>
            <a:r>
              <a:rPr lang="en-US" sz="2267" dirty="0" err="1">
                <a:latin typeface="Consolas" panose="020B0609020204030204" pitchFamily="49" charset="0"/>
              </a:rPr>
              <a:t>x.toString</a:t>
            </a:r>
            <a:r>
              <a:rPr lang="en-US" sz="2267" dirty="0">
                <a:latin typeface="Consolas" panose="020B0609020204030204" pitchFamily="49" charset="0"/>
              </a:rPr>
              <a:t>();</a:t>
            </a:r>
            <a:br>
              <a:rPr lang="en-US" sz="2267" dirty="0">
                <a:latin typeface="Consolas" panose="020B0609020204030204" pitchFamily="49" charset="0"/>
              </a:rPr>
            </a:br>
            <a:r>
              <a:rPr lang="en-US" sz="2267" dirty="0">
                <a:latin typeface="Consolas" panose="020B0609020204030204" pitchFamily="49" charset="0"/>
              </a:rPr>
              <a:t>(123).</a:t>
            </a:r>
            <a:r>
              <a:rPr lang="en-US" sz="2267" dirty="0" err="1">
                <a:latin typeface="Consolas" panose="020B0609020204030204" pitchFamily="49" charset="0"/>
              </a:rPr>
              <a:t>toString</a:t>
            </a:r>
            <a:r>
              <a:rPr lang="en-US" sz="2267" dirty="0">
                <a:latin typeface="Consolas" panose="020B0609020204030204" pitchFamily="49" charset="0"/>
              </a:rPr>
              <a:t>();</a:t>
            </a:r>
            <a:br>
              <a:rPr lang="en-US" sz="2267" dirty="0">
                <a:latin typeface="Consolas" panose="020B0609020204030204" pitchFamily="49" charset="0"/>
              </a:rPr>
            </a:br>
            <a:r>
              <a:rPr lang="en-US" sz="2267" dirty="0">
                <a:latin typeface="Consolas" panose="020B0609020204030204" pitchFamily="49" charset="0"/>
              </a:rPr>
              <a:t>(100 + 23).</a:t>
            </a:r>
            <a:r>
              <a:rPr lang="en-US" sz="2267" dirty="0" err="1">
                <a:latin typeface="Consolas" panose="020B0609020204030204" pitchFamily="49" charset="0"/>
              </a:rPr>
              <a:t>toString</a:t>
            </a:r>
            <a:r>
              <a:rPr lang="en-US" sz="2267" dirty="0">
                <a:latin typeface="Consolas" panose="020B0609020204030204" pitchFamily="49" charset="0"/>
              </a:rPr>
              <a:t>();</a:t>
            </a:r>
            <a:endParaRPr lang="en-GB" sz="2267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3114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7D5A2E2A-C418-0A1E-2515-E13FCB814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80981342-F1F1-7F7A-EFA1-33C6E38973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409111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Number Methods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A0CE6B77-F2FE-DF04-530D-574416FC006A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C1F6E8D-A36A-29EA-AB3B-23265C62C23C}"/>
              </a:ext>
            </a:extLst>
          </p:cNvPr>
          <p:cNvSpPr txBox="1"/>
          <p:nvPr/>
        </p:nvSpPr>
        <p:spPr>
          <a:xfrm>
            <a:off x="960000" y="1172711"/>
            <a:ext cx="10792288" cy="5418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toFixed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sz="2267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toFixed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returns a string, with the number written with a specified number of decimals.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pPr lvl="0"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let x = 9.656;</a:t>
            </a:r>
            <a:br>
              <a:rPr lang="en-US" sz="2267" dirty="0">
                <a:latin typeface="Consolas" panose="020B0609020204030204" pitchFamily="49" charset="0"/>
              </a:rPr>
            </a:br>
            <a:r>
              <a:rPr lang="en-US" sz="2267" dirty="0" err="1">
                <a:latin typeface="Consolas" panose="020B0609020204030204" pitchFamily="49" charset="0"/>
              </a:rPr>
              <a:t>x.toFixed</a:t>
            </a:r>
            <a:r>
              <a:rPr lang="en-US" sz="2267" dirty="0">
                <a:latin typeface="Consolas" panose="020B0609020204030204" pitchFamily="49" charset="0"/>
              </a:rPr>
              <a:t>(0); // 10</a:t>
            </a:r>
            <a:br>
              <a:rPr lang="en-US" sz="2267" dirty="0">
                <a:latin typeface="Consolas" panose="020B0609020204030204" pitchFamily="49" charset="0"/>
              </a:rPr>
            </a:br>
            <a:r>
              <a:rPr lang="en-US" sz="2267" dirty="0" err="1">
                <a:latin typeface="Consolas" panose="020B0609020204030204" pitchFamily="49" charset="0"/>
              </a:rPr>
              <a:t>x.toFixed</a:t>
            </a:r>
            <a:r>
              <a:rPr lang="en-US" sz="2267" dirty="0">
                <a:latin typeface="Consolas" panose="020B0609020204030204" pitchFamily="49" charset="0"/>
              </a:rPr>
              <a:t>(2); // 9.66</a:t>
            </a:r>
            <a:br>
              <a:rPr lang="en-US" sz="2267" dirty="0">
                <a:latin typeface="Consolas" panose="020B0609020204030204" pitchFamily="49" charset="0"/>
              </a:rPr>
            </a:br>
            <a:r>
              <a:rPr lang="en-US" sz="2267" dirty="0" err="1">
                <a:latin typeface="Consolas" panose="020B0609020204030204" pitchFamily="49" charset="0"/>
              </a:rPr>
              <a:t>x.toFixed</a:t>
            </a:r>
            <a:r>
              <a:rPr lang="en-US" sz="2267" dirty="0">
                <a:latin typeface="Consolas" panose="020B0609020204030204" pitchFamily="49" charset="0"/>
              </a:rPr>
              <a:t>(4); // 9.6560</a:t>
            </a:r>
            <a:br>
              <a:rPr lang="en-US" sz="2267" dirty="0">
                <a:latin typeface="Consolas" panose="020B0609020204030204" pitchFamily="49" charset="0"/>
              </a:rPr>
            </a:br>
            <a:r>
              <a:rPr lang="en-US" sz="2267" dirty="0" err="1">
                <a:latin typeface="Consolas" panose="020B0609020204030204" pitchFamily="49" charset="0"/>
              </a:rPr>
              <a:t>x.toFixed</a:t>
            </a:r>
            <a:r>
              <a:rPr lang="en-US" sz="2267" dirty="0">
                <a:latin typeface="Consolas" panose="020B0609020204030204" pitchFamily="49" charset="0"/>
              </a:rPr>
              <a:t>(6); // 9.656000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Note: </a:t>
            </a:r>
            <a:r>
              <a:rPr lang="en-GB" sz="2267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toFixed</a:t>
            </a: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(2)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perfect for working with money.</a:t>
            </a:r>
            <a:endParaRPr lang="en-GB" sz="2267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7908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89334018-AA59-FA80-45DA-152ADB9C4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2ABF4219-4DD4-FC07-49F5-6324F68F4D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245824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Number Methods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815E30DB-8446-CAF3-214F-040A2178432F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8C35EB8-F34E-1749-0927-D9E63F2A3FC7}"/>
              </a:ext>
            </a:extLst>
          </p:cNvPr>
          <p:cNvSpPr txBox="1"/>
          <p:nvPr/>
        </p:nvSpPr>
        <p:spPr>
          <a:xfrm>
            <a:off x="960000" y="802598"/>
            <a:ext cx="10792288" cy="5914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parseInt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sz="2267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parseInt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parses a string and returns a whole number. Spaces are allowed. Only the first number is returned: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</a:t>
            </a:r>
          </a:p>
          <a:p>
            <a:pPr lvl="0">
              <a:lnSpc>
                <a:spcPct val="150000"/>
              </a:lnSpc>
            </a:pPr>
            <a:r>
              <a:rPr lang="fr-FR" sz="2267" dirty="0" err="1">
                <a:latin typeface="Consolas" panose="020B0609020204030204" pitchFamily="49" charset="0"/>
              </a:rPr>
              <a:t>parseInt</a:t>
            </a:r>
            <a:r>
              <a:rPr lang="fr-FR" sz="2267" dirty="0">
                <a:latin typeface="Consolas" panose="020B0609020204030204" pitchFamily="49" charset="0"/>
              </a:rPr>
              <a:t>("-10");        // -10</a:t>
            </a:r>
          </a:p>
          <a:p>
            <a:pPr lvl="0">
              <a:lnSpc>
                <a:spcPct val="150000"/>
              </a:lnSpc>
            </a:pPr>
            <a:r>
              <a:rPr lang="fr-FR" sz="2267" dirty="0" err="1">
                <a:latin typeface="Consolas" panose="020B0609020204030204" pitchFamily="49" charset="0"/>
              </a:rPr>
              <a:t>parseInt</a:t>
            </a:r>
            <a:r>
              <a:rPr lang="fr-FR" sz="2267" dirty="0">
                <a:latin typeface="Consolas" panose="020B0609020204030204" pitchFamily="49" charset="0"/>
              </a:rPr>
              <a:t>("-10.33");     // -10</a:t>
            </a:r>
          </a:p>
          <a:p>
            <a:pPr lvl="0">
              <a:lnSpc>
                <a:spcPct val="150000"/>
              </a:lnSpc>
            </a:pPr>
            <a:r>
              <a:rPr lang="fr-FR" sz="2267" dirty="0" err="1">
                <a:latin typeface="Consolas" panose="020B0609020204030204" pitchFamily="49" charset="0"/>
              </a:rPr>
              <a:t>parseInt</a:t>
            </a:r>
            <a:r>
              <a:rPr lang="fr-FR" sz="2267" dirty="0">
                <a:latin typeface="Consolas" panose="020B0609020204030204" pitchFamily="49" charset="0"/>
              </a:rPr>
              <a:t>("10");         // 10</a:t>
            </a:r>
          </a:p>
          <a:p>
            <a:pPr lvl="0">
              <a:lnSpc>
                <a:spcPct val="150000"/>
              </a:lnSpc>
            </a:pPr>
            <a:r>
              <a:rPr lang="fr-FR" sz="2267" dirty="0" err="1">
                <a:latin typeface="Consolas" panose="020B0609020204030204" pitchFamily="49" charset="0"/>
              </a:rPr>
              <a:t>parseInt</a:t>
            </a:r>
            <a:r>
              <a:rPr lang="fr-FR" sz="2267" dirty="0">
                <a:latin typeface="Consolas" panose="020B0609020204030204" pitchFamily="49" charset="0"/>
              </a:rPr>
              <a:t>("10.33");	 // 10 </a:t>
            </a:r>
          </a:p>
          <a:p>
            <a:pPr lvl="0">
              <a:lnSpc>
                <a:spcPct val="150000"/>
              </a:lnSpc>
            </a:pPr>
            <a:r>
              <a:rPr lang="fr-FR" sz="2267" dirty="0" err="1">
                <a:latin typeface="Consolas" panose="020B0609020204030204" pitchFamily="49" charset="0"/>
              </a:rPr>
              <a:t>parseInt</a:t>
            </a:r>
            <a:r>
              <a:rPr lang="fr-FR" sz="2267" dirty="0">
                <a:latin typeface="Consolas" panose="020B0609020204030204" pitchFamily="49" charset="0"/>
              </a:rPr>
              <a:t>("10 20 30");  //  10</a:t>
            </a:r>
          </a:p>
          <a:p>
            <a:pPr lvl="0">
              <a:lnSpc>
                <a:spcPct val="150000"/>
              </a:lnSpc>
            </a:pPr>
            <a:r>
              <a:rPr lang="fr-FR" sz="2267" dirty="0" err="1">
                <a:latin typeface="Consolas" panose="020B0609020204030204" pitchFamily="49" charset="0"/>
              </a:rPr>
              <a:t>parseInt</a:t>
            </a:r>
            <a:r>
              <a:rPr lang="fr-FR" sz="2267" dirty="0">
                <a:latin typeface="Consolas" panose="020B0609020204030204" pitchFamily="49" charset="0"/>
              </a:rPr>
              <a:t>("10 </a:t>
            </a:r>
            <a:r>
              <a:rPr lang="fr-FR" sz="2267" dirty="0" err="1">
                <a:latin typeface="Consolas" panose="020B0609020204030204" pitchFamily="49" charset="0"/>
              </a:rPr>
              <a:t>years</a:t>
            </a:r>
            <a:r>
              <a:rPr lang="fr-FR" sz="2267" dirty="0">
                <a:latin typeface="Consolas" panose="020B0609020204030204" pitchFamily="49" charset="0"/>
              </a:rPr>
              <a:t>");  //  10</a:t>
            </a:r>
          </a:p>
          <a:p>
            <a:pPr lvl="0">
              <a:lnSpc>
                <a:spcPct val="150000"/>
              </a:lnSpc>
            </a:pPr>
            <a:r>
              <a:rPr lang="fr-FR" sz="2267" dirty="0" err="1">
                <a:latin typeface="Consolas" panose="020B0609020204030204" pitchFamily="49" charset="0"/>
              </a:rPr>
              <a:t>parseInt</a:t>
            </a:r>
            <a:r>
              <a:rPr lang="fr-FR" sz="2267" dirty="0">
                <a:latin typeface="Consolas" panose="020B0609020204030204" pitchFamily="49" charset="0"/>
              </a:rPr>
              <a:t>("</a:t>
            </a:r>
            <a:r>
              <a:rPr lang="fr-FR" sz="2267" dirty="0" err="1">
                <a:latin typeface="Consolas" panose="020B0609020204030204" pitchFamily="49" charset="0"/>
              </a:rPr>
              <a:t>years</a:t>
            </a:r>
            <a:r>
              <a:rPr lang="fr-FR" sz="2267" dirty="0">
                <a:latin typeface="Consolas" panose="020B0609020204030204" pitchFamily="49" charset="0"/>
              </a:rPr>
              <a:t> 10");  //  NaN</a:t>
            </a:r>
            <a:endParaRPr lang="en-GB" sz="2267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8422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E2D5D7C8-BBC0-7C0D-B316-5CA340F4B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74234B57-CF84-4AA1-5D57-A1881C8C39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245824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Number Methods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6F8E0554-9F73-C7C2-E1EB-413EFF524CDE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CA788D9-505F-45A1-D0DA-649E414567D4}"/>
              </a:ext>
            </a:extLst>
          </p:cNvPr>
          <p:cNvSpPr txBox="1"/>
          <p:nvPr/>
        </p:nvSpPr>
        <p:spPr>
          <a:xfrm>
            <a:off x="960000" y="802598"/>
            <a:ext cx="10792288" cy="4867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parseFloat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sz="2267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parseInt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parses a string and returns a number. Spaces are allowed. Only the first number is returned: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</a:t>
            </a:r>
          </a:p>
          <a:p>
            <a:pPr lvl="0">
              <a:lnSpc>
                <a:spcPct val="150000"/>
              </a:lnSpc>
            </a:pPr>
            <a:r>
              <a:rPr lang="fr-FR" sz="2267" dirty="0" err="1">
                <a:latin typeface="Consolas" panose="020B0609020204030204" pitchFamily="49" charset="0"/>
              </a:rPr>
              <a:t>parseFloat</a:t>
            </a:r>
            <a:r>
              <a:rPr lang="fr-FR" sz="2267" dirty="0">
                <a:latin typeface="Consolas" panose="020B0609020204030204" pitchFamily="49" charset="0"/>
              </a:rPr>
              <a:t>("10");       // 10</a:t>
            </a:r>
          </a:p>
          <a:p>
            <a:pPr lvl="0">
              <a:lnSpc>
                <a:spcPct val="150000"/>
              </a:lnSpc>
            </a:pPr>
            <a:r>
              <a:rPr lang="fr-FR" sz="2267" dirty="0" err="1">
                <a:latin typeface="Consolas" panose="020B0609020204030204" pitchFamily="49" charset="0"/>
              </a:rPr>
              <a:t>parseFloat</a:t>
            </a:r>
            <a:r>
              <a:rPr lang="fr-FR" sz="2267" dirty="0">
                <a:latin typeface="Consolas" panose="020B0609020204030204" pitchFamily="49" charset="0"/>
              </a:rPr>
              <a:t>("10.33");    // 10.33</a:t>
            </a:r>
          </a:p>
          <a:p>
            <a:pPr lvl="0">
              <a:lnSpc>
                <a:spcPct val="150000"/>
              </a:lnSpc>
            </a:pPr>
            <a:r>
              <a:rPr lang="fr-FR" sz="2267" dirty="0" err="1">
                <a:latin typeface="Consolas" panose="020B0609020204030204" pitchFamily="49" charset="0"/>
              </a:rPr>
              <a:t>parseFloat</a:t>
            </a:r>
            <a:r>
              <a:rPr lang="fr-FR" sz="2267" dirty="0">
                <a:latin typeface="Consolas" panose="020B0609020204030204" pitchFamily="49" charset="0"/>
              </a:rPr>
              <a:t>("10 20 30"); // 10</a:t>
            </a:r>
          </a:p>
          <a:p>
            <a:pPr lvl="0">
              <a:lnSpc>
                <a:spcPct val="150000"/>
              </a:lnSpc>
            </a:pPr>
            <a:r>
              <a:rPr lang="fr-FR" sz="2267" dirty="0" err="1">
                <a:latin typeface="Consolas" panose="020B0609020204030204" pitchFamily="49" charset="0"/>
              </a:rPr>
              <a:t>parseFloat</a:t>
            </a:r>
            <a:r>
              <a:rPr lang="fr-FR" sz="2267" dirty="0">
                <a:latin typeface="Consolas" panose="020B0609020204030204" pitchFamily="49" charset="0"/>
              </a:rPr>
              <a:t>("10 </a:t>
            </a:r>
            <a:r>
              <a:rPr lang="fr-FR" sz="2267" dirty="0" err="1">
                <a:latin typeface="Consolas" panose="020B0609020204030204" pitchFamily="49" charset="0"/>
              </a:rPr>
              <a:t>years</a:t>
            </a:r>
            <a:r>
              <a:rPr lang="fr-FR" sz="2267" dirty="0">
                <a:latin typeface="Consolas" panose="020B0609020204030204" pitchFamily="49" charset="0"/>
              </a:rPr>
              <a:t>"); // 10</a:t>
            </a:r>
          </a:p>
          <a:p>
            <a:pPr lvl="0">
              <a:lnSpc>
                <a:spcPct val="150000"/>
              </a:lnSpc>
            </a:pPr>
            <a:r>
              <a:rPr lang="fr-FR" sz="2267" dirty="0" err="1">
                <a:latin typeface="Consolas" panose="020B0609020204030204" pitchFamily="49" charset="0"/>
              </a:rPr>
              <a:t>parseFloat</a:t>
            </a:r>
            <a:r>
              <a:rPr lang="fr-FR" sz="2267" dirty="0">
                <a:latin typeface="Consolas" panose="020B0609020204030204" pitchFamily="49" charset="0"/>
              </a:rPr>
              <a:t>("</a:t>
            </a:r>
            <a:r>
              <a:rPr lang="fr-FR" sz="2267" dirty="0" err="1">
                <a:latin typeface="Consolas" panose="020B0609020204030204" pitchFamily="49" charset="0"/>
              </a:rPr>
              <a:t>years</a:t>
            </a:r>
            <a:r>
              <a:rPr lang="fr-FR" sz="2267" dirty="0">
                <a:latin typeface="Consolas" panose="020B0609020204030204" pitchFamily="49" charset="0"/>
              </a:rPr>
              <a:t> 10"); //  NaN</a:t>
            </a:r>
            <a:endParaRPr lang="en-GB" sz="2267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452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3DB4D727-D6B8-3180-EADB-7249E1092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489BD881-B964-B834-867D-537C547B94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245824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Number Methods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0701B75E-8B79-76E8-A40E-F3780920F170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4E04512-5B90-9C18-EFB2-02A23FF536C7}"/>
              </a:ext>
            </a:extLst>
          </p:cNvPr>
          <p:cNvSpPr txBox="1"/>
          <p:nvPr/>
        </p:nvSpPr>
        <p:spPr>
          <a:xfrm>
            <a:off x="960000" y="749042"/>
            <a:ext cx="10792288" cy="650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Number.isInteger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sz="2267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Number.isInteger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method returns true if the arguments is an integer.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</a:t>
            </a:r>
          </a:p>
          <a:p>
            <a:pPr lvl="0">
              <a:lnSpc>
                <a:spcPct val="150000"/>
              </a:lnSpc>
            </a:pPr>
            <a:r>
              <a:rPr lang="en-US" sz="2267" dirty="0" err="1">
                <a:latin typeface="Consolas" panose="020B0609020204030204" pitchFamily="49" charset="0"/>
              </a:rPr>
              <a:t>Number.isInteger</a:t>
            </a:r>
            <a:r>
              <a:rPr lang="en-US" sz="2267" dirty="0">
                <a:latin typeface="Consolas" panose="020B0609020204030204" pitchFamily="49" charset="0"/>
              </a:rPr>
              <a:t>(10);   // true</a:t>
            </a:r>
            <a:br>
              <a:rPr lang="en-US" sz="2267" dirty="0">
                <a:latin typeface="Consolas" panose="020B0609020204030204" pitchFamily="49" charset="0"/>
              </a:rPr>
            </a:br>
            <a:r>
              <a:rPr lang="en-US" sz="2267" dirty="0" err="1">
                <a:latin typeface="Consolas" panose="020B0609020204030204" pitchFamily="49" charset="0"/>
              </a:rPr>
              <a:t>Number.isInteger</a:t>
            </a:r>
            <a:r>
              <a:rPr lang="en-US" sz="2267" dirty="0">
                <a:latin typeface="Consolas" panose="020B0609020204030204" pitchFamily="49" charset="0"/>
              </a:rPr>
              <a:t>(10.5); // false</a:t>
            </a:r>
          </a:p>
          <a:p>
            <a:pPr lvl="0">
              <a:lnSpc>
                <a:spcPct val="150000"/>
              </a:lnSpc>
            </a:pPr>
            <a:endParaRPr lang="en-US" sz="2267" dirty="0">
              <a:latin typeface="Consolas" panose="020B0609020204030204" pitchFamily="49" charset="0"/>
            </a:endParaRPr>
          </a:p>
          <a:p>
            <a:pPr lvl="0">
              <a:lnSpc>
                <a:spcPct val="150000"/>
              </a:lnSpc>
            </a:pP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Number.isNaN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sz="2267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Number.NaN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method returns true if the arguments is </a:t>
            </a:r>
            <a:r>
              <a:rPr lang="en-GB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NaN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</a:t>
            </a:r>
          </a:p>
          <a:p>
            <a:pPr lvl="0">
              <a:lnSpc>
                <a:spcPct val="150000"/>
              </a:lnSpc>
            </a:pPr>
            <a:r>
              <a:rPr lang="en-US" sz="2267" dirty="0" err="1">
                <a:latin typeface="Consolas" panose="020B0609020204030204" pitchFamily="49" charset="0"/>
              </a:rPr>
              <a:t>Number.isInteger</a:t>
            </a:r>
            <a:r>
              <a:rPr lang="en-US" sz="2267" dirty="0">
                <a:latin typeface="Consolas" panose="020B0609020204030204" pitchFamily="49" charset="0"/>
              </a:rPr>
              <a:t>(123);   // false</a:t>
            </a:r>
            <a:br>
              <a:rPr lang="en-US" sz="2267" dirty="0">
                <a:latin typeface="Consolas" panose="020B0609020204030204" pitchFamily="49" charset="0"/>
              </a:rPr>
            </a:br>
            <a:r>
              <a:rPr lang="en-US" sz="2267" dirty="0" err="1">
                <a:latin typeface="Consolas" panose="020B0609020204030204" pitchFamily="49" charset="0"/>
              </a:rPr>
              <a:t>Number.isInteger</a:t>
            </a:r>
            <a:r>
              <a:rPr lang="en-US" sz="2267" dirty="0">
                <a:latin typeface="Consolas" panose="020B0609020204030204" pitchFamily="49" charset="0"/>
              </a:rPr>
              <a:t>(“Ali”); // true</a:t>
            </a:r>
            <a:endParaRPr lang="en-GB" sz="2267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endParaRPr lang="en-GB" sz="2267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300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05D3BD05-6037-1899-3FF3-BD1845EBD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F5052DB4-17D4-04A4-93D6-413CC26A7E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409111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Math Object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9C3F5A32-5E30-BEC1-1E8B-1FAE26000B2D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99A95EB-E907-C59F-A086-FE4D5CCC2897}"/>
              </a:ext>
            </a:extLst>
          </p:cNvPr>
          <p:cNvSpPr txBox="1"/>
          <p:nvPr/>
        </p:nvSpPr>
        <p:spPr>
          <a:xfrm>
            <a:off x="960000" y="1172711"/>
            <a:ext cx="10792288" cy="493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Math in JavaScript is a built-in object.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gives us math tools (methods and properties).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 write: </a:t>
            </a:r>
            <a:r>
              <a:rPr lang="en-GB" sz="2267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Math.method</a:t>
            </a: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(number)</a:t>
            </a:r>
          </a:p>
          <a:p>
            <a:pPr lvl="0">
              <a:lnSpc>
                <a:spcPct val="150000"/>
              </a:lnSpc>
            </a:pP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Math.round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sz="2267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Math.round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returns the nearest integer.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pPr lvl="0">
              <a:lnSpc>
                <a:spcPct val="150000"/>
              </a:lnSpc>
            </a:pPr>
            <a:r>
              <a:rPr lang="en-US" sz="2267" dirty="0" err="1">
                <a:latin typeface="Consolas" panose="020B0609020204030204" pitchFamily="49" charset="0"/>
              </a:rPr>
              <a:t>Math.round</a:t>
            </a:r>
            <a:r>
              <a:rPr lang="en-US" sz="2267" dirty="0">
                <a:latin typeface="Consolas" panose="020B0609020204030204" pitchFamily="49" charset="0"/>
              </a:rPr>
              <a:t>(4.6);  // 5</a:t>
            </a:r>
          </a:p>
          <a:p>
            <a:pPr>
              <a:lnSpc>
                <a:spcPct val="150000"/>
              </a:lnSpc>
            </a:pPr>
            <a:r>
              <a:rPr lang="en-US" sz="2267" dirty="0" err="1">
                <a:latin typeface="Consolas" panose="020B0609020204030204" pitchFamily="49" charset="0"/>
              </a:rPr>
              <a:t>Math.round</a:t>
            </a:r>
            <a:r>
              <a:rPr lang="en-US" sz="2267" dirty="0">
                <a:latin typeface="Consolas" panose="020B0609020204030204" pitchFamily="49" charset="0"/>
              </a:rPr>
              <a:t>(4.5);  // 5</a:t>
            </a:r>
            <a:endParaRPr lang="en-GB" sz="2267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267" dirty="0" err="1">
                <a:latin typeface="Consolas" panose="020B0609020204030204" pitchFamily="49" charset="0"/>
              </a:rPr>
              <a:t>Math.round</a:t>
            </a:r>
            <a:r>
              <a:rPr lang="en-US" sz="2267" dirty="0">
                <a:latin typeface="Consolas" panose="020B0609020204030204" pitchFamily="49" charset="0"/>
              </a:rPr>
              <a:t>(4.4);  // 4</a:t>
            </a:r>
            <a:endParaRPr lang="en-GB" sz="2267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65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47AA2208-2767-C3DC-D271-64E42F619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3A92A988-B608-DFAE-5063-4567D9DEFB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409111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Math Object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A5D3AE9D-3B1E-4743-1CC8-4464309A4367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9D838CC-FE2A-DD29-8C92-D6DE72104D66}"/>
              </a:ext>
            </a:extLst>
          </p:cNvPr>
          <p:cNvSpPr txBox="1"/>
          <p:nvPr/>
        </p:nvSpPr>
        <p:spPr>
          <a:xfrm>
            <a:off x="960000" y="1172711"/>
            <a:ext cx="10792288" cy="379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Math.ceil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sz="2267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Math.ceil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returns the value of x rounded up to its nearest integer.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pPr lvl="0">
              <a:lnSpc>
                <a:spcPct val="150000"/>
              </a:lnSpc>
            </a:pPr>
            <a:r>
              <a:rPr lang="en-US" sz="2267" dirty="0" err="1">
                <a:latin typeface="Consolas" panose="020B0609020204030204" pitchFamily="49" charset="0"/>
              </a:rPr>
              <a:t>Math.ceil</a:t>
            </a:r>
            <a:r>
              <a:rPr lang="en-US" sz="2267" dirty="0">
                <a:latin typeface="Consolas" panose="020B0609020204030204" pitchFamily="49" charset="0"/>
              </a:rPr>
              <a:t>(4.9);  // 5</a:t>
            </a:r>
          </a:p>
          <a:p>
            <a:pPr>
              <a:lnSpc>
                <a:spcPct val="150000"/>
              </a:lnSpc>
            </a:pPr>
            <a:r>
              <a:rPr lang="en-US" sz="2267" dirty="0" err="1">
                <a:latin typeface="Consolas" panose="020B0609020204030204" pitchFamily="49" charset="0"/>
              </a:rPr>
              <a:t>Math.ceil</a:t>
            </a:r>
            <a:r>
              <a:rPr lang="en-US" sz="2267" dirty="0">
                <a:latin typeface="Consolas" panose="020B0609020204030204" pitchFamily="49" charset="0"/>
              </a:rPr>
              <a:t>(4.7);  // 5</a:t>
            </a:r>
          </a:p>
          <a:p>
            <a:pPr>
              <a:lnSpc>
                <a:spcPct val="150000"/>
              </a:lnSpc>
            </a:pPr>
            <a:r>
              <a:rPr lang="en-US" sz="2267" dirty="0" err="1">
                <a:latin typeface="Consolas" panose="020B0609020204030204" pitchFamily="49" charset="0"/>
              </a:rPr>
              <a:t>Math.ceil</a:t>
            </a:r>
            <a:r>
              <a:rPr lang="en-US" sz="2267" dirty="0">
                <a:latin typeface="Consolas" panose="020B0609020204030204" pitchFamily="49" charset="0"/>
              </a:rPr>
              <a:t>(4.2);  // 5</a:t>
            </a:r>
          </a:p>
          <a:p>
            <a:pPr>
              <a:lnSpc>
                <a:spcPct val="150000"/>
              </a:lnSpc>
            </a:pPr>
            <a:r>
              <a:rPr lang="en-US" sz="2267" dirty="0" err="1">
                <a:latin typeface="Consolas" panose="020B0609020204030204" pitchFamily="49" charset="0"/>
              </a:rPr>
              <a:t>Math.ceil</a:t>
            </a:r>
            <a:r>
              <a:rPr lang="en-US" sz="2267" dirty="0">
                <a:latin typeface="Consolas" panose="020B0609020204030204" pitchFamily="49" charset="0"/>
              </a:rPr>
              <a:t>(-4.2);  // -4</a:t>
            </a:r>
          </a:p>
        </p:txBody>
      </p:sp>
    </p:spTree>
    <p:extLst>
      <p:ext uri="{BB962C8B-B14F-4D97-AF65-F5344CB8AC3E}">
        <p14:creationId xmlns:p14="http://schemas.microsoft.com/office/powerpoint/2010/main" val="1037664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B4661486-2683-8716-BCE3-CA130D5BE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F88724CC-5AF0-7F67-3799-08E2FA4090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409111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Math Object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78FE13A2-C30F-84FE-892C-60B8601AFEA3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242B0C1-9E60-6D5E-4E84-F76A08D5B1CB}"/>
              </a:ext>
            </a:extLst>
          </p:cNvPr>
          <p:cNvSpPr txBox="1"/>
          <p:nvPr/>
        </p:nvSpPr>
        <p:spPr>
          <a:xfrm>
            <a:off x="960000" y="1172711"/>
            <a:ext cx="10792288" cy="379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Math.floor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sz="2267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Math.floor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returns the value of x rounded down to its nearest integer.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pPr lvl="0">
              <a:lnSpc>
                <a:spcPct val="150000"/>
              </a:lnSpc>
            </a:pPr>
            <a:r>
              <a:rPr lang="en-US" sz="2267" dirty="0" err="1">
                <a:latin typeface="Consolas" panose="020B0609020204030204" pitchFamily="49" charset="0"/>
              </a:rPr>
              <a:t>Math.floor</a:t>
            </a:r>
            <a:r>
              <a:rPr lang="en-US" sz="2267" dirty="0">
                <a:latin typeface="Consolas" panose="020B0609020204030204" pitchFamily="49" charset="0"/>
              </a:rPr>
              <a:t>(4.9);  // 4</a:t>
            </a:r>
          </a:p>
          <a:p>
            <a:pPr>
              <a:lnSpc>
                <a:spcPct val="150000"/>
              </a:lnSpc>
            </a:pPr>
            <a:r>
              <a:rPr lang="en-US" sz="2267" dirty="0" err="1">
                <a:latin typeface="Consolas" panose="020B0609020204030204" pitchFamily="49" charset="0"/>
              </a:rPr>
              <a:t>Math.floor</a:t>
            </a:r>
            <a:r>
              <a:rPr lang="en-US" sz="2267" dirty="0">
                <a:latin typeface="Consolas" panose="020B0609020204030204" pitchFamily="49" charset="0"/>
              </a:rPr>
              <a:t>(4.7);  // 4</a:t>
            </a:r>
          </a:p>
          <a:p>
            <a:pPr>
              <a:lnSpc>
                <a:spcPct val="150000"/>
              </a:lnSpc>
            </a:pPr>
            <a:r>
              <a:rPr lang="en-US" sz="2267" dirty="0" err="1">
                <a:latin typeface="Consolas" panose="020B0609020204030204" pitchFamily="49" charset="0"/>
              </a:rPr>
              <a:t>Math.floor</a:t>
            </a:r>
            <a:r>
              <a:rPr lang="en-US" sz="2267" dirty="0">
                <a:latin typeface="Consolas" panose="020B0609020204030204" pitchFamily="49" charset="0"/>
              </a:rPr>
              <a:t>(4.2);  // 4</a:t>
            </a:r>
          </a:p>
          <a:p>
            <a:pPr>
              <a:lnSpc>
                <a:spcPct val="150000"/>
              </a:lnSpc>
            </a:pPr>
            <a:r>
              <a:rPr lang="en-US" sz="2267" dirty="0" err="1">
                <a:latin typeface="Consolas" panose="020B0609020204030204" pitchFamily="49" charset="0"/>
              </a:rPr>
              <a:t>Math.floor</a:t>
            </a:r>
            <a:r>
              <a:rPr lang="en-US" sz="2267" dirty="0">
                <a:latin typeface="Consolas" panose="020B0609020204030204" pitchFamily="49" charset="0"/>
              </a:rPr>
              <a:t>(-4.2);  // -5</a:t>
            </a:r>
          </a:p>
        </p:txBody>
      </p:sp>
    </p:spTree>
    <p:extLst>
      <p:ext uri="{BB962C8B-B14F-4D97-AF65-F5344CB8AC3E}">
        <p14:creationId xmlns:p14="http://schemas.microsoft.com/office/powerpoint/2010/main" val="2133686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11CB3DF1-4868-14CF-7AF9-050BCCE77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AAFF55F1-E257-1AA2-1363-F811AF8F99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409111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Math Object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9A6070A0-AFE5-0D67-F0D9-BB33C61D0EED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D964311-A7CE-D3F7-4DE7-28536AF64E39}"/>
              </a:ext>
            </a:extLst>
          </p:cNvPr>
          <p:cNvSpPr txBox="1"/>
          <p:nvPr/>
        </p:nvSpPr>
        <p:spPr>
          <a:xfrm>
            <a:off x="960000" y="1172711"/>
            <a:ext cx="10792288" cy="3298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Math.min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 and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Math.max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lvl="0">
              <a:lnSpc>
                <a:spcPct val="150000"/>
              </a:lnSpc>
            </a:pPr>
            <a:r>
              <a:rPr lang="en-GB" sz="2267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Math.min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Math.max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can be used to find the lowest or highest value in a list of arguments.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pPr lvl="0">
              <a:lnSpc>
                <a:spcPct val="150000"/>
              </a:lnSpc>
            </a:pPr>
            <a:r>
              <a:rPr lang="fi-FI" sz="2267" dirty="0">
                <a:latin typeface="Consolas" panose="020B0609020204030204" pitchFamily="49" charset="0"/>
              </a:rPr>
              <a:t>Math.min(0, 150, 30, 20, -8, -200); // -200 </a:t>
            </a:r>
          </a:p>
          <a:p>
            <a:pPr lvl="0">
              <a:lnSpc>
                <a:spcPct val="150000"/>
              </a:lnSpc>
            </a:pPr>
            <a:r>
              <a:rPr lang="en-US" sz="2267" dirty="0" err="1">
                <a:latin typeface="Consolas" panose="020B0609020204030204" pitchFamily="49" charset="0"/>
              </a:rPr>
              <a:t>Math.max</a:t>
            </a:r>
            <a:r>
              <a:rPr lang="en-US" sz="2267" dirty="0">
                <a:latin typeface="Consolas" panose="020B0609020204030204" pitchFamily="49" charset="0"/>
              </a:rPr>
              <a:t>(0, 150, 30, 20, -8, -200); // 150</a:t>
            </a:r>
          </a:p>
        </p:txBody>
      </p:sp>
    </p:spTree>
    <p:extLst>
      <p:ext uri="{BB962C8B-B14F-4D97-AF65-F5344CB8AC3E}">
        <p14:creationId xmlns:p14="http://schemas.microsoft.com/office/powerpoint/2010/main" val="26525591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7B16999B-B385-5C65-3791-FEA3CAA6A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CC4DFCD3-6F76-79BD-54CD-1BECAE65DA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409111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Math Object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F437577F-38C0-736D-14D7-F496E13501DA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D4C291B-A9F6-267F-139B-0601D0E73F73}"/>
              </a:ext>
            </a:extLst>
          </p:cNvPr>
          <p:cNvSpPr txBox="1"/>
          <p:nvPr/>
        </p:nvSpPr>
        <p:spPr>
          <a:xfrm>
            <a:off x="960000" y="1172711"/>
            <a:ext cx="10792288" cy="493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Math.pow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sz="2267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Math.pow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(x, y)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returns the value of x to the power of y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pPr lvl="0">
              <a:lnSpc>
                <a:spcPct val="150000"/>
              </a:lnSpc>
            </a:pPr>
            <a:r>
              <a:rPr lang="en-US" sz="2267" dirty="0" err="1">
                <a:latin typeface="Consolas" panose="020B0609020204030204" pitchFamily="49" charset="0"/>
              </a:rPr>
              <a:t>Math.floor</a:t>
            </a:r>
            <a:r>
              <a:rPr lang="en-US" sz="2267" dirty="0">
                <a:latin typeface="Consolas" panose="020B0609020204030204" pitchFamily="49" charset="0"/>
              </a:rPr>
              <a:t>(8, 2);  // 8 x 8 = 64</a:t>
            </a:r>
          </a:p>
          <a:p>
            <a:pPr lvl="0">
              <a:lnSpc>
                <a:spcPct val="150000"/>
              </a:lnSpc>
            </a:pPr>
            <a:endParaRPr lang="en-US" sz="2267" dirty="0">
              <a:latin typeface="Consolas" panose="020B0609020204030204" pitchFamily="49" charset="0"/>
            </a:endParaRPr>
          </a:p>
          <a:p>
            <a:pPr lvl="0">
              <a:lnSpc>
                <a:spcPct val="150000"/>
              </a:lnSpc>
            </a:pP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Math.random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sz="2267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Math.random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n-GB" sz="2267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returns a random number between 0 and 1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pPr lvl="0">
              <a:lnSpc>
                <a:spcPct val="150000"/>
              </a:lnSpc>
            </a:pPr>
            <a:r>
              <a:rPr lang="en-US" sz="2267" dirty="0" err="1">
                <a:latin typeface="Consolas" panose="020B0609020204030204" pitchFamily="49" charset="0"/>
              </a:rPr>
              <a:t>Math.random</a:t>
            </a:r>
            <a:r>
              <a:rPr lang="en-US" sz="2267" dirty="0">
                <a:latin typeface="Consolas" panose="020B0609020204030204" pitchFamily="49" charset="0"/>
              </a:rPr>
              <a:t>(); </a:t>
            </a:r>
          </a:p>
        </p:txBody>
      </p:sp>
    </p:spTree>
    <p:extLst>
      <p:ext uri="{BB962C8B-B14F-4D97-AF65-F5344CB8AC3E}">
        <p14:creationId xmlns:p14="http://schemas.microsoft.com/office/powerpoint/2010/main" val="2323865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E431E0DA-732F-9CB9-88E9-D33E51482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FA5978B6-6F04-55DB-C9D2-77458A9EB6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409111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Math Object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86E0AA5F-1E4B-E463-1B4A-C96A8295DF6D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38E26CF-528A-2B4D-1C56-AEEF1A4AC7C1}"/>
              </a:ext>
            </a:extLst>
          </p:cNvPr>
          <p:cNvSpPr txBox="1"/>
          <p:nvPr/>
        </p:nvSpPr>
        <p:spPr>
          <a:xfrm>
            <a:off x="960000" y="1172711"/>
            <a:ext cx="10792288" cy="2221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Math.trunc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sz="2267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Math.trunc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(x)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returns the integer part of x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pPr lvl="0">
              <a:lnSpc>
                <a:spcPct val="150000"/>
              </a:lnSpc>
            </a:pPr>
            <a:r>
              <a:rPr lang="en-US" sz="2267" dirty="0" err="1">
                <a:latin typeface="Consolas" panose="020B0609020204030204" pitchFamily="49" charset="0"/>
              </a:rPr>
              <a:t>Math.trunc</a:t>
            </a:r>
            <a:r>
              <a:rPr lang="en-US" sz="2267" dirty="0">
                <a:latin typeface="Consolas" panose="020B0609020204030204" pitchFamily="49" charset="0"/>
              </a:rPr>
              <a:t>(8.99);  // 8</a:t>
            </a:r>
          </a:p>
        </p:txBody>
      </p:sp>
    </p:spTree>
    <p:extLst>
      <p:ext uri="{BB962C8B-B14F-4D97-AF65-F5344CB8AC3E}">
        <p14:creationId xmlns:p14="http://schemas.microsoft.com/office/powerpoint/2010/main" val="473055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846</Words>
  <Application>Microsoft Office PowerPoint</Application>
  <PresentationFormat>Widescreen</PresentationFormat>
  <Paragraphs>111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Cairo</vt:lpstr>
      <vt:lpstr>Cairo Light</vt:lpstr>
      <vt:lpstr>Calibri</vt:lpstr>
      <vt:lpstr>Calibri Light</vt:lpstr>
      <vt:lpstr>Consolas</vt:lpstr>
      <vt:lpstr>DM Sans SemiBold</vt:lpstr>
      <vt:lpstr>Times New Roman</vt:lpstr>
      <vt:lpstr>Office Theme</vt:lpstr>
      <vt:lpstr>PowerPoint Presentation</vt:lpstr>
      <vt:lpstr>What we Cover Today:</vt:lpstr>
      <vt:lpstr>Number</vt:lpstr>
      <vt:lpstr>Number Methods</vt:lpstr>
      <vt:lpstr>Number Methods</vt:lpstr>
      <vt:lpstr>Number Methods</vt:lpstr>
      <vt:lpstr>Number Methods</vt:lpstr>
      <vt:lpstr>Number Methods</vt:lpstr>
      <vt:lpstr>Number Methods</vt:lpstr>
      <vt:lpstr>Math Object</vt:lpstr>
      <vt:lpstr>Math Object</vt:lpstr>
      <vt:lpstr>Math Object</vt:lpstr>
      <vt:lpstr>Math Object</vt:lpstr>
      <vt:lpstr>Math Object</vt:lpstr>
      <vt:lpstr>Math Object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Khalid Sulub</dc:creator>
  <cp:lastModifiedBy>Khalid Sulub</cp:lastModifiedBy>
  <cp:revision>1</cp:revision>
  <dcterms:created xsi:type="dcterms:W3CDTF">2025-12-15T16:18:55Z</dcterms:created>
  <dcterms:modified xsi:type="dcterms:W3CDTF">2025-12-15T16:21:01Z</dcterms:modified>
</cp:coreProperties>
</file>