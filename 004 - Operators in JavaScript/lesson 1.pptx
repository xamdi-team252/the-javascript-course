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849" r:id="rId2"/>
    <p:sldId id="470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9" r:id="rId15"/>
    <p:sldId id="34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EFA89-3701-4FEC-B981-815C4394CF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12A07-EBA2-4BB4-94A6-D803504DD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1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6124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62A4EFF1-5354-9EF7-D246-14CCE7EC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F4EED81C-2B36-F6B7-842D-116BECF0E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AAD788D3-84B9-D95D-46B2-7DCB576612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902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B5FE6EC6-B35D-EF45-5C98-A3971B68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E41E41A5-B6D3-A5AB-1165-4E10D2E3D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DF77C479-1EEC-350F-2DE5-E5D910913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1631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99002A72-0905-B32A-1EED-FF5FE3820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42BCE470-88AD-71C9-D42E-6BD360F71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26ADBD58-6746-6229-258B-261CF82C0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442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F379D714-36BE-18C3-02C8-E8A7F298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84CFCD65-11A3-B6A6-6158-120C98081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581C2AA4-5CE2-7C1F-D5D7-13097BEF1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7985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A0D32AEF-19F5-94EB-2DFA-60261FF44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3227EDF2-53CE-F913-F15A-F22111007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BC578316-F2D8-5518-1D2B-1310B220A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374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1341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958B71E1-955B-1588-346F-85E0BE9B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3CD090D-63D4-08A6-5B22-CE39740D6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0712ECE-479B-C97F-FAC9-39332C976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098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2D069BC-2BBA-B134-B53D-818BDC098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0B4F5C8E-9B29-CDBC-1ED2-A8AFD682A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0799C24-FA0D-54CD-7E84-CD0E7F369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374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BD5A5E37-811E-C4A8-15AB-389B32CB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5AF8B26F-1B34-C5FE-07AA-D81AA6E3E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70AC47E7-38D3-B6FD-3DC3-B51CF1B3A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390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2CC341F0-8406-EA38-1387-3ADFB6ED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DA31506F-4024-3FC5-CE8D-7962AD24A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934871A3-6FB4-AE41-B5A5-C48B51F46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9277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4B651A0-4A6F-FE38-D5CF-DF2120E7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84CDC50-9ADA-5527-F5BB-8FBB7BF72C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36C9A40-6C0D-E43D-9314-E5744FA6D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1665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6615C19-76E5-215A-2E74-9C6ECE19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17FFD8ED-7FA2-9FEB-8333-D077E265F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EFD20A1F-1921-9A7B-0973-C718C28E4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9602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4F74-BC5E-7B87-28C9-CF615A00D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2990B-9D6C-41F9-638E-B2063F154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A59F2-AE19-8CEF-5F6E-FC078D96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04B2A-E668-1126-E6E0-260A92F6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E8574-8895-8D2F-5AF5-21513114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6D88-BA68-3DC7-BFBB-9A6D1FD5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8E4E0-720B-AD3C-A88E-FABE5F0A7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21912-E26B-8811-726F-85E3EF50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0DC2A-301C-2797-E07F-5584D7DB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7F307-6561-4E33-3C3C-3555214DE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6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2DF93-84E7-B382-DF08-63BBA2AB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C1326-1E5A-F8FC-CAFC-63733B1D5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20A57-F0E0-2595-B3B3-C9165ACF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6D74D-F85D-AB8A-C4CC-336C1B390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4DDEB-37F9-D017-D2EE-6B98266F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2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36F1-B436-EFDE-984A-0BFFCB4B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2E242-6627-41D4-EA67-06C46CEF3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374B3-F8E9-B2EB-64A5-F28197567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3CCD5-D0DC-A019-B9A0-218BCFC6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AC7EA-D25E-F0DF-4070-AE51DA686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0DDD7-055B-E978-1551-9D809656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7EF4-D801-C38F-EA87-3C8BF5AD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5D5F6-4E0F-1DE6-BBC8-A9C4A6775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73418-8FE1-E876-7144-BE00C93B2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1FED50-58FA-4E24-D1ED-78C8C9E14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20E32-83F8-A2CD-4BFF-75DCA1D10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D757A-2E52-9E84-B107-678ADBBE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0FC9AB-99B6-1266-5350-CE484827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7694DB-6D3E-E9C9-3F43-B85A6C1B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62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5795-D887-DEEC-DEF8-2608F7BF9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2DB65-8E22-B8BC-F624-7BB90ACA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BC936-E631-51CD-BEAA-E2C3137D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0B7F2-CFC2-4634-1415-C056F92A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7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053E5-B405-B96A-3190-DF783302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D9D32-64D0-1F5F-790E-7AB44E6C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AE5BE-F32F-B1E2-353F-8F40452F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0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1D99-F054-4808-3C07-441E71335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75B2E-5E8F-D3FD-BD75-4BD12B309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057E3-C1B8-90D4-9818-6E95F41FC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2A6BE-DB04-E2EC-615C-5486F7D2C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C4DB8-B4B5-2313-C82C-B90BBFDA9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6ED1D-4040-7A58-E361-35B7AE4C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5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9945-2ACF-A4E5-0D6F-8CD1A042C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71AE6-C9D9-B878-E30B-A55452588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66357-6FB1-A6DD-658B-F08F54FDE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4CA30-71D4-DDE4-88BD-3A6C1870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55031-EC86-23FE-4E8F-DD6CB704D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A5A99-A32D-DEAC-E1B5-60679916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03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363C-7477-FBDE-41EA-2384DC95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B3F45-7009-DF15-B11E-1A18EABFE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8B969-5C36-A6F8-65C1-1F09DD218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29337-B1BE-60BA-1718-5AB04B07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2F0EE-5516-A6D6-A5A2-0A4A4F4C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6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C8114A-B558-E67F-2CE4-0DCDFE12B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09ADC-F6CB-AA77-2E52-EEA1544EC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703CF-18CD-B915-43F7-9D23A994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CB379-1BD7-6166-50BF-566CC5C1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E2563-C6C9-4E1A-CDF7-51435474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0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6" name="Google Shape;76;p13"/>
          <p:cNvGrpSpPr/>
          <p:nvPr/>
        </p:nvGrpSpPr>
        <p:grpSpPr>
          <a:xfrm>
            <a:off x="168" y="6696800"/>
            <a:ext cx="12191833" cy="161200"/>
            <a:chOff x="125" y="0"/>
            <a:chExt cx="9143875" cy="120900"/>
          </a:xfrm>
        </p:grpSpPr>
        <p:sp>
          <p:nvSpPr>
            <p:cNvPr id="77" name="Google Shape;77;p13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79" name="Google Shape;79;p13"/>
          <p:cNvCxnSpPr/>
          <p:nvPr/>
        </p:nvCxnSpPr>
        <p:spPr>
          <a:xfrm>
            <a:off x="849367" y="0"/>
            <a:ext cx="0" cy="16784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402124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6564183" y="3633000"/>
            <a:ext cx="3340800" cy="2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2287017" y="3633000"/>
            <a:ext cx="3340800" cy="20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3"/>
          </p:nvPr>
        </p:nvSpPr>
        <p:spPr>
          <a:xfrm>
            <a:off x="2287017" y="3137801"/>
            <a:ext cx="33408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6564184" y="3137801"/>
            <a:ext cx="33408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34" name="Google Shape;34;p5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35" name="Google Shape;35;p5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37" name="Google Shape;37;p5"/>
          <p:cNvCxnSpPr/>
          <p:nvPr/>
        </p:nvCxnSpPr>
        <p:spPr>
          <a:xfrm rot="10800000">
            <a:off x="10668000" y="719333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391192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8443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351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035CB-A0DE-035F-3B3D-5174B99A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D4FF5-4817-6A8B-4EC3-46CAFEFCB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0F314-907B-99DA-8C8A-845D0FCC6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9C4F4-3DD9-4055-A209-045B0C6760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656CB-CAF5-530D-C5DD-990225530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25CB7-1364-2C16-89F8-2A1B8DA05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1C798-7483-4C2B-8123-88345CBF8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8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Operators in JavaScript - UseMyNotes">
            <a:extLst>
              <a:ext uri="{FF2B5EF4-FFF2-40B4-BE49-F238E27FC236}">
                <a16:creationId xmlns:a16="http://schemas.microsoft.com/office/drawing/2014/main" id="{1EA20BA1-AFD4-9896-5D7B-9F0BEEB80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93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5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b="0" dirty="0">
                <a:latin typeface="DM Sans SemiBold"/>
                <a:ea typeface="DM Sans SemiBold"/>
                <a:cs typeface="DM Sans SemiBold"/>
                <a:sym typeface="DM Sans SemiBold"/>
              </a:rPr>
              <a:t>Arithmetic Operators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0" name="Google Shape;230;p29"/>
          <p:cNvCxnSpPr/>
          <p:nvPr/>
        </p:nvCxnSpPr>
        <p:spPr>
          <a:xfrm>
            <a:off x="5527717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" sz="2400" dirty="0"/>
              <a:t>Unary Operators</a:t>
            </a:r>
            <a:endParaRPr lang="en-GB" sz="2400" dirty="0"/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" sz="2400" dirty="0"/>
              <a:t>Type Casting</a:t>
            </a:r>
            <a:endParaRPr lang="en-GB" sz="2400" dirty="0"/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" sz="2400" dirty="0"/>
              <a:t>Assignment Operators</a:t>
            </a:r>
            <a:endParaRPr lang="en-GB" sz="2400" dirty="0"/>
          </a:p>
        </p:txBody>
      </p:sp>
      <p:sp>
        <p:nvSpPr>
          <p:cNvPr id="6" name="Google Shape;220;p29">
            <a:extLst>
              <a:ext uri="{FF2B5EF4-FFF2-40B4-BE49-F238E27FC236}">
                <a16:creationId xmlns:a16="http://schemas.microsoft.com/office/drawing/2014/main" id="{F2ABA3A9-70CA-444E-BC51-7CD0A40DE7DF}"/>
              </a:ext>
            </a:extLst>
          </p:cNvPr>
          <p:cNvSpPr txBox="1">
            <a:spLocks/>
          </p:cNvSpPr>
          <p:nvPr/>
        </p:nvSpPr>
        <p:spPr>
          <a:xfrm>
            <a:off x="4463200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CA" sz="2400" dirty="0"/>
              <a:t>Exercise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Arithmetic Operators</a:t>
            </a:r>
            <a:endParaRPr lang="en-GB"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A38E2B-56EE-32E0-7744-8B61F92C598B}"/>
              </a:ext>
            </a:extLst>
          </p:cNvPr>
          <p:cNvSpPr txBox="1"/>
          <p:nvPr/>
        </p:nvSpPr>
        <p:spPr>
          <a:xfrm>
            <a:off x="960001" y="1177086"/>
            <a:ext cx="10912209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 JavaScript, Arithmetic operators are used to perform basic mathematical operations.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Arithmetic Operators in JavaScript: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endParaRPr lang="en-GB" sz="2400" kern="0" dirty="0">
              <a:solidFill>
                <a:srgbClr val="22222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BC019A-F04A-59DB-AE02-3B3460917C3C}"/>
              </a:ext>
            </a:extLst>
          </p:cNvPr>
          <p:cNvGraphicFramePr>
            <a:graphicFrameLocks noGrp="1"/>
          </p:cNvGraphicFramePr>
          <p:nvPr/>
        </p:nvGraphicFramePr>
        <p:xfrm>
          <a:off x="960000" y="2834640"/>
          <a:ext cx="869601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8005">
                  <a:extLst>
                    <a:ext uri="{9D8B030D-6E8A-4147-A177-3AD203B41FA5}">
                      <a16:colId xmlns:a16="http://schemas.microsoft.com/office/drawing/2014/main" val="1223438601"/>
                    </a:ext>
                  </a:extLst>
                </a:gridCol>
                <a:gridCol w="4348005">
                  <a:extLst>
                    <a:ext uri="{9D8B030D-6E8A-4147-A177-3AD203B41FA5}">
                      <a16:colId xmlns:a16="http://schemas.microsoft.com/office/drawing/2014/main" val="4018719750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Operator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291271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Addition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859149939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Subtraction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72845198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Multiplication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47872387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Division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399159899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Exponentiation (ES6+)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7056508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Modulus (Remainder)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9268887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++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Increment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87658841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Decrement</a:t>
                      </a:r>
                      <a:endParaRPr lang="en-GB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1475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35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50E14025-D7B5-6BBC-5C52-06EF60DE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81D30B46-4B0A-08F1-1948-0542E6F053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Arithmetic Operators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AF5E49-AF17-E4C9-ECC6-5193F954363A}"/>
              </a:ext>
            </a:extLst>
          </p:cNvPr>
          <p:cNvSpPr txBox="1"/>
          <p:nvPr/>
        </p:nvSpPr>
        <p:spPr>
          <a:xfrm>
            <a:off x="960001" y="1177086"/>
            <a:ext cx="10912209" cy="458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Addition 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Console.log(10 + 20); // 30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Console.log(10 + “Khalid”); // 10Khalid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endParaRPr lang="en-US" sz="2400" kern="0" dirty="0">
              <a:solidFill>
                <a:srgbClr val="222229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Subtraction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Console.log(10 - 20); // -10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Console.log(10 - “Khalid”); // </a:t>
            </a:r>
            <a:r>
              <a:rPr lang="en-GB" sz="2400" kern="0" dirty="0" err="1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NaN</a:t>
            </a:r>
            <a:endParaRPr lang="en-GB" sz="2400" kern="0" dirty="0">
              <a:solidFill>
                <a:srgbClr val="222229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 err="1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NaN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=&gt;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Not a Number (Type is Number)</a:t>
            </a:r>
            <a:endParaRPr lang="en-US" sz="1867" kern="0" dirty="0">
              <a:solidFill>
                <a:srgbClr val="22222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76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A42CDAE9-42F3-EB3B-8CB6-108C40A37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E4952B99-110A-BBD1-0B14-6764BA27CB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Arithmetic Operators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0BDFCC-65D7-8FF1-EDA5-97A2EA87E010}"/>
              </a:ext>
            </a:extLst>
          </p:cNvPr>
          <p:cNvSpPr txBox="1"/>
          <p:nvPr/>
        </p:nvSpPr>
        <p:spPr>
          <a:xfrm>
            <a:off x="960001" y="1177086"/>
            <a:ext cx="10912209" cy="4034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Multiplication 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Console.log(10 * 10); // 100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Console.log(10 * -10); // -100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endParaRPr lang="en-US" sz="2400" kern="0" dirty="0">
              <a:solidFill>
                <a:srgbClr val="222229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Division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Console.log(20 / 5); // 4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Console.log(20 / 3); // 6.666666666667</a:t>
            </a:r>
          </a:p>
        </p:txBody>
      </p:sp>
    </p:spTree>
    <p:extLst>
      <p:ext uri="{BB962C8B-B14F-4D97-AF65-F5344CB8AC3E}">
        <p14:creationId xmlns:p14="http://schemas.microsoft.com/office/powerpoint/2010/main" val="389630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B148A25C-1284-9AD5-8542-CC33F5FC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78E9F8C4-37A7-B628-2BA9-02DDB3CB56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Arithmetic Operators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FBCDE-1D8A-CB2E-6299-8CC73C111E58}"/>
              </a:ext>
            </a:extLst>
          </p:cNvPr>
          <p:cNvSpPr txBox="1"/>
          <p:nvPr/>
        </p:nvSpPr>
        <p:spPr>
          <a:xfrm>
            <a:off x="960001" y="1177086"/>
            <a:ext cx="10912209" cy="4034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Modulus 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Console.log(10 % 2) // 0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Console.log(11 % 2) // 1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endParaRPr lang="en-US" sz="2400" kern="0" dirty="0">
              <a:solidFill>
                <a:srgbClr val="222229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Exponentiation (ES7)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Console.log(2 ** 4) // (2</a:t>
            </a:r>
            <a:r>
              <a:rPr lang="en-GB" sz="2400" kern="0" baseline="3000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4</a:t>
            </a: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 = 16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endParaRPr lang="en-GB" sz="2400" kern="0" dirty="0">
              <a:solidFill>
                <a:srgbClr val="222229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264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1EBC8D0E-7E09-9A11-22EE-29C06AD8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B76F8562-D48E-4C73-C6DE-A6562BAFE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Arithmetic Operators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49C78-9453-F0EB-E67E-674A6DFACDEB}"/>
              </a:ext>
            </a:extLst>
          </p:cNvPr>
          <p:cNvSpPr txBox="1"/>
          <p:nvPr/>
        </p:nvSpPr>
        <p:spPr>
          <a:xfrm>
            <a:off x="960001" y="1177085"/>
            <a:ext cx="10912209" cy="563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Increment 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++ can be prefix(++x) or postfix(x++)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++x → 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Increments first, then returns value.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x++ → 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Returns value first, then increments.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Example: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let x = 5;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console.log(++x); // 6 (increments first)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let y = 5;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console.log(y++); // 5 (returns first, then increments)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console.log(y);   // 6</a:t>
            </a:r>
          </a:p>
        </p:txBody>
      </p:sp>
    </p:spTree>
    <p:extLst>
      <p:ext uri="{BB962C8B-B14F-4D97-AF65-F5344CB8AC3E}">
        <p14:creationId xmlns:p14="http://schemas.microsoft.com/office/powerpoint/2010/main" val="603656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9E67F1FC-4983-C9D5-B582-9D71CF60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DB82441E-3FF4-203D-E541-F539E51A4C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13485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Arithmetic Operators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34EF16-65D3-C49C-316D-858D468C85DE}"/>
              </a:ext>
            </a:extLst>
          </p:cNvPr>
          <p:cNvSpPr txBox="1"/>
          <p:nvPr/>
        </p:nvSpPr>
        <p:spPr>
          <a:xfrm>
            <a:off x="960001" y="1177085"/>
            <a:ext cx="10912209" cy="563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Decrement 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-- can be prefix(--x) or postfix(x--)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--x → 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Decrements first, then returns value.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x-- → 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Returns value first, then Decrements.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Example: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let x = 5;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console.log(--x); // 4 (Decrements first)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let y = 5;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console.log(y--); // 5 (returns first, then decrements)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console.log(y);   // 4</a:t>
            </a:r>
          </a:p>
        </p:txBody>
      </p:sp>
    </p:spTree>
    <p:extLst>
      <p:ext uri="{BB962C8B-B14F-4D97-AF65-F5344CB8AC3E}">
        <p14:creationId xmlns:p14="http://schemas.microsoft.com/office/powerpoint/2010/main" val="1648121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>
            <a:spLocks noGrp="1"/>
          </p:cNvSpPr>
          <p:nvPr>
            <p:ph type="title"/>
          </p:nvPr>
        </p:nvSpPr>
        <p:spPr>
          <a:xfrm>
            <a:off x="960000" y="43008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Unary Operators</a:t>
            </a:r>
            <a:endParaRPr dirty="0"/>
          </a:p>
        </p:txBody>
      </p:sp>
      <p:cxnSp>
        <p:nvCxnSpPr>
          <p:cNvPr id="242" name="Google Shape;242;p30"/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F658D6-6207-5797-4ECE-6FBBC9E9B6EB}"/>
              </a:ext>
            </a:extLst>
          </p:cNvPr>
          <p:cNvSpPr txBox="1"/>
          <p:nvPr/>
        </p:nvSpPr>
        <p:spPr>
          <a:xfrm>
            <a:off x="960000" y="1193681"/>
            <a:ext cx="10452512" cy="5940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Unary operators take only one operand.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+x → Converts x to a number.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-x → Converts x to a number, then negates it.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endParaRPr lang="en-GB" sz="24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667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Unary Plus(+)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Converts its operand into a </a:t>
            </a:r>
            <a:r>
              <a:rPr lang="en-GB" sz="24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lang="en-GB" sz="2400" b="1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buClr>
                <a:srgbClr val="000000"/>
              </a:buClr>
              <a:defRPr/>
            </a:pPr>
            <a:endParaRPr lang="en-GB" sz="2400" b="1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667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Unary Negation(-)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Converts its operand into a </a:t>
            </a:r>
            <a:r>
              <a:rPr lang="en-GB" sz="24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Then</a:t>
            </a:r>
            <a:r>
              <a:rPr lang="en-GB" sz="24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negates </a:t>
            </a: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it (make it negative)</a:t>
            </a:r>
          </a:p>
          <a:p>
            <a:pPr defTabSz="1219170">
              <a:buClr>
                <a:srgbClr val="000000"/>
              </a:buClr>
              <a:defRPr/>
            </a:pPr>
            <a:endParaRPr lang="en-GB" sz="2400" b="1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5271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8945FBA-BDEA-748C-49A1-6C2E04A3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D08B6D97-29F7-2DDA-8246-85C43FC5A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23609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Unary Operators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8F837AE8-9963-E5BF-66D7-253C2D6A2ED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D50C30-14FA-6174-87C3-8F2BFB3E788F}"/>
              </a:ext>
            </a:extLst>
          </p:cNvPr>
          <p:cNvSpPr txBox="1"/>
          <p:nvPr/>
        </p:nvSpPr>
        <p:spPr>
          <a:xfrm>
            <a:off x="762000" y="987209"/>
            <a:ext cx="10452512" cy="5579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667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Examples: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100)		// 100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“30”)		// 30 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“-50”)		// -50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“Khalid”)		// Nan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“”)			// 0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“13.45”)		// 13.45 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0xff)		// 255  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Null)		// 0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false) 		// 0  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+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true)		// 1	(type is number)</a:t>
            </a:r>
          </a:p>
        </p:txBody>
      </p:sp>
    </p:spTree>
    <p:extLst>
      <p:ext uri="{BB962C8B-B14F-4D97-AF65-F5344CB8AC3E}">
        <p14:creationId xmlns:p14="http://schemas.microsoft.com/office/powerpoint/2010/main" val="150692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BB6F3BA8-0CDE-5EAE-9EFC-6EE4C25DF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9BC08347-D4EF-8571-BCE7-7A86F00271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23609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Unary Operators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3D4917EC-0C6E-7DF2-A39C-B343FD8E900B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D87BD87-0E28-DEA5-274F-32AC1A512842}"/>
              </a:ext>
            </a:extLst>
          </p:cNvPr>
          <p:cNvSpPr txBox="1"/>
          <p:nvPr/>
        </p:nvSpPr>
        <p:spPr>
          <a:xfrm>
            <a:off x="762000" y="987209"/>
            <a:ext cx="10452512" cy="5579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667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Examples: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100)		// -100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“30”)		// -30 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“-50”)		// 50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“Khalid”)		// Nan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“”)			// -0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“13.45”)		// -13.45 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0xff)		// -255  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Null)		// -0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false) 		// -0   	(type is number)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</a:t>
            </a:r>
            <a:r>
              <a:rPr lang="en-GB" sz="2133" kern="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-</a:t>
            </a:r>
            <a:r>
              <a:rPr lang="en-GB" sz="2133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true)		// -1	(type is number)</a:t>
            </a:r>
          </a:p>
        </p:txBody>
      </p:sp>
    </p:spTree>
    <p:extLst>
      <p:ext uri="{BB962C8B-B14F-4D97-AF65-F5344CB8AC3E}">
        <p14:creationId xmlns:p14="http://schemas.microsoft.com/office/powerpoint/2010/main" val="113637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7E65EA50-E9ED-0778-7485-1878067F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5F56A035-0804-E7C3-AADB-39B8DEAA5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Type Coercion (Type Casting)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7B17883-F75B-C3DB-C742-A22FF4CA00B5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coercion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JavaScript is the </a:t>
            </a:r>
            <a:r>
              <a:rPr lang="en-GB" sz="2400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GB" sz="2400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implicit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conversion of values from one data type to another (like from a string to a number, </a:t>
            </a:r>
            <a:r>
              <a:rPr lang="en-GB" sz="2400" kern="0" dirty="0" err="1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string, etc.).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is </a:t>
            </a:r>
            <a:r>
              <a:rPr lang="en-GB" sz="2400" kern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dynamically typed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 it does a lot of coercion automatically.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Types of type Coercion</a:t>
            </a:r>
          </a:p>
          <a:p>
            <a:pPr marL="152396" defTabSz="1219170">
              <a:lnSpc>
                <a:spcPct val="150000"/>
              </a:lnSpc>
              <a:defRPr/>
            </a:pPr>
            <a:endParaRPr lang="en-GB" sz="2667" b="1" kern="0" dirty="0">
              <a:solidFill>
                <a:srgbClr val="22222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04743D-867F-F2D6-55B8-D1FBF8908702}"/>
              </a:ext>
            </a:extLst>
          </p:cNvPr>
          <p:cNvGraphicFramePr>
            <a:graphicFrameLocks noGrp="1"/>
          </p:cNvGraphicFramePr>
          <p:nvPr/>
        </p:nvGraphicFramePr>
        <p:xfrm>
          <a:off x="960000" y="3911360"/>
          <a:ext cx="10291232" cy="1991360"/>
        </p:xfrm>
        <a:graphic>
          <a:graphicData uri="http://schemas.openxmlformats.org/drawingml/2006/table">
            <a:tbl>
              <a:tblPr/>
              <a:tblGrid>
                <a:gridCol w="2457757">
                  <a:extLst>
                    <a:ext uri="{9D8B030D-6E8A-4147-A177-3AD203B41FA5}">
                      <a16:colId xmlns:a16="http://schemas.microsoft.com/office/drawing/2014/main" val="1922549639"/>
                    </a:ext>
                  </a:extLst>
                </a:gridCol>
                <a:gridCol w="4403064">
                  <a:extLst>
                    <a:ext uri="{9D8B030D-6E8A-4147-A177-3AD203B41FA5}">
                      <a16:colId xmlns:a16="http://schemas.microsoft.com/office/drawing/2014/main" val="576605217"/>
                    </a:ext>
                  </a:extLst>
                </a:gridCol>
                <a:gridCol w="3430411">
                  <a:extLst>
                    <a:ext uri="{9D8B030D-6E8A-4147-A177-3AD203B41FA5}">
                      <a16:colId xmlns:a16="http://schemas.microsoft.com/office/drawing/2014/main" val="3367804716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r>
                        <a:rPr lang="en-GB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0474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r>
                        <a:rPr lang="en-GB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Implicit Coercion</a:t>
                      </a:r>
                      <a:endParaRPr lang="en-GB" sz="2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JavaScript </a:t>
                      </a:r>
                      <a:r>
                        <a:rPr lang="en-GB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automatically converts</a:t>
                      </a:r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types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"5" * 2 → 10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11735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r>
                        <a:rPr lang="en-GB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Explicit Coercion</a:t>
                      </a:r>
                      <a:endParaRPr lang="en-GB" sz="2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You </a:t>
                      </a:r>
                      <a:r>
                        <a:rPr lang="en-GB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manually convert</a:t>
                      </a:r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 value to a specific type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Number("5") → 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680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317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17AEB377-B2C4-99C5-4EF9-E75456B7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3258524-493D-79CA-5EF3-EAA38268D076}"/>
              </a:ext>
            </a:extLst>
          </p:cNvPr>
          <p:cNvSpPr txBox="1">
            <a:spLocks/>
          </p:cNvSpPr>
          <p:nvPr/>
        </p:nvSpPr>
        <p:spPr>
          <a:xfrm>
            <a:off x="764994" y="392244"/>
            <a:ext cx="10681245" cy="608350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 defTabSz="1219170">
              <a:lnSpc>
                <a:spcPct val="150000"/>
              </a:lnSpc>
              <a:defRPr/>
            </a:pPr>
            <a:r>
              <a:rPr lang="en-US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String Coercion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console.log("Hello" + 5)     </a:t>
            </a:r>
            <a:r>
              <a:rPr lang="en-GB" sz="2400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"Hello5"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console.log("2" + 3 + 4)     // "234" 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console.log(2 + 3 + "4”)     // "54"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667" b="1" kern="0" dirty="0">
                <a:solidFill>
                  <a:srgbClr val="2222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Number Coercion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console.log("5" * 2)          // 10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console.log("10" – 1)         // 9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console.log("6" / "3”)        // 2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console.log(null + 1)         // 1 (null → 0)</a:t>
            </a:r>
          </a:p>
          <a:p>
            <a:pPr marL="152396" defTabSz="1219170">
              <a:lnSpc>
                <a:spcPct val="150000"/>
              </a:lnSpc>
              <a:defRPr/>
            </a:pPr>
            <a:r>
              <a:rPr lang="en-GB" sz="2400" kern="0" dirty="0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console.log(undefined + 1)    // </a:t>
            </a:r>
            <a:r>
              <a:rPr lang="en-GB" sz="2400" kern="0" dirty="0" err="1">
                <a:solidFill>
                  <a:srgbClr val="222229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NaN</a:t>
            </a:r>
            <a:endParaRPr lang="en-GB" sz="2400" kern="0" dirty="0">
              <a:solidFill>
                <a:srgbClr val="222229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396" defTabSz="1219170">
              <a:lnSpc>
                <a:spcPct val="150000"/>
              </a:lnSpc>
              <a:defRPr/>
            </a:pPr>
            <a:endParaRPr lang="en-GB" sz="2667" b="1" kern="0" dirty="0">
              <a:solidFill>
                <a:srgbClr val="22222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66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D6A50A5-8FF1-3B6D-6E8A-258DB59D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5B1C1761-9F80-CE7A-F243-816464F92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Assignment Operators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99A7247-CAEA-418F-6ACB-4525AEEA116E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88C948-C0A2-E42C-57E9-E3059ECCF80C}"/>
              </a:ext>
            </a:extLst>
          </p:cNvPr>
          <p:cNvSpPr txBox="1"/>
          <p:nvPr/>
        </p:nvSpPr>
        <p:spPr>
          <a:xfrm>
            <a:off x="960000" y="1172711"/>
            <a:ext cx="1027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 JavaScript, assignment operators are used to assign values to variables. The most basic assignment operator is =, but JavaScript also includes a variety of compound assignment operators that combine an operation with assignment (like +=, -=, *=, etc.).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2CFD93-BF9E-F269-3F4C-28D6D251263B}"/>
              </a:ext>
            </a:extLst>
          </p:cNvPr>
          <p:cNvGraphicFramePr>
            <a:graphicFrameLocks noGrp="1"/>
          </p:cNvGraphicFramePr>
          <p:nvPr/>
        </p:nvGraphicFramePr>
        <p:xfrm>
          <a:off x="960000" y="2891268"/>
          <a:ext cx="10291232" cy="3129280"/>
        </p:xfrm>
        <a:graphic>
          <a:graphicData uri="http://schemas.openxmlformats.org/drawingml/2006/table">
            <a:tbl>
              <a:tblPr/>
              <a:tblGrid>
                <a:gridCol w="1738229">
                  <a:extLst>
                    <a:ext uri="{9D8B030D-6E8A-4147-A177-3AD203B41FA5}">
                      <a16:colId xmlns:a16="http://schemas.microsoft.com/office/drawing/2014/main" val="546611396"/>
                    </a:ext>
                  </a:extLst>
                </a:gridCol>
                <a:gridCol w="3407387">
                  <a:extLst>
                    <a:ext uri="{9D8B030D-6E8A-4147-A177-3AD203B41FA5}">
                      <a16:colId xmlns:a16="http://schemas.microsoft.com/office/drawing/2014/main" val="3571631327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3692231354"/>
                    </a:ext>
                  </a:extLst>
                </a:gridCol>
                <a:gridCol w="2572808">
                  <a:extLst>
                    <a:ext uri="{9D8B030D-6E8A-4147-A177-3AD203B41FA5}">
                      <a16:colId xmlns:a16="http://schemas.microsoft.com/office/drawing/2014/main" val="1440512501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Operator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Meaning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Equivalent To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72396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+=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Addition assignment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+=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= x +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7845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-=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Subtraction assignment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-=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= x -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7684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*=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Multiplication assignment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*=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= x *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78401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/=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Division assignment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/=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= x /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158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%=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Remainder assignment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%=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= x %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8526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**=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Exponentiation assignment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**=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100" dirty="0">
                          <a:latin typeface="Consolas" panose="020B0609020204030204" pitchFamily="49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= x ** y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182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017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EB2B4BC-368A-4A59-FB82-82A6F957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E28BD218-5229-54EC-C2D5-3FD6F71EFB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091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Assignment Operators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BB1E364-4428-3557-4817-3C1B9C99CB58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52B1D3A-C1F1-2BAC-4849-E346B18EF1D3}"/>
              </a:ext>
            </a:extLst>
          </p:cNvPr>
          <p:cNvSpPr txBox="1"/>
          <p:nvPr/>
        </p:nvSpPr>
        <p:spPr>
          <a:xfrm>
            <a:off x="960000" y="1172711"/>
            <a:ext cx="102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GB" sz="32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Examples: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9EA8D-9E3A-D0FB-028A-03BFE7831743}"/>
              </a:ext>
            </a:extLst>
          </p:cNvPr>
          <p:cNvSpPr txBox="1"/>
          <p:nvPr/>
        </p:nvSpPr>
        <p:spPr>
          <a:xfrm>
            <a:off x="960000" y="1991972"/>
            <a:ext cx="107922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let x = 5;</a:t>
            </a:r>
          </a:p>
          <a:p>
            <a:pPr defTabSz="1219170">
              <a:buClr>
                <a:srgbClr val="000000"/>
              </a:buClr>
              <a:defRPr/>
            </a:pPr>
            <a:endParaRPr lang="en-GB" sz="2400" kern="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Console.log(x += 3);  	// x = 8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Console.log(x *= 2);  	// x = 16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Console.log(x -= 4);  	// x = 12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Console.log(x /= 3);  	// x = 4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Console.log(x %= 3);  	// x = 1</a:t>
            </a:r>
          </a:p>
          <a:p>
            <a:pPr defTabSz="1219170">
              <a:buClr>
                <a:srgbClr val="000000"/>
              </a:buClr>
              <a:defRPr/>
            </a:pPr>
            <a:r>
              <a:rPr lang="en-GB" sz="24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Console.log(x **= 2); 	// x = 1</a:t>
            </a:r>
          </a:p>
        </p:txBody>
      </p:sp>
    </p:spTree>
    <p:extLst>
      <p:ext uri="{BB962C8B-B14F-4D97-AF65-F5344CB8AC3E}">
        <p14:creationId xmlns:p14="http://schemas.microsoft.com/office/powerpoint/2010/main" val="165455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1165</Words>
  <Application>Microsoft Office PowerPoint</Application>
  <PresentationFormat>Widescreen</PresentationFormat>
  <Paragraphs>176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Office Theme</vt:lpstr>
      <vt:lpstr>PowerPoint Presentation</vt:lpstr>
      <vt:lpstr>What we Cover Today:</vt:lpstr>
      <vt:lpstr>Arithmetic Operators</vt:lpstr>
      <vt:lpstr>Arithmetic Operators</vt:lpstr>
      <vt:lpstr>Arithmetic Operators</vt:lpstr>
      <vt:lpstr>Arithmetic Operators</vt:lpstr>
      <vt:lpstr>Arithmetic Operators</vt:lpstr>
      <vt:lpstr>Arithmetic Operators</vt:lpstr>
      <vt:lpstr>Unary Operators</vt:lpstr>
      <vt:lpstr>Unary Operators</vt:lpstr>
      <vt:lpstr>Unary Operators</vt:lpstr>
      <vt:lpstr>Type Coercion (Type Casting)</vt:lpstr>
      <vt:lpstr>PowerPoint Presentation</vt:lpstr>
      <vt:lpstr>Assignment Operators</vt:lpstr>
      <vt:lpstr>Assignment Operators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2</cp:revision>
  <dcterms:created xsi:type="dcterms:W3CDTF">2025-12-15T16:13:38Z</dcterms:created>
  <dcterms:modified xsi:type="dcterms:W3CDTF">2026-02-17T09:16:49Z</dcterms:modified>
</cp:coreProperties>
</file>