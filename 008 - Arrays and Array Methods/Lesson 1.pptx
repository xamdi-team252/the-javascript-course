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88" r:id="rId2"/>
    <p:sldId id="470" r:id="rId3"/>
    <p:sldId id="871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E1E6D-6407-4A5F-AEC8-DE6560AE6240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AA922-390A-4EF0-853F-893C0D52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2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B0F5B94-5BEA-7A68-3373-EBFD2AD7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0BEC543-4B14-0186-B5FF-1663424F2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8F5D66F3-FC5C-788B-47A4-1CC4C1D8C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833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0A93486-2D8D-D198-65C7-A20ED06D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336CD85-85AD-47A7-8AB5-4D3FB5E45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E005D382-5CAC-4A7F-E09F-9DD4A8B32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8904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20E2831-BE9C-557B-6EA7-20A720BC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AB4D01E7-CF81-49E7-2D96-513111DD75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C9FEA55-39C7-F436-22B2-D39025EF3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676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CDA2D3C-ECB4-698B-3860-7E6DAE67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8F13E4C-BDA1-D6CB-5C0A-B3D824B00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4030510-1959-4961-D370-00BD41C31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56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0E0FAA4-4314-AC35-1260-8AD650FE6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59C44D79-8E2E-956E-9531-37177599D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49A8D8E7-7A61-5AE0-44EF-3E95DA3866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7676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F75FBA5-AD64-FE5D-D703-65B9187D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F227C1C-B083-A654-3831-8FCD1CD90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7D0AF5E-ED35-C81E-5967-14A17604C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530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1166A54-BE1B-BE8C-5807-F985361B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FEC9F114-0D59-7A11-C6E1-5DA794943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101A167-07DE-F44E-B69F-5839EBB88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00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90E509B-4ECA-D360-EF86-4A14C08F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D6EB76C-7D08-EB71-1ADC-0F8D14399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45B7339D-BF45-207B-16AC-9541DD79D4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8024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B7E55AE-06CC-E56E-48B2-2E972D9A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3D724A1-7ACD-5C4F-9788-AFABD2E43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D75E54F-3A85-25FD-6EAB-7A6A2FEB3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61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D2CBDEC-86EB-D165-C95E-A73FB26D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181CFCF-07EF-857C-570D-CA89B8B19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332AEDA-3522-9B4E-1CBA-043E65B08D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272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657A77C-C2F5-B4C8-51F7-24EDB43F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C5CE894-AEC9-FC16-A779-1E696D1F9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504E098-CC07-C28A-AE28-74B27C470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735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492930D-3E60-0302-F4EE-603FF195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E8BFB18-6D70-0231-4C05-0F5024623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E8111109-2FD0-19BD-9D69-0140DAC22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0031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2949CAD-8503-BC21-52E3-D3995B6E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32C02049-92E5-DEEA-5CDA-06DCEF091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4C6E0AB-94F2-EA0F-73D7-8EBEE762E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091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CEE538D-FF39-B981-8069-6C83DC92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DE85C64-C75C-48B1-4065-88FE8BB56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23387D2-3A98-E41E-D3CC-19391D610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878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C303FF4-D81D-4B50-702C-4C6E3E24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F78E1854-B0C2-7A3B-0B3A-76C0AE2043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6E05FC2-0445-8354-D3D8-7A2B61C06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953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CA84403-435B-B98E-3AE8-C8228841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6075FA9-D505-D046-ED20-D9A9BBFAD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0FBD2A5-F80A-00B7-E83E-C7FA237D90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312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F8B127C-E8EC-AFB9-D6D0-819ADD90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9F01D33-4206-1EC6-FC7A-1F2769100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B6562457-0635-CB29-BB5D-408AA0ED0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8139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685108B-071F-A56B-C2E8-F390FB8D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8DF6C8A-426A-B06B-32E5-5DCD0C872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62F4360-45F1-DEFE-A4E5-9F7A53445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374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D204668-F298-21E6-E442-18D7B673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D1C1369-B8A8-78EF-8EA0-8A26560BE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9097502-03BC-44AC-81EC-46CD11EC6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5939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C62F829-B915-1DE5-0975-6A8477386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A8A20D79-0269-BD63-16C4-6EC22FDD3D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46A7222-4C26-C3CC-23A0-0DF40B03D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247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2E7DDCE-BD9D-07A4-6A5A-8931796F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5613008-AB55-2473-9FF8-0DC91D6B8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4168D56-6E3E-309B-EB8A-393888F49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83517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AFCEB46-A62B-9089-E580-9AC857676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A68F926C-C992-7C1F-0E58-801BB2A51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A50ADE69-0165-6A26-8A2F-A1DD375B2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379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5A4FD68F-5BAC-79E4-AE90-2D352667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446FB90-8ACD-D74E-02D7-C450E4872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35F857B-DDFF-DC1D-AE51-285AA5E1C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24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1354-CF02-3D9D-6BB3-E1BD1CB04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C1AB5-C28F-40FC-35EE-6DFA482A9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F397-A50A-4D42-7F9E-995EF4C8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9BE2-C662-0BD2-435A-B3A2CC63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D85D2-6C1D-BA30-23E9-A08C8224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2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FAD1-452A-9270-175E-B1C13EE5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12AFB-FC15-8F52-A0BC-C6C0734A5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371DA-6594-D607-FEBF-B011BFFC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956D6-14B9-C189-DA8A-8C3D66B9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881F1-B89F-7960-7946-9DB267865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6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631A-E069-4B23-8B43-8B15FE1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3C72C-7B6B-7ACE-555A-510D66C32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74087-DE52-2587-C26A-03737250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2A7D3-648B-3853-18B9-F05F7051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BC31-7202-689D-3E33-CF7DA29E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6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AADF-DAEC-B5D3-D3B8-75CC8FA4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32BFF-99D3-2FD1-9926-516A7E8AB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4A7D9-867A-D6DF-E57E-2D7F13B9F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2BA38-FFBA-8FBB-FE65-FB8F411C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593BB-81A4-50CE-5662-52C104B9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FE113-0A60-9651-ADA9-C76F8612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3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C409-EFAD-7A0C-A113-D2D2E9B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A5392-823E-74DB-DBE8-8BD5FF387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60189-0A81-A99C-67BC-066475A56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8700E-5829-71DB-8EDB-E0EDD2A6C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182DE8-F85C-37B0-867A-0700ADDBE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54A83-B306-2342-2DCA-E0663663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82ACE-B7AD-A077-3A21-7125AB4E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C0559-B745-2A7E-1DB3-5409CE57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6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66DA-B150-85D8-F731-FF1C9189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37CAA-C3F5-DBDA-A600-22BE5CD7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96C306-7694-8185-A830-D367B970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E7C9C-7B42-AB2F-6344-23B70F3C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4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8610E6-31BC-614A-6A5B-16FE9073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6CF00-EFE5-5B52-1D70-31E1AC91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28147-C8E4-7525-B8CF-A4893612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5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732B-1A22-5DFA-E2D2-55BDB343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5505C-3598-9412-DF58-DD4CD4833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83540-9D6A-2CD0-1B32-366268AA5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5C640-DA54-D013-42E2-754D011D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EB7A0-C436-FB26-9027-880927B80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7A61D-2E01-D12B-1AE4-4CF9EFDF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7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0880-7995-9912-2C5D-6847ADD1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B67D1E-13DE-6735-6975-CC29B6FA7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3077F-D5A7-EFD0-796D-25B74FD7E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2A2E0-B283-C0EF-C4EC-9AFFE48E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8776D-6EAB-0AED-9BE4-C724E8D3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5D60C-2024-CE2E-B011-A59516A2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7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F8F1-9932-A373-2B84-3FA9858D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CD055-860E-499A-B1C7-9C1FA344A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65161-64AC-3141-AE6E-AD00C580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902AB-05CA-6E1A-2D5A-6A50A556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DEF24-150C-2751-B6E2-0FFA338D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3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DD3C4-4419-5490-A8E2-5413B6AC8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66787-E291-E59F-56ED-AC5C446A7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F0652-66D9-CC72-E385-76463C03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26496-07BA-D108-8121-1014872E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F4C9D-BE65-181C-DE3D-B1B25ABAB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46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8371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207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6A1D8-EB49-BCEB-6CF0-DE7ED3FB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AA3AD-ECC1-9022-AC1C-EDCB7390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82B09-745C-36A6-609B-36FA57610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ABDAF-429B-40C5-9C03-2DDBB46F709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F4A24-DDD5-4217-8D21-694D55A26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58435-68ED-747A-D821-70B71E0FD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4B017-FFCF-44C9-9BB5-263A88D1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4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54AA3B8-62D3-8E4B-E4D7-A2A2D797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72748E77-215F-5F06-6F62-A81A7A4567A1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7BBE1D-51A9-F76C-77D4-DCB835B1FD4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EA167FB-E3D7-044A-DCDA-853AAD62ADC2}"/>
                </a:ext>
              </a:extLst>
            </p:cNvPr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00556D8C-EF5C-00B4-2912-DF7FCF475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0" cy="5143500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0AF645E-EAAD-79DB-C65D-D8EF6F2224C4}"/>
                  </a:ext>
                </a:extLst>
              </p:cNvPr>
              <p:cNvSpPr/>
              <p:nvPr/>
            </p:nvSpPr>
            <p:spPr>
              <a:xfrm>
                <a:off x="5878286" y="539499"/>
                <a:ext cx="2441121" cy="1673022"/>
              </a:xfrm>
              <a:prstGeom prst="rect">
                <a:avLst/>
              </a:prstGeom>
              <a:solidFill>
                <a:srgbClr val="F7C51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F9DBF4-5B86-BDA7-0776-77DC09D6E9CE}"/>
                </a:ext>
              </a:extLst>
            </p:cNvPr>
            <p:cNvSpPr/>
            <p:nvPr/>
          </p:nvSpPr>
          <p:spPr>
            <a:xfrm>
              <a:off x="1143000" y="2653393"/>
              <a:ext cx="2318657" cy="955221"/>
            </a:xfrm>
            <a:prstGeom prst="rect">
              <a:avLst/>
            </a:prstGeom>
            <a:solidFill>
              <a:srgbClr val="2E2E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33092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Array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Array Methods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62A063F-888E-A6EE-46DC-5AAD83C92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C97070F-4159-C119-2D0A-3C185F364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Array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DDC9046-5D24-1F4C-FF4F-435E38AEA66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BCD027-8A91-5B7F-429B-A132E3AA3571}"/>
              </a:ext>
            </a:extLst>
          </p:cNvPr>
          <p:cNvSpPr txBox="1"/>
          <p:nvPr/>
        </p:nvSpPr>
        <p:spPr>
          <a:xfrm>
            <a:off x="960001" y="1101133"/>
            <a:ext cx="11025172" cy="5476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array is a box that holds many values together.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You have a box with apples, bananas, and mangoes inside that is an array.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JavaScript, we use arrays to store many items in one variable.</a:t>
            </a:r>
          </a:p>
          <a:p>
            <a:pPr lvl="0"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to Make an Array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use square brackets 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fruits = ["Apple", "Banana", "Mango"];</a:t>
            </a:r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fruits[0] → "Apple" (first item)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fruits[1] → "Banana" (second item)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fruits[2] → "Mango" (third item)  </a:t>
            </a:r>
            <a:r>
              <a:rPr lang="en-GB" sz="2267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Note: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Array index starts at 0.</a:t>
            </a:r>
            <a:endParaRPr lang="en-GB" sz="2267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94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FC169F7-EA14-1FF7-ECC9-A0C49010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AFF6FF1-11EE-0B57-2F3A-B552A4205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Array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0BCAD26-C193-3E5F-77A2-24CBED93B86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4389EE-AC90-B593-DDF1-11EF4381319C}"/>
              </a:ext>
            </a:extLst>
          </p:cNvPr>
          <p:cNvSpPr txBox="1"/>
          <p:nvPr/>
        </p:nvSpPr>
        <p:spPr>
          <a:xfrm>
            <a:off x="960001" y="1101132"/>
            <a:ext cx="11025172" cy="27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 can store Different Data types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mixed = ["Hello", 25, true];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String → "Hello"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Number → 25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Boolean → true</a:t>
            </a:r>
          </a:p>
        </p:txBody>
      </p:sp>
    </p:spTree>
    <p:extLst>
      <p:ext uri="{BB962C8B-B14F-4D97-AF65-F5344CB8AC3E}">
        <p14:creationId xmlns:p14="http://schemas.microsoft.com/office/powerpoint/2010/main" val="927509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70EDD00-F768-BEA8-C80C-7666A58A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6C1A18B-BFF2-554B-8A5B-82CBD366A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Array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4DAFAECF-F825-3699-07E8-841E6B198A4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94BDF3-9D50-FC12-C443-2FAF8D677CEE}"/>
              </a:ext>
            </a:extLst>
          </p:cNvPr>
          <p:cNvSpPr txBox="1"/>
          <p:nvPr/>
        </p:nvSpPr>
        <p:spPr>
          <a:xfrm>
            <a:off x="960001" y="1101133"/>
            <a:ext cx="11025172" cy="274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length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 returns the length (size) of an array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["Banana",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>
                <a:latin typeface="Consolas" panose="020B0609020204030204" pitchFamily="49" charset="0"/>
              </a:rPr>
              <a:t>let size = </a:t>
            </a:r>
            <a:r>
              <a:rPr lang="en-US" sz="2267" dirty="0" err="1">
                <a:latin typeface="Consolas" panose="020B0609020204030204" pitchFamily="49" charset="0"/>
              </a:rPr>
              <a:t>fruits.length</a:t>
            </a:r>
            <a:r>
              <a:rPr lang="en-US" sz="2267" dirty="0">
                <a:latin typeface="Consolas" panose="020B0609020204030204" pitchFamily="49" charset="0"/>
              </a:rPr>
              <a:t>; // 4</a:t>
            </a: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21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36733E5-543E-709E-8D4F-593879E8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C89AA03-4E29-3CA1-9743-B42D624577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CA" dirty="0"/>
              <a:t>Array Methods – Add and Remove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AA4BA46-9FC1-2336-8180-44973C8F4C5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6E1A81-ACE7-3162-1CDF-F6C2D0E5FD3A}"/>
              </a:ext>
            </a:extLst>
          </p:cNvPr>
          <p:cNvSpPr txBox="1"/>
          <p:nvPr/>
        </p:nvSpPr>
        <p:spPr>
          <a:xfrm>
            <a:off x="960001" y="1101132"/>
            <a:ext cx="11025172" cy="486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Unshift()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unshift()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adds a new element to an array (at the beginning), and "unshifts" older elements: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["Banana",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fruits.unshift</a:t>
            </a:r>
            <a:r>
              <a:rPr lang="en-US" sz="2267" dirty="0">
                <a:latin typeface="Consolas" panose="020B0609020204030204" pitchFamily="49" charset="0"/>
              </a:rPr>
              <a:t>("Lemon");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Output 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["Lemon”, "Banana",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37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85F1C8A-0B6D-C816-EBCD-6CF9EDB9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C520DC7-1E4B-AE60-E9CE-CD46BDB45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Add and Remove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DF69D6F-F8A9-A1D1-ECAB-E1558A3F9D4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6B1D30-D284-EA51-A709-F91059038A52}"/>
              </a:ext>
            </a:extLst>
          </p:cNvPr>
          <p:cNvSpPr txBox="1"/>
          <p:nvPr/>
        </p:nvSpPr>
        <p:spPr>
          <a:xfrm>
            <a:off x="960001" y="1101132"/>
            <a:ext cx="11025172" cy="431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push()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push()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adds a new element to an array (at the end)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["Banana",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fruits.push</a:t>
            </a:r>
            <a:r>
              <a:rPr lang="en-US" sz="2267" dirty="0">
                <a:latin typeface="Consolas" panose="020B0609020204030204" pitchFamily="49" charset="0"/>
              </a:rPr>
              <a:t>("Lemon");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["Banana", "Orange", "Apple", "Mango“, "Lemon”];</a:t>
            </a:r>
            <a:br>
              <a:rPr lang="en-US" sz="2267" dirty="0">
                <a:latin typeface="Consolas" panose="020B0609020204030204" pitchFamily="49" charset="0"/>
              </a:rPr>
            </a:b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54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CF108DC-0735-7572-8B4E-2C94072F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1653B0C-E6B9-9213-60E2-E72DF4A81D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Add and Remove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B2E6140A-7987-467E-C009-B4E2A5341E85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8191F0-71B7-5AE6-95BF-F8EBC76F5C54}"/>
              </a:ext>
            </a:extLst>
          </p:cNvPr>
          <p:cNvSpPr txBox="1"/>
          <p:nvPr/>
        </p:nvSpPr>
        <p:spPr>
          <a:xfrm>
            <a:off x="960001" y="1101132"/>
            <a:ext cx="11025172" cy="486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shift()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shift()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removes the first array element and ‘shifts’ all other elements to a lower index.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["Banana",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fruits.shift</a:t>
            </a:r>
            <a:r>
              <a:rPr lang="en-US" sz="2267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["Orange", "Apple", "Mango”];</a:t>
            </a:r>
            <a:br>
              <a:rPr lang="en-US" sz="2267" dirty="0">
                <a:latin typeface="Consolas" panose="020B0609020204030204" pitchFamily="49" charset="0"/>
              </a:rPr>
            </a:b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84B1BEC-5252-2BF7-AB7C-F09477B0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DA99F29-D1BD-4881-0579-6CC7F8B86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Add and Remove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BCAC4FB-2E8C-88D8-8464-DCE073105654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89FC906-608A-538F-1B50-CCCADC8A4BBD}"/>
              </a:ext>
            </a:extLst>
          </p:cNvPr>
          <p:cNvSpPr txBox="1"/>
          <p:nvPr/>
        </p:nvSpPr>
        <p:spPr>
          <a:xfrm>
            <a:off x="960001" y="1101133"/>
            <a:ext cx="11025172" cy="379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pop()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pop()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removes the last array element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["Banana",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fruits.shift</a:t>
            </a:r>
            <a:r>
              <a:rPr lang="en-US" sz="2267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["Banana", "Orange", "Apple”];</a:t>
            </a: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34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C84D194-2ED3-01EC-D900-98FD3403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EEE1AEF-770C-6B35-A9E4-B998E4E9C8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Searching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55784F9-1384-75E3-D022-0F388216F335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016FBB-3126-7C0F-1DD5-F7DE1E4ABDF0}"/>
              </a:ext>
            </a:extLst>
          </p:cNvPr>
          <p:cNvSpPr txBox="1"/>
          <p:nvPr/>
        </p:nvSpPr>
        <p:spPr>
          <a:xfrm>
            <a:off x="960001" y="1101133"/>
            <a:ext cx="11025172" cy="3290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indexOf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searches an array for an element value and returns its position.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["Banana",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fruits.indexOf</a:t>
            </a:r>
            <a:r>
              <a:rPr lang="en-US" sz="2267" dirty="0">
                <a:latin typeface="Consolas" panose="020B0609020204030204" pitchFamily="49" charset="0"/>
              </a:rPr>
              <a:t>(“Orange”); // 1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Array.indexOf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-1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item is not found.</a:t>
            </a:r>
          </a:p>
        </p:txBody>
      </p:sp>
    </p:spTree>
    <p:extLst>
      <p:ext uri="{BB962C8B-B14F-4D97-AF65-F5344CB8AC3E}">
        <p14:creationId xmlns:p14="http://schemas.microsoft.com/office/powerpoint/2010/main" val="387720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EFD500E-00D8-945D-BC39-ECA94147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59001CE-87B6-DABE-7950-1C7789CCF8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Searching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C92018E-2DE8-2C6A-4BD0-D0C3F543B60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10B4B47-E1C8-DB40-3382-005EFFEE49A7}"/>
              </a:ext>
            </a:extLst>
          </p:cNvPr>
          <p:cNvSpPr txBox="1"/>
          <p:nvPr/>
        </p:nvSpPr>
        <p:spPr>
          <a:xfrm>
            <a:off x="960001" y="1101133"/>
            <a:ext cx="11025172" cy="3844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LastIndexOf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LastIndexOf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same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GB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returns the position of the last occurrence of the specified element.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[“Apple",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fruits.lastIndexOf</a:t>
            </a:r>
            <a:r>
              <a:rPr lang="en-US" sz="2267" dirty="0">
                <a:latin typeface="Consolas" panose="020B0609020204030204" pitchFamily="49" charset="0"/>
              </a:rPr>
              <a:t>(“Apple”); // 2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Array.LastIlndexOf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-1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item is not found.</a:t>
            </a:r>
          </a:p>
        </p:txBody>
      </p:sp>
    </p:spTree>
    <p:extLst>
      <p:ext uri="{BB962C8B-B14F-4D97-AF65-F5344CB8AC3E}">
        <p14:creationId xmlns:p14="http://schemas.microsoft.com/office/powerpoint/2010/main" val="1340592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FE24FD2-9D9C-A86C-BF0B-48AB98157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C0DD6F3-CB39-C5EB-AF41-94CC9408F9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Searching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2F7A246-AF22-8FFE-4BEC-D020069FC4C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63F7DB-7536-C619-191F-63B1C2234694}"/>
              </a:ext>
            </a:extLst>
          </p:cNvPr>
          <p:cNvSpPr txBox="1"/>
          <p:nvPr/>
        </p:nvSpPr>
        <p:spPr>
          <a:xfrm>
            <a:off x="960001" y="1101132"/>
            <a:ext cx="11025172" cy="274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includes()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includes()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that allow us to check if an element is present in an array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[“Banana",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fruits.includes</a:t>
            </a:r>
            <a:r>
              <a:rPr lang="en-US" sz="2267" dirty="0">
                <a:latin typeface="Consolas" panose="020B0609020204030204" pitchFamily="49" charset="0"/>
              </a:rPr>
              <a:t>(“Mango”); // true</a:t>
            </a:r>
          </a:p>
        </p:txBody>
      </p:sp>
    </p:spTree>
    <p:extLst>
      <p:ext uri="{BB962C8B-B14F-4D97-AF65-F5344CB8AC3E}">
        <p14:creationId xmlns:p14="http://schemas.microsoft.com/office/powerpoint/2010/main" val="3241666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F597B15-7BCA-504A-5813-71BBABAB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C4C9150-8446-8318-9DF9-B7363C3BB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Sorting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C32B7351-9ED7-C361-B223-B71273507B04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CF44E8-0DE3-D40B-560F-A2CABF71E415}"/>
              </a:ext>
            </a:extLst>
          </p:cNvPr>
          <p:cNvSpPr txBox="1"/>
          <p:nvPr/>
        </p:nvSpPr>
        <p:spPr>
          <a:xfrm>
            <a:off x="960001" y="1101132"/>
            <a:ext cx="11025172" cy="379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sort()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sort()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sorts an array alphabetically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array = [10, “</a:t>
            </a:r>
            <a:r>
              <a:rPr lang="en-US" sz="2267" dirty="0" err="1">
                <a:latin typeface="Consolas" panose="020B0609020204030204" pitchFamily="49" charset="0"/>
              </a:rPr>
              <a:t>Siciid</a:t>
            </a:r>
            <a:r>
              <a:rPr lang="en-US" sz="2267" dirty="0">
                <a:latin typeface="Consolas" panose="020B0609020204030204" pitchFamily="49" charset="0"/>
              </a:rPr>
              <a:t>”, “Mohamed”, “90”, 1000, 100, 20, -20];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array.sort</a:t>
            </a:r>
            <a:r>
              <a:rPr lang="en-US" sz="2267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[-20, 10, 100, 1000, 20, “90”, “Mohamed”, “</a:t>
            </a:r>
            <a:r>
              <a:rPr lang="en-US" sz="2267" dirty="0" err="1">
                <a:latin typeface="Consolas" panose="020B0609020204030204" pitchFamily="49" charset="0"/>
              </a:rPr>
              <a:t>Siciid</a:t>
            </a:r>
            <a:r>
              <a:rPr lang="en-US" sz="2267" dirty="0">
                <a:latin typeface="Consolas" panose="020B0609020204030204" pitchFamily="49" charset="0"/>
              </a:rPr>
              <a:t>”];</a:t>
            </a:r>
          </a:p>
        </p:txBody>
      </p:sp>
    </p:spTree>
    <p:extLst>
      <p:ext uri="{BB962C8B-B14F-4D97-AF65-F5344CB8AC3E}">
        <p14:creationId xmlns:p14="http://schemas.microsoft.com/office/powerpoint/2010/main" val="3525169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37D278AF-3191-4047-9B19-00F8D62B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BAC71A7-51EE-7755-C61D-9BD6D2C193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Sorting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2F07FB2-0912-3A62-DEF8-8AE43E6E3F56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FEDD6F-52EE-A2C0-59BA-497423FB9335}"/>
              </a:ext>
            </a:extLst>
          </p:cNvPr>
          <p:cNvSpPr txBox="1"/>
          <p:nvPr/>
        </p:nvSpPr>
        <p:spPr>
          <a:xfrm>
            <a:off x="960001" y="1101132"/>
            <a:ext cx="11025172" cy="379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reverse()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reverse()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reverses the elements in an array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array = [10, “</a:t>
            </a:r>
            <a:r>
              <a:rPr lang="en-US" sz="2267" dirty="0" err="1">
                <a:latin typeface="Consolas" panose="020B0609020204030204" pitchFamily="49" charset="0"/>
              </a:rPr>
              <a:t>Siciid</a:t>
            </a:r>
            <a:r>
              <a:rPr lang="en-US" sz="2267" dirty="0">
                <a:latin typeface="Consolas" panose="020B0609020204030204" pitchFamily="49" charset="0"/>
              </a:rPr>
              <a:t>”, “Mohamed”, “90”, 1000, 100, 20, -20];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array.reverse</a:t>
            </a:r>
            <a:r>
              <a:rPr lang="en-US" sz="2267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[-20, 20, 100, 1000, “90”, “Mohamed”, “</a:t>
            </a:r>
            <a:r>
              <a:rPr lang="en-US" sz="2267" dirty="0" err="1">
                <a:latin typeface="Consolas" panose="020B0609020204030204" pitchFamily="49" charset="0"/>
              </a:rPr>
              <a:t>Siciid</a:t>
            </a:r>
            <a:r>
              <a:rPr lang="en-US" sz="2267" dirty="0">
                <a:latin typeface="Consolas" panose="020B0609020204030204" pitchFamily="49" charset="0"/>
              </a:rPr>
              <a:t>”, 10];</a:t>
            </a:r>
          </a:p>
        </p:txBody>
      </p:sp>
    </p:spTree>
    <p:extLst>
      <p:ext uri="{BB962C8B-B14F-4D97-AF65-F5344CB8AC3E}">
        <p14:creationId xmlns:p14="http://schemas.microsoft.com/office/powerpoint/2010/main" val="1421305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C24C0F2-495C-7BE3-5760-CF3B94E3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D7EFAAA2-69E5-A6C0-C8AA-C8CB697E7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Sorting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D45DF5B7-BAE5-13D1-BDBB-49F155127C5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25E1CD-E2FF-85E3-DAFF-F34DA237BFF3}"/>
              </a:ext>
            </a:extLst>
          </p:cNvPr>
          <p:cNvSpPr txBox="1"/>
          <p:nvPr/>
        </p:nvSpPr>
        <p:spPr>
          <a:xfrm>
            <a:off x="960001" y="1101132"/>
            <a:ext cx="11025172" cy="3237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sort()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reverse()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you can sort an array in descending order: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array = [10, “</a:t>
            </a:r>
            <a:r>
              <a:rPr lang="en-US" sz="2267" dirty="0" err="1">
                <a:latin typeface="Consolas" panose="020B0609020204030204" pitchFamily="49" charset="0"/>
              </a:rPr>
              <a:t>Siciid</a:t>
            </a:r>
            <a:r>
              <a:rPr lang="en-US" sz="2267" dirty="0">
                <a:latin typeface="Consolas" panose="020B0609020204030204" pitchFamily="49" charset="0"/>
              </a:rPr>
              <a:t>”, “Mohamed”, “90”, 1000, 100, 20, -20];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array.sort</a:t>
            </a:r>
            <a:r>
              <a:rPr lang="en-US" sz="2267" dirty="0">
                <a:latin typeface="Consolas" panose="020B0609020204030204" pitchFamily="49" charset="0"/>
              </a:rPr>
              <a:t>().reverse();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[“</a:t>
            </a:r>
            <a:r>
              <a:rPr lang="en-US" sz="2267" dirty="0" err="1">
                <a:latin typeface="Consolas" panose="020B0609020204030204" pitchFamily="49" charset="0"/>
              </a:rPr>
              <a:t>Siciid</a:t>
            </a:r>
            <a:r>
              <a:rPr lang="en-US" sz="2267" dirty="0">
                <a:latin typeface="Consolas" panose="020B0609020204030204" pitchFamily="49" charset="0"/>
              </a:rPr>
              <a:t>”, “Mohamed”, “90”, 20, 1000, 100, 10, -20];</a:t>
            </a:r>
          </a:p>
        </p:txBody>
      </p:sp>
    </p:spTree>
    <p:extLst>
      <p:ext uri="{BB962C8B-B14F-4D97-AF65-F5344CB8AC3E}">
        <p14:creationId xmlns:p14="http://schemas.microsoft.com/office/powerpoint/2010/main" val="220508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6C898CC-CD2C-C8E6-A0F5-D43FD05A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F01AAFB-C66F-9382-B1A3-228AE4F55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Slicing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19B1326C-9A0A-9DEA-A224-A2525A06147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786BA41-54E5-B617-DE24-318FADB52C38}"/>
              </a:ext>
            </a:extLst>
          </p:cNvPr>
          <p:cNvSpPr txBox="1"/>
          <p:nvPr/>
        </p:nvSpPr>
        <p:spPr>
          <a:xfrm>
            <a:off x="960001" y="1101132"/>
            <a:ext cx="11025172" cy="483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Slice()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slice()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slices out a piece of an array into a new array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[“Banana",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fruits.slice</a:t>
            </a:r>
            <a:r>
              <a:rPr lang="en-US" sz="2267" dirty="0">
                <a:latin typeface="Consolas" panose="020B0609020204030204" pitchFamily="49" charset="0"/>
              </a:rPr>
              <a:t>(1);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["Orange", "Apple", "Mango"];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Note: the slice method does not remove any elements from the source array.</a:t>
            </a:r>
          </a:p>
        </p:txBody>
      </p:sp>
    </p:spTree>
    <p:extLst>
      <p:ext uri="{BB962C8B-B14F-4D97-AF65-F5344CB8AC3E}">
        <p14:creationId xmlns:p14="http://schemas.microsoft.com/office/powerpoint/2010/main" val="329151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266C320-93A4-B8A0-DEDE-2AA3AE46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2AFFCE7-CA3E-7346-403C-5FFBFBDE7E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Slicing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4ED793D-3CC5-438A-5670-A2D38BE4893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E1F8F8-C6FF-DB75-2A04-8620A87F9CDB}"/>
              </a:ext>
            </a:extLst>
          </p:cNvPr>
          <p:cNvSpPr txBox="1"/>
          <p:nvPr/>
        </p:nvSpPr>
        <p:spPr>
          <a:xfrm>
            <a:off x="960001" y="1101132"/>
            <a:ext cx="11025172" cy="486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Slice()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slice()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can take two arguments like 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slice(1, 3)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then selects elements from the start argument, and up to (but not including) the end argument.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fr-FR" sz="2267" dirty="0" err="1">
                <a:latin typeface="Consolas" panose="020B0609020204030204" pitchFamily="49" charset="0"/>
              </a:rPr>
              <a:t>const</a:t>
            </a:r>
            <a:r>
              <a:rPr lang="fr-FR" sz="2267" dirty="0">
                <a:latin typeface="Consolas" panose="020B0609020204030204" pitchFamily="49" charset="0"/>
              </a:rPr>
              <a:t> fruits = ["Banana", "Orange", "Lemon", "Apple", "Mango"];</a:t>
            </a:r>
            <a:br>
              <a:rPr lang="fr-FR" sz="2267" dirty="0">
                <a:latin typeface="Consolas" panose="020B0609020204030204" pitchFamily="49" charset="0"/>
              </a:rPr>
            </a:br>
            <a:r>
              <a:rPr lang="fr-FR" sz="2267" dirty="0" err="1">
                <a:latin typeface="Consolas" panose="020B0609020204030204" pitchFamily="49" charset="0"/>
              </a:rPr>
              <a:t>const</a:t>
            </a:r>
            <a:r>
              <a:rPr lang="fr-FR" sz="2267" dirty="0">
                <a:latin typeface="Consolas" panose="020B0609020204030204" pitchFamily="49" charset="0"/>
              </a:rPr>
              <a:t> citrus = </a:t>
            </a:r>
            <a:r>
              <a:rPr lang="fr-FR" sz="2267" dirty="0" err="1">
                <a:latin typeface="Consolas" panose="020B0609020204030204" pitchFamily="49" charset="0"/>
              </a:rPr>
              <a:t>fruits.slice</a:t>
            </a:r>
            <a:r>
              <a:rPr lang="fr-FR" sz="2267" dirty="0">
                <a:latin typeface="Consolas" panose="020B0609020204030204" pitchFamily="49" charset="0"/>
              </a:rPr>
              <a:t>(1, 3);</a:t>
            </a:r>
          </a:p>
          <a:p>
            <a:pPr>
              <a:lnSpc>
                <a:spcPct val="150000"/>
              </a:lnSpc>
            </a:pPr>
            <a:r>
              <a:rPr lang="fr-FR" sz="2267" dirty="0">
                <a:latin typeface="Consolas" panose="020B0609020204030204" pitchFamily="49" charset="0"/>
              </a:rPr>
              <a:t>Output: </a:t>
            </a:r>
            <a:endParaRPr lang="en-GB" sz="2267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[“Orange”, “Lemon”]</a:t>
            </a:r>
            <a:endParaRPr lang="fr-FR" sz="2267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920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316E5C4-786E-7E9A-922E-1FD4C4E6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E2D9226-AC5F-2533-7237-7023CB08E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Slicing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BC41CD75-9659-3004-A9C5-DBE2624954D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81C42D-1631-9E84-33E0-FD3D8DF9AE21}"/>
              </a:ext>
            </a:extLst>
          </p:cNvPr>
          <p:cNvSpPr txBox="1"/>
          <p:nvPr/>
        </p:nvSpPr>
        <p:spPr>
          <a:xfrm>
            <a:off x="960001" y="1101133"/>
            <a:ext cx="11025172" cy="526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splice()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splice()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can be used to add new items to an array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fruits = [“Banana", "Orange", "Apple", "Mango"];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 err="1">
                <a:latin typeface="Consolas" panose="020B0609020204030204" pitchFamily="49" charset="0"/>
              </a:rPr>
              <a:t>fruits.splice</a:t>
            </a:r>
            <a:r>
              <a:rPr lang="en-US" sz="2267" dirty="0">
                <a:latin typeface="Consolas" panose="020B0609020204030204" pitchFamily="49" charset="0"/>
              </a:rPr>
              <a:t>(2, 0, “Lemon”, “kiwi”);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parameter (2) defines the position where new elements should be added (spliced in).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parameter (0) defines how many elements should be removed.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rest of the parameters ("Lemon" , "Kiwi") define the new elements to be added.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Output: 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    [“Banana", "Orange", “Lemon”, “kiwi”, "Apple", "Mango"];</a:t>
            </a:r>
          </a:p>
        </p:txBody>
      </p:sp>
    </p:spTree>
    <p:extLst>
      <p:ext uri="{BB962C8B-B14F-4D97-AF65-F5344CB8AC3E}">
        <p14:creationId xmlns:p14="http://schemas.microsoft.com/office/powerpoint/2010/main" val="861273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6408BDD-8DFE-806A-E349-50C9B4D1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DEB86C3E-70A4-B5FD-D515-45084477E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Joining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C71CC852-B4BE-D25A-1C17-7174E6B89B1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1B8AD89-47FE-F150-F510-BFE4421BE3FB}"/>
              </a:ext>
            </a:extLst>
          </p:cNvPr>
          <p:cNvSpPr txBox="1"/>
          <p:nvPr/>
        </p:nvSpPr>
        <p:spPr>
          <a:xfrm>
            <a:off x="960001" y="1101132"/>
            <a:ext cx="11025172" cy="4284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concat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concat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creates a new array by merging (concatenating) existing arrays</a:t>
            </a: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const </a:t>
            </a:r>
            <a:r>
              <a:rPr lang="en-US" sz="2267" dirty="0" err="1">
                <a:latin typeface="Consolas" panose="020B0609020204030204" pitchFamily="49" charset="0"/>
              </a:rPr>
              <a:t>myGirls</a:t>
            </a:r>
            <a:r>
              <a:rPr lang="en-US" sz="2267" dirty="0">
                <a:latin typeface="Consolas" panose="020B0609020204030204" pitchFamily="49" charset="0"/>
              </a:rPr>
              <a:t> = [“Asma", “Nimco"];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>
                <a:latin typeface="Consolas" panose="020B0609020204030204" pitchFamily="49" charset="0"/>
              </a:rPr>
              <a:t>const </a:t>
            </a:r>
            <a:r>
              <a:rPr lang="en-US" sz="2267" dirty="0" err="1">
                <a:latin typeface="Consolas" panose="020B0609020204030204" pitchFamily="49" charset="0"/>
              </a:rPr>
              <a:t>myBoys</a:t>
            </a:r>
            <a:r>
              <a:rPr lang="en-US" sz="2267" dirty="0">
                <a:latin typeface="Consolas" panose="020B0609020204030204" pitchFamily="49" charset="0"/>
              </a:rPr>
              <a:t> = [“Maxamed", “Cilmi", “Yuusuf"];</a:t>
            </a:r>
            <a:br>
              <a:rPr lang="en-US" sz="2267" dirty="0">
                <a:latin typeface="Consolas" panose="020B0609020204030204" pitchFamily="49" charset="0"/>
              </a:rPr>
            </a:br>
            <a:r>
              <a:rPr lang="en-US" sz="2267" dirty="0">
                <a:latin typeface="Consolas" panose="020B0609020204030204" pitchFamily="49" charset="0"/>
              </a:rPr>
              <a:t>const </a:t>
            </a:r>
            <a:r>
              <a:rPr lang="en-US" sz="2267" dirty="0" err="1">
                <a:latin typeface="Consolas" panose="020B0609020204030204" pitchFamily="49" charset="0"/>
              </a:rPr>
              <a:t>myChildren</a:t>
            </a:r>
            <a:r>
              <a:rPr lang="en-US" sz="2267" dirty="0">
                <a:latin typeface="Consolas" panose="020B0609020204030204" pitchFamily="49" charset="0"/>
              </a:rPr>
              <a:t> = </a:t>
            </a:r>
            <a:r>
              <a:rPr lang="en-US" sz="2267" dirty="0" err="1">
                <a:latin typeface="Consolas" panose="020B0609020204030204" pitchFamily="49" charset="0"/>
              </a:rPr>
              <a:t>myGirls.concat</a:t>
            </a:r>
            <a:r>
              <a:rPr lang="en-US" sz="2267" dirty="0">
                <a:latin typeface="Consolas" panose="020B0609020204030204" pitchFamily="49" charset="0"/>
              </a:rPr>
              <a:t>(</a:t>
            </a:r>
            <a:r>
              <a:rPr lang="en-US" sz="2267" dirty="0" err="1">
                <a:latin typeface="Consolas" panose="020B0609020204030204" pitchFamily="49" charset="0"/>
              </a:rPr>
              <a:t>myBoys</a:t>
            </a:r>
            <a:r>
              <a:rPr lang="en-US" sz="2267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[“Asma", “Nimco”, “Maxamed", “Cilmi", “Yuusuf”];</a:t>
            </a:r>
            <a:endParaRPr lang="fr-FR" sz="2267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488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5E8CFAB-E8AB-BCED-3DD2-C36F6D80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AE48BC5E-7715-2A67-6B33-386A0F52D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Joining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1A108AEE-C0D0-AD25-0204-03ACD27DF5A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74E04DA-4AE2-AF0B-7A63-96BDFE267C68}"/>
              </a:ext>
            </a:extLst>
          </p:cNvPr>
          <p:cNvSpPr txBox="1"/>
          <p:nvPr/>
        </p:nvSpPr>
        <p:spPr>
          <a:xfrm>
            <a:off x="960001" y="1101133"/>
            <a:ext cx="11025172" cy="4988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concat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concat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can take any number of array arguments</a:t>
            </a: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Example 2: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const arr1 = [“Asma", “Axmed"];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const arr2 = [“Ali", “</a:t>
            </a:r>
            <a:r>
              <a:rPr lang="en-US" sz="2400" dirty="0" err="1">
                <a:latin typeface="Consolas" panose="020B0609020204030204" pitchFamily="49" charset="0"/>
              </a:rPr>
              <a:t>Xamda</a:t>
            </a:r>
            <a:r>
              <a:rPr lang="en-US" sz="2400" dirty="0">
                <a:latin typeface="Consolas" panose="020B0609020204030204" pitchFamily="49" charset="0"/>
              </a:rPr>
              <a:t>", “Muuse"];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const arr3 = [“Layla", “Muna"];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const </a:t>
            </a:r>
            <a:r>
              <a:rPr lang="en-US" sz="2400" dirty="0" err="1">
                <a:latin typeface="Consolas" panose="020B0609020204030204" pitchFamily="49" charset="0"/>
              </a:rPr>
              <a:t>myChildren</a:t>
            </a:r>
            <a:r>
              <a:rPr lang="en-US" sz="2400" dirty="0">
                <a:latin typeface="Consolas" panose="020B0609020204030204" pitchFamily="49" charset="0"/>
              </a:rPr>
              <a:t> = arr1.concat(arr2, arr3);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[“Asma", “Axmed”, “Ali", “</a:t>
            </a:r>
            <a:r>
              <a:rPr lang="en-US" sz="2400" dirty="0" err="1">
                <a:latin typeface="Consolas" panose="020B0609020204030204" pitchFamily="49" charset="0"/>
              </a:rPr>
              <a:t>Xamda</a:t>
            </a:r>
            <a:r>
              <a:rPr lang="en-US" sz="2400" dirty="0">
                <a:latin typeface="Consolas" panose="020B0609020204030204" pitchFamily="49" charset="0"/>
              </a:rPr>
              <a:t>", “Muuse”, “Layla", “Muna"]</a:t>
            </a:r>
            <a:endParaRPr lang="fr-FR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670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74A952A-5BC2-0C5C-FCC4-4A0B8E9C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A73E5E4-3CF5-BBD7-6B8F-6E798A251B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Joining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47FF2BE-C6B0-8931-FBE6-5D11E1D13A35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C6C055F-1FCA-6740-E52E-58D9638BC47E}"/>
              </a:ext>
            </a:extLst>
          </p:cNvPr>
          <p:cNvSpPr txBox="1"/>
          <p:nvPr/>
        </p:nvSpPr>
        <p:spPr>
          <a:xfrm>
            <a:off x="960001" y="1101133"/>
            <a:ext cx="11025172" cy="443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concat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concat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can also take strings as arguments</a:t>
            </a: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Example 3: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const arr1 = [“Asma", “Axmed"];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const arr2 = [“Ali", “</a:t>
            </a:r>
            <a:r>
              <a:rPr lang="en-US" sz="2400" dirty="0" err="1">
                <a:latin typeface="Consolas" panose="020B0609020204030204" pitchFamily="49" charset="0"/>
              </a:rPr>
              <a:t>Xamda</a:t>
            </a:r>
            <a:r>
              <a:rPr lang="en-US" sz="2400" dirty="0">
                <a:latin typeface="Consolas" panose="020B0609020204030204" pitchFamily="49" charset="0"/>
              </a:rPr>
              <a:t>", “Muuse"];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const </a:t>
            </a:r>
            <a:r>
              <a:rPr lang="en-US" sz="2400" dirty="0" err="1">
                <a:latin typeface="Consolas" panose="020B0609020204030204" pitchFamily="49" charset="0"/>
              </a:rPr>
              <a:t>myChildren</a:t>
            </a:r>
            <a:r>
              <a:rPr lang="en-US" sz="2400" dirty="0">
                <a:latin typeface="Consolas" panose="020B0609020204030204" pitchFamily="49" charset="0"/>
              </a:rPr>
              <a:t> = arr1.concat(arr2, “Layla", “Muna”);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[“Asma", “Axmed”, “Ali", “</a:t>
            </a:r>
            <a:r>
              <a:rPr lang="en-US" sz="2400" dirty="0" err="1">
                <a:latin typeface="Consolas" panose="020B0609020204030204" pitchFamily="49" charset="0"/>
              </a:rPr>
              <a:t>Xamda</a:t>
            </a:r>
            <a:r>
              <a:rPr lang="en-US" sz="2400" dirty="0">
                <a:latin typeface="Consolas" panose="020B0609020204030204" pitchFamily="49" charset="0"/>
              </a:rPr>
              <a:t>", “Muuse”, “Layla", “Muna"]</a:t>
            </a:r>
            <a:endParaRPr lang="fr-FR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971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46AC32A-97C8-1128-BA5E-9A584DD99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AD38CBB7-5295-BF22-340B-40EA7EA82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Joining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4773199C-9D70-F782-BF53-DA8803B743D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1DDD92-3650-0FB2-0D01-12C28D9E7B26}"/>
              </a:ext>
            </a:extLst>
          </p:cNvPr>
          <p:cNvSpPr txBox="1"/>
          <p:nvPr/>
        </p:nvSpPr>
        <p:spPr>
          <a:xfrm>
            <a:off x="960001" y="1101133"/>
            <a:ext cx="11025172" cy="38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join()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join()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that joins all array elements into a String</a:t>
            </a: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const </a:t>
            </a:r>
            <a:r>
              <a:rPr lang="en-US" sz="2400" dirty="0" err="1">
                <a:latin typeface="Consolas" panose="020B0609020204030204" pitchFamily="49" charset="0"/>
              </a:rPr>
              <a:t>arr</a:t>
            </a:r>
            <a:r>
              <a:rPr lang="en-US" sz="2400" dirty="0">
                <a:latin typeface="Consolas" panose="020B0609020204030204" pitchFamily="49" charset="0"/>
              </a:rPr>
              <a:t> = [“Asma", “Axmed”, “Ali", “</a:t>
            </a:r>
            <a:r>
              <a:rPr lang="en-US" sz="2400" dirty="0" err="1">
                <a:latin typeface="Consolas" panose="020B0609020204030204" pitchFamily="49" charset="0"/>
              </a:rPr>
              <a:t>Xamda</a:t>
            </a:r>
            <a:r>
              <a:rPr lang="en-US" sz="2400" dirty="0">
                <a:latin typeface="Consolas" panose="020B0609020204030204" pitchFamily="49" charset="0"/>
              </a:rPr>
              <a:t>", “Muuse”];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onsolas" panose="020B0609020204030204" pitchFamily="49" charset="0"/>
              </a:rPr>
              <a:t>arr.join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onsolas" panose="020B0609020204030204" pitchFamily="49" charset="0"/>
              </a:rPr>
              <a:t>Asma,Axmed,Ali,Xamda,Muuse</a:t>
            </a:r>
            <a:endParaRPr lang="fr-FR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82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7EB057C-D642-E7EA-DD94-392CD440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1C1CCBC-713A-6BA5-6212-BC0D84DC0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Array Methods – Joining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D02F945-6027-22AF-2278-4FD921A41CC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87A8F86-984C-2B0D-1F35-0C54F6F8D3E9}"/>
              </a:ext>
            </a:extLst>
          </p:cNvPr>
          <p:cNvSpPr txBox="1"/>
          <p:nvPr/>
        </p:nvSpPr>
        <p:spPr>
          <a:xfrm>
            <a:off x="960001" y="1101132"/>
            <a:ext cx="11025172" cy="33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join()</a:t>
            </a:r>
          </a:p>
          <a:p>
            <a:pPr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Example 2: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const </a:t>
            </a:r>
            <a:r>
              <a:rPr lang="en-US" sz="2400" dirty="0" err="1">
                <a:latin typeface="Consolas" panose="020B0609020204030204" pitchFamily="49" charset="0"/>
              </a:rPr>
              <a:t>arr</a:t>
            </a:r>
            <a:r>
              <a:rPr lang="en-US" sz="2400" dirty="0">
                <a:latin typeface="Consolas" panose="020B0609020204030204" pitchFamily="49" charset="0"/>
              </a:rPr>
              <a:t> = [“Asma", “Axmed”, “Ali", “</a:t>
            </a:r>
            <a:r>
              <a:rPr lang="en-US" sz="2400" dirty="0" err="1">
                <a:latin typeface="Consolas" panose="020B0609020204030204" pitchFamily="49" charset="0"/>
              </a:rPr>
              <a:t>Xamda</a:t>
            </a:r>
            <a:r>
              <a:rPr lang="en-US" sz="2400" dirty="0">
                <a:latin typeface="Consolas" panose="020B0609020204030204" pitchFamily="49" charset="0"/>
              </a:rPr>
              <a:t>", “Muuse”];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onsolas" panose="020B0609020204030204" pitchFamily="49" charset="0"/>
              </a:rPr>
              <a:t>arr.join</a:t>
            </a:r>
            <a:r>
              <a:rPr lang="en-US" sz="2400" dirty="0">
                <a:latin typeface="Consolas" panose="020B0609020204030204" pitchFamily="49" charset="0"/>
              </a:rPr>
              <a:t>(“ * ”);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Asma * Axmed * Ali * </a:t>
            </a:r>
            <a:r>
              <a:rPr lang="en-US" sz="2400" dirty="0" err="1">
                <a:latin typeface="Consolas" panose="020B0609020204030204" pitchFamily="49" charset="0"/>
              </a:rPr>
              <a:t>Xamda</a:t>
            </a:r>
            <a:r>
              <a:rPr lang="en-US" sz="2400" dirty="0">
                <a:latin typeface="Consolas" panose="020B0609020204030204" pitchFamily="49" charset="0"/>
              </a:rPr>
              <a:t> * Muuse</a:t>
            </a:r>
            <a:endParaRPr lang="fr-FR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297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95E17F3-50C9-9EEB-CB62-2B23DAB9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6597CDD-60EB-316F-E317-892C3AD41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Strict Mode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CB16206F-92D3-4E9C-3E38-61A132C3CC7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27F61A9-B13F-06C8-1918-7575D3B70577}"/>
              </a:ext>
            </a:extLst>
          </p:cNvPr>
          <p:cNvSpPr txBox="1"/>
          <p:nvPr/>
        </p:nvSpPr>
        <p:spPr>
          <a:xfrm>
            <a:off x="960001" y="1101132"/>
            <a:ext cx="11025172" cy="498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mode helps you write better and safer JavaScript code.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tells the computer: “Be careful! Check my code for mistakes.”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turn on Strict Mode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write this line at the top of your JavaScript file or function: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"use strict";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strict mode is on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it easier to find error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you avoid common mistakes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your code be more secure.</a:t>
            </a:r>
          </a:p>
        </p:txBody>
      </p:sp>
    </p:spTree>
    <p:extLst>
      <p:ext uri="{BB962C8B-B14F-4D97-AF65-F5344CB8AC3E}">
        <p14:creationId xmlns:p14="http://schemas.microsoft.com/office/powerpoint/2010/main" val="1774705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1533</Words>
  <Application>Microsoft Office PowerPoint</Application>
  <PresentationFormat>Widescreen</PresentationFormat>
  <Paragraphs>166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Office Theme</vt:lpstr>
      <vt:lpstr>PowerPoint Presentation</vt:lpstr>
      <vt:lpstr>What we Cover Today:</vt:lpstr>
      <vt:lpstr>Array</vt:lpstr>
      <vt:lpstr>Array</vt:lpstr>
      <vt:lpstr>Array Methods</vt:lpstr>
      <vt:lpstr>Array Methods – Add and Remove</vt:lpstr>
      <vt:lpstr>Array Methods – Add and Remove</vt:lpstr>
      <vt:lpstr>Array Methods – Add and Remove</vt:lpstr>
      <vt:lpstr>Array Methods – Add and Remove</vt:lpstr>
      <vt:lpstr>Array Methods – Searching</vt:lpstr>
      <vt:lpstr>Array Methods – Searching</vt:lpstr>
      <vt:lpstr>Array Methods – Searching</vt:lpstr>
      <vt:lpstr>Array Methods – Sorting</vt:lpstr>
      <vt:lpstr>Array Methods – Sorting</vt:lpstr>
      <vt:lpstr>Array Methods – Sorting</vt:lpstr>
      <vt:lpstr>Array Methods – Slicing</vt:lpstr>
      <vt:lpstr>Array Methods – Slicing</vt:lpstr>
      <vt:lpstr>Array Methods – Slicing</vt:lpstr>
      <vt:lpstr>Array Methods – Joining</vt:lpstr>
      <vt:lpstr>Array Methods – Joining</vt:lpstr>
      <vt:lpstr>Array Methods – Joining</vt:lpstr>
      <vt:lpstr>Array Methods – Joining</vt:lpstr>
      <vt:lpstr>Array Methods – Joining</vt:lpstr>
      <vt:lpstr>Strict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2</cp:revision>
  <dcterms:created xsi:type="dcterms:W3CDTF">2025-12-15T16:31:44Z</dcterms:created>
  <dcterms:modified xsi:type="dcterms:W3CDTF">2026-02-14T16:10:25Z</dcterms:modified>
</cp:coreProperties>
</file>