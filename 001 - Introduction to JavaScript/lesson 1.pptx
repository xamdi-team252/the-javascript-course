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6" r:id="rId2"/>
    <p:sldId id="885" r:id="rId3"/>
    <p:sldId id="891" r:id="rId4"/>
    <p:sldId id="846" r:id="rId5"/>
    <p:sldId id="892" r:id="rId6"/>
    <p:sldId id="261" r:id="rId7"/>
    <p:sldId id="855" r:id="rId8"/>
    <p:sldId id="297" r:id="rId9"/>
    <p:sldId id="298" r:id="rId10"/>
    <p:sldId id="325" r:id="rId11"/>
    <p:sldId id="300" r:id="rId12"/>
    <p:sldId id="301" r:id="rId13"/>
    <p:sldId id="302" r:id="rId14"/>
    <p:sldId id="303" r:id="rId15"/>
    <p:sldId id="305" r:id="rId16"/>
    <p:sldId id="306" r:id="rId17"/>
    <p:sldId id="307" r:id="rId18"/>
    <p:sldId id="308" r:id="rId19"/>
    <p:sldId id="309" r:id="rId20"/>
    <p:sldId id="263" r:id="rId21"/>
    <p:sldId id="310" r:id="rId22"/>
    <p:sldId id="311" r:id="rId23"/>
    <p:sldId id="299" r:id="rId24"/>
    <p:sldId id="859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89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DA88FC-5802-4C66-8A1D-1CDBCE49DD18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6BB6F8-8770-4693-AD41-0194542591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9459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52929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2B624E-7855-9C09-B82C-32C6C6D43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578AA8-5ED0-EB8E-107C-913AF5800B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1B828B-AAAB-E3D2-2B30-0F5673FBF6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11427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146402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>
          <a:extLst>
            <a:ext uri="{FF2B5EF4-FFF2-40B4-BE49-F238E27FC236}">
              <a16:creationId xmlns:a16="http://schemas.microsoft.com/office/drawing/2014/main" id="{02B10BA3-896C-7390-06E9-A83EEA016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54dda1946d_6_332:notes">
            <a:extLst>
              <a:ext uri="{FF2B5EF4-FFF2-40B4-BE49-F238E27FC236}">
                <a16:creationId xmlns:a16="http://schemas.microsoft.com/office/drawing/2014/main" id="{B12AB61F-FC8D-9C3F-FB81-80C01DAAEC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54dda1946d_6_332:notes">
            <a:extLst>
              <a:ext uri="{FF2B5EF4-FFF2-40B4-BE49-F238E27FC236}">
                <a16:creationId xmlns:a16="http://schemas.microsoft.com/office/drawing/2014/main" id="{EC66D3C0-A2DA-FCDE-0E25-9865BF7E48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673822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>
          <a:extLst>
            <a:ext uri="{FF2B5EF4-FFF2-40B4-BE49-F238E27FC236}">
              <a16:creationId xmlns:a16="http://schemas.microsoft.com/office/drawing/2014/main" id="{BE6EFC89-9BA7-48BD-9E69-DA3D339C1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54dda1946d_6_332:notes">
            <a:extLst>
              <a:ext uri="{FF2B5EF4-FFF2-40B4-BE49-F238E27FC236}">
                <a16:creationId xmlns:a16="http://schemas.microsoft.com/office/drawing/2014/main" id="{4B393284-4AAC-1D2D-6F07-2C27666753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54dda1946d_6_332:notes">
            <a:extLst>
              <a:ext uri="{FF2B5EF4-FFF2-40B4-BE49-F238E27FC236}">
                <a16:creationId xmlns:a16="http://schemas.microsoft.com/office/drawing/2014/main" id="{C8ADFF77-36DF-B44F-4FD5-678CD8997A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395272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>
          <a:extLst>
            <a:ext uri="{FF2B5EF4-FFF2-40B4-BE49-F238E27FC236}">
              <a16:creationId xmlns:a16="http://schemas.microsoft.com/office/drawing/2014/main" id="{62A4EFF1-5354-9EF7-D246-14CCE7EC91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54dda1946d_6_332:notes">
            <a:extLst>
              <a:ext uri="{FF2B5EF4-FFF2-40B4-BE49-F238E27FC236}">
                <a16:creationId xmlns:a16="http://schemas.microsoft.com/office/drawing/2014/main" id="{F4EED81C-2B36-F6B7-842D-116BECF0E09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54dda1946d_6_332:notes">
            <a:extLst>
              <a:ext uri="{FF2B5EF4-FFF2-40B4-BE49-F238E27FC236}">
                <a16:creationId xmlns:a16="http://schemas.microsoft.com/office/drawing/2014/main" id="{AAD788D3-84B9-D95D-46B2-7DCB576612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491779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>
          <a:extLst>
            <a:ext uri="{FF2B5EF4-FFF2-40B4-BE49-F238E27FC236}">
              <a16:creationId xmlns:a16="http://schemas.microsoft.com/office/drawing/2014/main" id="{F43EAA69-7E5B-91BE-2D34-17E4D847F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54dda1946d_6_332:notes">
            <a:extLst>
              <a:ext uri="{FF2B5EF4-FFF2-40B4-BE49-F238E27FC236}">
                <a16:creationId xmlns:a16="http://schemas.microsoft.com/office/drawing/2014/main" id="{3B147FB4-F0C0-42E8-2AC6-BFA5BF47C5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54dda1946d_6_332:notes">
            <a:extLst>
              <a:ext uri="{FF2B5EF4-FFF2-40B4-BE49-F238E27FC236}">
                <a16:creationId xmlns:a16="http://schemas.microsoft.com/office/drawing/2014/main" id="{EE7116BD-1BF7-D024-A5E0-53A40882B8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749949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>
          <a:extLst>
            <a:ext uri="{FF2B5EF4-FFF2-40B4-BE49-F238E27FC236}">
              <a16:creationId xmlns:a16="http://schemas.microsoft.com/office/drawing/2014/main" id="{C30C9257-D144-5EF6-4276-CAC9F6672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54dda1946d_6_332:notes">
            <a:extLst>
              <a:ext uri="{FF2B5EF4-FFF2-40B4-BE49-F238E27FC236}">
                <a16:creationId xmlns:a16="http://schemas.microsoft.com/office/drawing/2014/main" id="{88BF7F34-96B2-B412-65C0-28671CDF84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54dda1946d_6_332:notes">
            <a:extLst>
              <a:ext uri="{FF2B5EF4-FFF2-40B4-BE49-F238E27FC236}">
                <a16:creationId xmlns:a16="http://schemas.microsoft.com/office/drawing/2014/main" id="{094F2300-B042-6BF5-A8B7-96538E22502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933843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>
          <a:extLst>
            <a:ext uri="{FF2B5EF4-FFF2-40B4-BE49-F238E27FC236}">
              <a16:creationId xmlns:a16="http://schemas.microsoft.com/office/drawing/2014/main" id="{D728E56F-E640-F4C1-DC6C-B7B551333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54dda1946d_6_332:notes">
            <a:extLst>
              <a:ext uri="{FF2B5EF4-FFF2-40B4-BE49-F238E27FC236}">
                <a16:creationId xmlns:a16="http://schemas.microsoft.com/office/drawing/2014/main" id="{3C02BB78-6982-D47C-F57D-B39A02D483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54dda1946d_6_332:notes">
            <a:extLst>
              <a:ext uri="{FF2B5EF4-FFF2-40B4-BE49-F238E27FC236}">
                <a16:creationId xmlns:a16="http://schemas.microsoft.com/office/drawing/2014/main" id="{54487981-E147-341D-6A18-A4BC2FE311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876310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D5494A3B-0B0F-8219-FA26-CFF90E8CE2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d431007ba2_0_208:notes">
            <a:extLst>
              <a:ext uri="{FF2B5EF4-FFF2-40B4-BE49-F238E27FC236}">
                <a16:creationId xmlns:a16="http://schemas.microsoft.com/office/drawing/2014/main" id="{66F19421-E338-E871-0269-C395262401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d431007ba2_0_208:notes">
            <a:extLst>
              <a:ext uri="{FF2B5EF4-FFF2-40B4-BE49-F238E27FC236}">
                <a16:creationId xmlns:a16="http://schemas.microsoft.com/office/drawing/2014/main" id="{70BE5C42-1ABD-4486-38C3-B2FC4574A07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270274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34B651A0-4A6F-FE38-D5CF-DF2120E79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d431007ba2_0_208:notes">
            <a:extLst>
              <a:ext uri="{FF2B5EF4-FFF2-40B4-BE49-F238E27FC236}">
                <a16:creationId xmlns:a16="http://schemas.microsoft.com/office/drawing/2014/main" id="{184CDC50-9ADA-5527-F5BB-8FBB7BF72C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d431007ba2_0_208:notes">
            <a:extLst>
              <a:ext uri="{FF2B5EF4-FFF2-40B4-BE49-F238E27FC236}">
                <a16:creationId xmlns:a16="http://schemas.microsoft.com/office/drawing/2014/main" id="{736C9A40-6C0D-E43D-9314-E5744FA6D0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9414305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579CF00F-7749-0987-C21D-448BF20B6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d431007ba2_0_208:notes">
            <a:extLst>
              <a:ext uri="{FF2B5EF4-FFF2-40B4-BE49-F238E27FC236}">
                <a16:creationId xmlns:a16="http://schemas.microsoft.com/office/drawing/2014/main" id="{BC965523-5031-ACA3-848F-97295F3F38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d431007ba2_0_208:notes">
            <a:extLst>
              <a:ext uri="{FF2B5EF4-FFF2-40B4-BE49-F238E27FC236}">
                <a16:creationId xmlns:a16="http://schemas.microsoft.com/office/drawing/2014/main" id="{E5665460-14D2-A0F7-67CE-FC96FF7B44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4344787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43919961-898D-1939-6DAF-267BEEAE7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d431007ba2_0_208:notes">
            <a:extLst>
              <a:ext uri="{FF2B5EF4-FFF2-40B4-BE49-F238E27FC236}">
                <a16:creationId xmlns:a16="http://schemas.microsoft.com/office/drawing/2014/main" id="{2968341D-FB25-EE79-7809-DA996C8332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d431007ba2_0_208:notes">
            <a:extLst>
              <a:ext uri="{FF2B5EF4-FFF2-40B4-BE49-F238E27FC236}">
                <a16:creationId xmlns:a16="http://schemas.microsoft.com/office/drawing/2014/main" id="{67B9F9D5-D48F-24E8-841F-4732D53EE9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1419362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CB681910-6DBE-C110-608D-9C7FF30A19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d431007ba2_0_208:notes">
            <a:extLst>
              <a:ext uri="{FF2B5EF4-FFF2-40B4-BE49-F238E27FC236}">
                <a16:creationId xmlns:a16="http://schemas.microsoft.com/office/drawing/2014/main" id="{85941D4B-AEC4-3EFC-5288-0DC7841B39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d431007ba2_0_208:notes">
            <a:extLst>
              <a:ext uri="{FF2B5EF4-FFF2-40B4-BE49-F238E27FC236}">
                <a16:creationId xmlns:a16="http://schemas.microsoft.com/office/drawing/2014/main" id="{6B5DD5AE-34AC-E9B3-9353-B5040BA1B9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6232738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1B843AE6-23E1-603A-56CE-DCE4BD039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d431007ba2_0_208:notes">
            <a:extLst>
              <a:ext uri="{FF2B5EF4-FFF2-40B4-BE49-F238E27FC236}">
                <a16:creationId xmlns:a16="http://schemas.microsoft.com/office/drawing/2014/main" id="{248FD3C4-15C7-A9FD-D962-BC79560AF4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d431007ba2_0_208:notes">
            <a:extLst>
              <a:ext uri="{FF2B5EF4-FFF2-40B4-BE49-F238E27FC236}">
                <a16:creationId xmlns:a16="http://schemas.microsoft.com/office/drawing/2014/main" id="{C666EF2F-EB02-B731-8352-9D9E99D968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5409019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50BEA715-F9CD-45F6-9B8E-D6B3BA042E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d431007ba2_0_208:notes">
            <a:extLst>
              <a:ext uri="{FF2B5EF4-FFF2-40B4-BE49-F238E27FC236}">
                <a16:creationId xmlns:a16="http://schemas.microsoft.com/office/drawing/2014/main" id="{574C816F-A890-599A-C23A-62F8638908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d431007ba2_0_208:notes">
            <a:extLst>
              <a:ext uri="{FF2B5EF4-FFF2-40B4-BE49-F238E27FC236}">
                <a16:creationId xmlns:a16="http://schemas.microsoft.com/office/drawing/2014/main" id="{1167F480-E74F-933E-6794-76B4B00437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7012267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184d99d1a72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184d99d1a72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>
          <a:extLst>
            <a:ext uri="{FF2B5EF4-FFF2-40B4-BE49-F238E27FC236}">
              <a16:creationId xmlns:a16="http://schemas.microsoft.com/office/drawing/2014/main" id="{A69AB956-741F-9B1D-5300-783BE178B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184d99d1a72_0_57:notes">
            <a:extLst>
              <a:ext uri="{FF2B5EF4-FFF2-40B4-BE49-F238E27FC236}">
                <a16:creationId xmlns:a16="http://schemas.microsoft.com/office/drawing/2014/main" id="{6D0457B9-27FB-AC7D-7907-54E239D37F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184d99d1a72_0_57:notes">
            <a:extLst>
              <a:ext uri="{FF2B5EF4-FFF2-40B4-BE49-F238E27FC236}">
                <a16:creationId xmlns:a16="http://schemas.microsoft.com/office/drawing/2014/main" id="{A0E50246-EE6F-DC3E-B2F5-1FB9F76226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360687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>
          <a:extLst>
            <a:ext uri="{FF2B5EF4-FFF2-40B4-BE49-F238E27FC236}">
              <a16:creationId xmlns:a16="http://schemas.microsoft.com/office/drawing/2014/main" id="{3E59B963-581B-2A41-4367-514E81AE5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184d99d1a72_0_57:notes">
            <a:extLst>
              <a:ext uri="{FF2B5EF4-FFF2-40B4-BE49-F238E27FC236}">
                <a16:creationId xmlns:a16="http://schemas.microsoft.com/office/drawing/2014/main" id="{B9F7C03A-B77F-B41E-F934-61063A02DB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184d99d1a72_0_57:notes">
            <a:extLst>
              <a:ext uri="{FF2B5EF4-FFF2-40B4-BE49-F238E27FC236}">
                <a16:creationId xmlns:a16="http://schemas.microsoft.com/office/drawing/2014/main" id="{F47D41A2-1344-E994-8E81-7057511B9D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8497682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>
          <a:extLst>
            <a:ext uri="{FF2B5EF4-FFF2-40B4-BE49-F238E27FC236}">
              <a16:creationId xmlns:a16="http://schemas.microsoft.com/office/drawing/2014/main" id="{8F90A308-52AB-6A14-0AF3-D54394B30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54dda1946d_6_332:notes">
            <a:extLst>
              <a:ext uri="{FF2B5EF4-FFF2-40B4-BE49-F238E27FC236}">
                <a16:creationId xmlns:a16="http://schemas.microsoft.com/office/drawing/2014/main" id="{5399FB14-E8D6-3D29-A89E-7B6B47C4E1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54dda1946d_6_332:notes">
            <a:extLst>
              <a:ext uri="{FF2B5EF4-FFF2-40B4-BE49-F238E27FC236}">
                <a16:creationId xmlns:a16="http://schemas.microsoft.com/office/drawing/2014/main" id="{E0B07A5F-A14F-40E6-4933-08CE189F2D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516177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>
          <a:extLst>
            <a:ext uri="{FF2B5EF4-FFF2-40B4-BE49-F238E27FC236}">
              <a16:creationId xmlns:a16="http://schemas.microsoft.com/office/drawing/2014/main" id="{A377096A-139F-3E7D-6ACD-923DA55B69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54dda1946d_6_332:notes">
            <a:extLst>
              <a:ext uri="{FF2B5EF4-FFF2-40B4-BE49-F238E27FC236}">
                <a16:creationId xmlns:a16="http://schemas.microsoft.com/office/drawing/2014/main" id="{1977DABD-AA1D-7B7D-B4EE-5473F47A5A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54dda1946d_6_332:notes">
            <a:extLst>
              <a:ext uri="{FF2B5EF4-FFF2-40B4-BE49-F238E27FC236}">
                <a16:creationId xmlns:a16="http://schemas.microsoft.com/office/drawing/2014/main" id="{06019B90-17EB-F0C3-24D7-4CFC05F0F3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941622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FF54A-642A-E7B8-8990-B6CF8D8658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7A3792-7397-917C-D93C-63AF586286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DBBA3D-D829-524F-0DCF-355592EEB4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EBFEA-3F2A-4D64-BC2C-09648635EE98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71FEE6-4150-43B5-4C6A-E4BA59EF2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664348-4BA9-A3A8-3E10-89AF984B1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28754-4905-4A15-B467-30580A824F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666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3C889-30F8-469E-D295-99F7D3B1D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814AF5-451B-0B5C-C4BC-A41C8F67E9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91D73C-3B0B-0DBC-B812-6EE519282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EBFEA-3F2A-4D64-BC2C-09648635EE98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A21D46-CE7F-9D97-F0B7-0554DE7FA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3F94E7-A20B-4BFF-7DC0-CAA69D2D7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28754-4905-4A15-B467-30580A824F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190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F3130-7159-CBEA-7E55-F158B8625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A8F43F-314E-5FF7-7D36-5F4F366AE9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DE1E73-C063-C06B-E75B-471A29D96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EBFEA-3F2A-4D64-BC2C-09648635EE98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1059F1-C6DD-6B62-7264-AE816A862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E7FE02-7658-2303-49ED-2CE762E14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28754-4905-4A15-B467-30580A824F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4250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B0028-0266-C0EC-4241-7AE683588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32B16C-FC85-0FF7-6EAE-D77E767453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3C49D0-30EF-D6CB-2064-4F4751BC3C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BB2A44-F678-48F9-E28F-4E5AAC3C2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EBFEA-3F2A-4D64-BC2C-09648635EE98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CF3FF9-72EA-C362-A156-EB3144D7B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53B354-F9B7-417D-22DB-3CAEEBAC8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28754-4905-4A15-B467-30580A824F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072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6FF02-3783-0816-BB0D-B5CC33949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ED3295-C63A-59F6-78BC-6C11FB513E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F930BE-C313-5366-B2DA-5E06B51A53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F77500-C90F-937C-A574-B185EF18A9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8CF931-6959-983B-187A-93537B224C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780907-7562-17D1-49DF-96D49D691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EBFEA-3F2A-4D64-BC2C-09648635EE98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36D5A28-D570-6DB5-B261-A26F2CABF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953D1AD-B806-CED8-E193-61FB6FA81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28754-4905-4A15-B467-30580A824F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6034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2BD80-3DFE-A7B1-ACBE-27B0C728D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1C4288-C624-EEAF-3634-C3FA12332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EBFEA-3F2A-4D64-BC2C-09648635EE98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74F906-7031-7987-C1B8-E0468A088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2AF1D2-B1E7-E3EF-4BF4-08152C576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28754-4905-4A15-B467-30580A824F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3164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A54A14-7ED6-4467-3E62-C1D5CB7F1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EBFEA-3F2A-4D64-BC2C-09648635EE98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BF68D0-BCBF-5F65-DEAB-0AA787FEE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BB3793-D54F-F13C-E81E-7DAAC7D73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28754-4905-4A15-B467-30580A824F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483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51C94-2F1A-828E-B98C-B4B45DAF29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BDD02-77CC-DE70-BBF7-A86714A954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835F53-46E4-C594-E11B-16E75FA559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02E5C5-4FC1-BB78-D0A9-6D05D04FF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EBFEA-3F2A-4D64-BC2C-09648635EE98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FEE054-AD15-4326-12C9-43A738113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14C151-BB9A-0DB6-5ADD-767AF9608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28754-4905-4A15-B467-30580A824F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8247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0B540-3E65-54F0-B15C-1E4E2F5BB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0F82BC-FBB2-9FF3-A1C2-0A7D655A27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9566CA-E94E-AED1-1451-284DFCDC9F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5A0DD7-5D81-411C-7E37-9550A8EBC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EBFEA-3F2A-4D64-BC2C-09648635EE98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47675E-D46B-60EC-2701-A2D4739F5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BF02F6-5C17-96A9-277D-FCD7EAADF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28754-4905-4A15-B467-30580A824F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6332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A2D74-268B-14E4-E179-462FB0450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EE164A-13FD-EBFA-D3A0-03CAD3CAC2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D2A0C4-7747-D477-FC96-E36865F6F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EBFEA-3F2A-4D64-BC2C-09648635EE98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B906F8-8079-1EDC-6FE7-17843233D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5B8A16-0199-BBB3-DFD7-355D93A16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28754-4905-4A15-B467-30580A824F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8024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1B9689E-0C67-91C0-5838-213BA1E926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2EBE36-92D7-8119-5CFB-3F3C1F9E91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6F6F08-5B91-2F9D-EF6D-B0629FF59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EBFEA-3F2A-4D64-BC2C-09648635EE98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AD57DD-B71C-3A65-620B-CA2594F4B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E5FC13-20E3-B27A-8288-98AC3FC18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28754-4905-4A15-B467-30580A824F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4875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960000" y="1621000"/>
            <a:ext cx="10272000" cy="52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iro Light"/>
              <a:buChar char="●"/>
              <a:defRPr/>
            </a:lvl1pPr>
            <a:lvl2pPr marL="1219170" lvl="1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iro Light"/>
              <a:buChar char="○"/>
              <a:defRPr/>
            </a:lvl2pPr>
            <a:lvl3pPr marL="1828754" lvl="2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iro Light"/>
              <a:buChar char="■"/>
              <a:defRPr/>
            </a:lvl3pPr>
            <a:lvl4pPr marL="2438339" lvl="3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iro Light"/>
              <a:buChar char="●"/>
              <a:defRPr/>
            </a:lvl4pPr>
            <a:lvl5pPr marL="3047924" lvl="4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iro Light"/>
              <a:buChar char="○"/>
              <a:defRPr/>
            </a:lvl5pPr>
            <a:lvl6pPr marL="3657509" lvl="5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iro Light"/>
              <a:buChar char="■"/>
              <a:defRPr/>
            </a:lvl6pPr>
            <a:lvl7pPr marL="4267093" lvl="6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iro Light"/>
              <a:buChar char="●"/>
              <a:defRPr/>
            </a:lvl7pPr>
            <a:lvl8pPr marL="4876678" lvl="7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iro Light"/>
              <a:buChar char="○"/>
              <a:defRPr/>
            </a:lvl8pPr>
            <a:lvl9pPr marL="5486263" lvl="8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iro Light"/>
              <a:buChar char="■"/>
              <a:defRPr/>
            </a:lvl9pPr>
          </a:lstStyle>
          <a:p>
            <a:endParaRPr/>
          </a:p>
        </p:txBody>
      </p:sp>
      <p:grpSp>
        <p:nvGrpSpPr>
          <p:cNvPr id="23" name="Google Shape;23;p4"/>
          <p:cNvGrpSpPr/>
          <p:nvPr/>
        </p:nvGrpSpPr>
        <p:grpSpPr>
          <a:xfrm>
            <a:off x="168" y="0"/>
            <a:ext cx="12191833" cy="161200"/>
            <a:chOff x="125" y="0"/>
            <a:chExt cx="9143875" cy="120900"/>
          </a:xfrm>
        </p:grpSpPr>
        <p:sp>
          <p:nvSpPr>
            <p:cNvPr id="24" name="Google Shape;24;p4"/>
            <p:cNvSpPr/>
            <p:nvPr/>
          </p:nvSpPr>
          <p:spPr>
            <a:xfrm flipH="1">
              <a:off x="654900" y="0"/>
              <a:ext cx="8489100" cy="120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25" name="Google Shape;25;p4"/>
            <p:cNvSpPr/>
            <p:nvPr/>
          </p:nvSpPr>
          <p:spPr>
            <a:xfrm flipH="1">
              <a:off x="125" y="0"/>
              <a:ext cx="713100" cy="120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Cairo"/>
                <a:ea typeface="Cairo"/>
                <a:cs typeface="Cairo"/>
                <a:sym typeface="Cairo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167888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7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7"/>
          <p:cNvSpPr txBox="1">
            <a:spLocks noGrp="1"/>
          </p:cNvSpPr>
          <p:nvPr>
            <p:ph type="title" idx="2" hasCustomPrompt="1"/>
          </p:nvPr>
        </p:nvSpPr>
        <p:spPr>
          <a:xfrm>
            <a:off x="2072412" y="1860800"/>
            <a:ext cx="1040800" cy="829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t>xx%</a:t>
            </a:r>
          </a:p>
        </p:txBody>
      </p:sp>
      <p:sp>
        <p:nvSpPr>
          <p:cNvPr id="103" name="Google Shape;103;p17"/>
          <p:cNvSpPr txBox="1">
            <a:spLocks noGrp="1"/>
          </p:cNvSpPr>
          <p:nvPr>
            <p:ph type="title" idx="3" hasCustomPrompt="1"/>
          </p:nvPr>
        </p:nvSpPr>
        <p:spPr>
          <a:xfrm>
            <a:off x="2072412" y="4065739"/>
            <a:ext cx="1040800" cy="829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t>xx%</a:t>
            </a:r>
          </a:p>
        </p:txBody>
      </p:sp>
      <p:sp>
        <p:nvSpPr>
          <p:cNvPr id="104" name="Google Shape;104;p17"/>
          <p:cNvSpPr txBox="1">
            <a:spLocks noGrp="1"/>
          </p:cNvSpPr>
          <p:nvPr>
            <p:ph type="title" idx="4" hasCustomPrompt="1"/>
          </p:nvPr>
        </p:nvSpPr>
        <p:spPr>
          <a:xfrm>
            <a:off x="5580116" y="1860800"/>
            <a:ext cx="1040800" cy="829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t>xx%</a:t>
            </a:r>
          </a:p>
        </p:txBody>
      </p:sp>
      <p:sp>
        <p:nvSpPr>
          <p:cNvPr id="105" name="Google Shape;105;p17"/>
          <p:cNvSpPr txBox="1">
            <a:spLocks noGrp="1"/>
          </p:cNvSpPr>
          <p:nvPr>
            <p:ph type="title" idx="5" hasCustomPrompt="1"/>
          </p:nvPr>
        </p:nvSpPr>
        <p:spPr>
          <a:xfrm>
            <a:off x="5580116" y="4065739"/>
            <a:ext cx="1040800" cy="829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t>xx%</a:t>
            </a:r>
          </a:p>
        </p:txBody>
      </p:sp>
      <p:sp>
        <p:nvSpPr>
          <p:cNvPr id="106" name="Google Shape;106;p17"/>
          <p:cNvSpPr txBox="1">
            <a:spLocks noGrp="1"/>
          </p:cNvSpPr>
          <p:nvPr>
            <p:ph type="title" idx="6" hasCustomPrompt="1"/>
          </p:nvPr>
        </p:nvSpPr>
        <p:spPr>
          <a:xfrm>
            <a:off x="9087853" y="1860800"/>
            <a:ext cx="1040800" cy="829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t>xx%</a:t>
            </a:r>
          </a:p>
        </p:txBody>
      </p:sp>
      <p:sp>
        <p:nvSpPr>
          <p:cNvPr id="107" name="Google Shape;107;p17"/>
          <p:cNvSpPr txBox="1">
            <a:spLocks noGrp="1"/>
          </p:cNvSpPr>
          <p:nvPr>
            <p:ph type="title" idx="7" hasCustomPrompt="1"/>
          </p:nvPr>
        </p:nvSpPr>
        <p:spPr>
          <a:xfrm>
            <a:off x="9087853" y="4065739"/>
            <a:ext cx="1040800" cy="829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t>xx%</a:t>
            </a:r>
          </a:p>
        </p:txBody>
      </p:sp>
      <p:sp>
        <p:nvSpPr>
          <p:cNvPr id="108" name="Google Shape;108;p17"/>
          <p:cNvSpPr txBox="1">
            <a:spLocks noGrp="1"/>
          </p:cNvSpPr>
          <p:nvPr>
            <p:ph type="subTitle" idx="1"/>
          </p:nvPr>
        </p:nvSpPr>
        <p:spPr>
          <a:xfrm>
            <a:off x="960000" y="2893600"/>
            <a:ext cx="3265600" cy="5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endParaRPr/>
          </a:p>
        </p:txBody>
      </p:sp>
      <p:sp>
        <p:nvSpPr>
          <p:cNvPr id="109" name="Google Shape;109;p17"/>
          <p:cNvSpPr txBox="1">
            <a:spLocks noGrp="1"/>
          </p:cNvSpPr>
          <p:nvPr>
            <p:ph type="subTitle" idx="8"/>
          </p:nvPr>
        </p:nvSpPr>
        <p:spPr>
          <a:xfrm>
            <a:off x="4467704" y="2893600"/>
            <a:ext cx="3265600" cy="5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endParaRPr/>
          </a:p>
        </p:txBody>
      </p:sp>
      <p:sp>
        <p:nvSpPr>
          <p:cNvPr id="110" name="Google Shape;110;p17"/>
          <p:cNvSpPr txBox="1">
            <a:spLocks noGrp="1"/>
          </p:cNvSpPr>
          <p:nvPr>
            <p:ph type="subTitle" idx="9"/>
          </p:nvPr>
        </p:nvSpPr>
        <p:spPr>
          <a:xfrm>
            <a:off x="7975441" y="2893600"/>
            <a:ext cx="3265600" cy="5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endParaRPr/>
          </a:p>
        </p:txBody>
      </p:sp>
      <p:sp>
        <p:nvSpPr>
          <p:cNvPr id="111" name="Google Shape;111;p17"/>
          <p:cNvSpPr txBox="1">
            <a:spLocks noGrp="1"/>
          </p:cNvSpPr>
          <p:nvPr>
            <p:ph type="subTitle" idx="13"/>
          </p:nvPr>
        </p:nvSpPr>
        <p:spPr>
          <a:xfrm>
            <a:off x="960000" y="5098533"/>
            <a:ext cx="3265600" cy="5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endParaRPr/>
          </a:p>
        </p:txBody>
      </p:sp>
      <p:sp>
        <p:nvSpPr>
          <p:cNvPr id="112" name="Google Shape;112;p17"/>
          <p:cNvSpPr txBox="1">
            <a:spLocks noGrp="1"/>
          </p:cNvSpPr>
          <p:nvPr>
            <p:ph type="subTitle" idx="14"/>
          </p:nvPr>
        </p:nvSpPr>
        <p:spPr>
          <a:xfrm>
            <a:off x="4467704" y="5098533"/>
            <a:ext cx="3265600" cy="5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endParaRPr/>
          </a:p>
        </p:txBody>
      </p:sp>
      <p:sp>
        <p:nvSpPr>
          <p:cNvPr id="113" name="Google Shape;113;p17"/>
          <p:cNvSpPr txBox="1">
            <a:spLocks noGrp="1"/>
          </p:cNvSpPr>
          <p:nvPr>
            <p:ph type="subTitle" idx="15"/>
          </p:nvPr>
        </p:nvSpPr>
        <p:spPr>
          <a:xfrm>
            <a:off x="7975441" y="5098533"/>
            <a:ext cx="3265600" cy="5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endParaRPr/>
          </a:p>
        </p:txBody>
      </p:sp>
      <p:grpSp>
        <p:nvGrpSpPr>
          <p:cNvPr id="114" name="Google Shape;114;p17"/>
          <p:cNvGrpSpPr/>
          <p:nvPr/>
        </p:nvGrpSpPr>
        <p:grpSpPr>
          <a:xfrm>
            <a:off x="-15" y="-16"/>
            <a:ext cx="161217" cy="6862784"/>
            <a:chOff x="-12" y="-12"/>
            <a:chExt cx="120913" cy="5147088"/>
          </a:xfrm>
        </p:grpSpPr>
        <p:sp>
          <p:nvSpPr>
            <p:cNvPr id="115" name="Google Shape;115;p17"/>
            <p:cNvSpPr/>
            <p:nvPr/>
          </p:nvSpPr>
          <p:spPr>
            <a:xfrm rot="5400000" flipH="1">
              <a:off x="-2185650" y="2840525"/>
              <a:ext cx="4492200" cy="120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116" name="Google Shape;116;p17"/>
            <p:cNvSpPr/>
            <p:nvPr/>
          </p:nvSpPr>
          <p:spPr>
            <a:xfrm rot="5400000" flipH="1">
              <a:off x="-296112" y="296088"/>
              <a:ext cx="713100" cy="120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Cairo"/>
                <a:ea typeface="Cairo"/>
                <a:cs typeface="Cairo"/>
                <a:sym typeface="Cairo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06843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ubTitle" idx="1"/>
          </p:nvPr>
        </p:nvSpPr>
        <p:spPr>
          <a:xfrm>
            <a:off x="6564183" y="3633000"/>
            <a:ext cx="3340800" cy="205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subTitle" idx="2"/>
          </p:nvPr>
        </p:nvSpPr>
        <p:spPr>
          <a:xfrm>
            <a:off x="2287017" y="3633000"/>
            <a:ext cx="3340800" cy="205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ubTitle" idx="3"/>
          </p:nvPr>
        </p:nvSpPr>
        <p:spPr>
          <a:xfrm>
            <a:off x="2287017" y="3137801"/>
            <a:ext cx="3340800" cy="59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subTitle" idx="4"/>
          </p:nvPr>
        </p:nvSpPr>
        <p:spPr>
          <a:xfrm>
            <a:off x="6564184" y="3137801"/>
            <a:ext cx="3340800" cy="59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endParaRPr/>
          </a:p>
        </p:txBody>
      </p:sp>
      <p:grpSp>
        <p:nvGrpSpPr>
          <p:cNvPr id="34" name="Google Shape;34;p5"/>
          <p:cNvGrpSpPr/>
          <p:nvPr/>
        </p:nvGrpSpPr>
        <p:grpSpPr>
          <a:xfrm>
            <a:off x="-15" y="-16"/>
            <a:ext cx="161217" cy="6862784"/>
            <a:chOff x="-12" y="-12"/>
            <a:chExt cx="120913" cy="5147088"/>
          </a:xfrm>
        </p:grpSpPr>
        <p:sp>
          <p:nvSpPr>
            <p:cNvPr id="35" name="Google Shape;35;p5"/>
            <p:cNvSpPr/>
            <p:nvPr/>
          </p:nvSpPr>
          <p:spPr>
            <a:xfrm rot="5400000" flipH="1">
              <a:off x="-2185650" y="2840525"/>
              <a:ext cx="4492200" cy="120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36" name="Google Shape;36;p5"/>
            <p:cNvSpPr/>
            <p:nvPr/>
          </p:nvSpPr>
          <p:spPr>
            <a:xfrm rot="5400000" flipH="1">
              <a:off x="-296112" y="296088"/>
              <a:ext cx="713100" cy="120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Cairo"/>
                <a:ea typeface="Cairo"/>
                <a:cs typeface="Cairo"/>
                <a:sym typeface="Cairo"/>
              </a:endParaRPr>
            </a:p>
          </p:txBody>
        </p:sp>
      </p:grpSp>
      <p:cxnSp>
        <p:nvCxnSpPr>
          <p:cNvPr id="37" name="Google Shape;37;p5"/>
          <p:cNvCxnSpPr/>
          <p:nvPr/>
        </p:nvCxnSpPr>
        <p:spPr>
          <a:xfrm rot="10800000">
            <a:off x="10668000" y="719333"/>
            <a:ext cx="1524000" cy="0"/>
          </a:xfrm>
          <a:prstGeom prst="straightConnector1">
            <a:avLst/>
          </a:prstGeom>
          <a:noFill/>
          <a:ln w="9525" cap="flat" cmpd="sng">
            <a:solidFill>
              <a:srgbClr val="FFC000"/>
            </a:solidFill>
            <a:prstDash val="solid"/>
            <a:round/>
            <a:headEnd type="none" w="med" len="med"/>
            <a:tailEnd type="oval" w="med" len="med"/>
          </a:ln>
        </p:spPr>
      </p:cxnSp>
    </p:spTree>
    <p:extLst>
      <p:ext uri="{BB962C8B-B14F-4D97-AF65-F5344CB8AC3E}">
        <p14:creationId xmlns:p14="http://schemas.microsoft.com/office/powerpoint/2010/main" val="37104100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9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19"/>
          <p:cNvSpPr txBox="1">
            <a:spLocks noGrp="1"/>
          </p:cNvSpPr>
          <p:nvPr>
            <p:ph type="subTitle" idx="1"/>
          </p:nvPr>
        </p:nvSpPr>
        <p:spPr>
          <a:xfrm>
            <a:off x="1438967" y="2343921"/>
            <a:ext cx="4116000" cy="145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19"/>
          <p:cNvSpPr txBox="1">
            <a:spLocks noGrp="1"/>
          </p:cNvSpPr>
          <p:nvPr>
            <p:ph type="subTitle" idx="2"/>
          </p:nvPr>
        </p:nvSpPr>
        <p:spPr>
          <a:xfrm>
            <a:off x="6637024" y="2343921"/>
            <a:ext cx="4116000" cy="145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19"/>
          <p:cNvSpPr txBox="1">
            <a:spLocks noGrp="1"/>
          </p:cNvSpPr>
          <p:nvPr>
            <p:ph type="subTitle" idx="3"/>
          </p:nvPr>
        </p:nvSpPr>
        <p:spPr>
          <a:xfrm>
            <a:off x="1438967" y="4498467"/>
            <a:ext cx="4116000" cy="145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19"/>
          <p:cNvSpPr txBox="1">
            <a:spLocks noGrp="1"/>
          </p:cNvSpPr>
          <p:nvPr>
            <p:ph type="subTitle" idx="4"/>
          </p:nvPr>
        </p:nvSpPr>
        <p:spPr>
          <a:xfrm>
            <a:off x="6637024" y="4498467"/>
            <a:ext cx="4116000" cy="145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19"/>
          <p:cNvSpPr txBox="1">
            <a:spLocks noGrp="1"/>
          </p:cNvSpPr>
          <p:nvPr>
            <p:ph type="subTitle" idx="5"/>
          </p:nvPr>
        </p:nvSpPr>
        <p:spPr>
          <a:xfrm>
            <a:off x="1438967" y="1848717"/>
            <a:ext cx="4116000" cy="59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endParaRPr/>
          </a:p>
        </p:txBody>
      </p:sp>
      <p:sp>
        <p:nvSpPr>
          <p:cNvPr id="136" name="Google Shape;136;p19"/>
          <p:cNvSpPr txBox="1">
            <a:spLocks noGrp="1"/>
          </p:cNvSpPr>
          <p:nvPr>
            <p:ph type="subTitle" idx="6"/>
          </p:nvPr>
        </p:nvSpPr>
        <p:spPr>
          <a:xfrm>
            <a:off x="1438967" y="3998139"/>
            <a:ext cx="4116000" cy="59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endParaRPr/>
          </a:p>
        </p:txBody>
      </p:sp>
      <p:sp>
        <p:nvSpPr>
          <p:cNvPr id="137" name="Google Shape;137;p19"/>
          <p:cNvSpPr txBox="1">
            <a:spLocks noGrp="1"/>
          </p:cNvSpPr>
          <p:nvPr>
            <p:ph type="subTitle" idx="7"/>
          </p:nvPr>
        </p:nvSpPr>
        <p:spPr>
          <a:xfrm>
            <a:off x="6636987" y="1848717"/>
            <a:ext cx="4116000" cy="59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endParaRPr/>
          </a:p>
        </p:txBody>
      </p:sp>
      <p:sp>
        <p:nvSpPr>
          <p:cNvPr id="138" name="Google Shape;138;p19"/>
          <p:cNvSpPr txBox="1">
            <a:spLocks noGrp="1"/>
          </p:cNvSpPr>
          <p:nvPr>
            <p:ph type="subTitle" idx="8"/>
          </p:nvPr>
        </p:nvSpPr>
        <p:spPr>
          <a:xfrm>
            <a:off x="6637000" y="3998133"/>
            <a:ext cx="4116000" cy="59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endParaRPr/>
          </a:p>
        </p:txBody>
      </p:sp>
      <p:grpSp>
        <p:nvGrpSpPr>
          <p:cNvPr id="139" name="Google Shape;139;p19"/>
          <p:cNvGrpSpPr/>
          <p:nvPr/>
        </p:nvGrpSpPr>
        <p:grpSpPr>
          <a:xfrm>
            <a:off x="12030785" y="-16"/>
            <a:ext cx="161217" cy="6862784"/>
            <a:chOff x="-12" y="-12"/>
            <a:chExt cx="120913" cy="5147088"/>
          </a:xfrm>
        </p:grpSpPr>
        <p:sp>
          <p:nvSpPr>
            <p:cNvPr id="140" name="Google Shape;140;p19"/>
            <p:cNvSpPr/>
            <p:nvPr/>
          </p:nvSpPr>
          <p:spPr>
            <a:xfrm rot="5400000" flipH="1">
              <a:off x="-2185650" y="2840525"/>
              <a:ext cx="4492200" cy="120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141" name="Google Shape;141;p19"/>
            <p:cNvSpPr/>
            <p:nvPr/>
          </p:nvSpPr>
          <p:spPr>
            <a:xfrm rot="5400000" flipH="1">
              <a:off x="-296112" y="296088"/>
              <a:ext cx="713100" cy="120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Cairo"/>
                <a:ea typeface="Cairo"/>
                <a:cs typeface="Cairo"/>
                <a:sym typeface="Cairo"/>
              </a:endParaRPr>
            </a:p>
          </p:txBody>
        </p:sp>
      </p:grpSp>
      <p:cxnSp>
        <p:nvCxnSpPr>
          <p:cNvPr id="142" name="Google Shape;142;p19"/>
          <p:cNvCxnSpPr/>
          <p:nvPr/>
        </p:nvCxnSpPr>
        <p:spPr>
          <a:xfrm>
            <a:off x="0" y="6138667"/>
            <a:ext cx="1524000" cy="0"/>
          </a:xfrm>
          <a:prstGeom prst="straightConnector1">
            <a:avLst/>
          </a:prstGeom>
          <a:noFill/>
          <a:ln w="9525" cap="flat" cmpd="sng">
            <a:solidFill>
              <a:srgbClr val="FFC000"/>
            </a:solidFill>
            <a:prstDash val="solid"/>
            <a:round/>
            <a:headEnd type="none" w="med" len="med"/>
            <a:tailEnd type="oval" w="med" len="med"/>
          </a:ln>
        </p:spPr>
      </p:cxnSp>
    </p:spTree>
    <p:extLst>
      <p:ext uri="{BB962C8B-B14F-4D97-AF65-F5344CB8AC3E}">
        <p14:creationId xmlns:p14="http://schemas.microsoft.com/office/powerpoint/2010/main" val="37677283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3F9077-BCBF-7172-D1F2-FD43DF508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B94FD9-871D-5879-5843-D6EC47B85F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F8D4ED-1DBA-FC0B-6159-EB191F98E2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1EBFEA-3F2A-4D64-BC2C-09648635EE98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B1E9EF-C2A9-F176-5412-EA85290893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AF292A-E777-FA85-45CF-FB5AEB948B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828754-4905-4A15-B467-30580A824F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7479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ebp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53796" y="4290004"/>
            <a:ext cx="2323408" cy="2473848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8"/>
          <p:cNvSpPr txBox="1">
            <a:spLocks noGrp="1"/>
          </p:cNvSpPr>
          <p:nvPr>
            <p:ph type="ctrTitle"/>
          </p:nvPr>
        </p:nvSpPr>
        <p:spPr>
          <a:xfrm>
            <a:off x="950967" y="2544730"/>
            <a:ext cx="5330000" cy="1195439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 algn="l">
              <a:spcBef>
                <a:spcPts val="0"/>
              </a:spcBef>
            </a:pPr>
            <a:r>
              <a:rPr lang="en" dirty="0"/>
              <a:t>JavaScript</a:t>
            </a:r>
            <a:endParaRPr dirty="0"/>
          </a:p>
        </p:txBody>
      </p:sp>
      <p:cxnSp>
        <p:nvCxnSpPr>
          <p:cNvPr id="207" name="Google Shape;207;p28"/>
          <p:cNvCxnSpPr/>
          <p:nvPr/>
        </p:nvCxnSpPr>
        <p:spPr>
          <a:xfrm>
            <a:off x="-79947" y="3715551"/>
            <a:ext cx="3039600" cy="0"/>
          </a:xfrm>
          <a:prstGeom prst="straightConnector1">
            <a:avLst/>
          </a:prstGeom>
          <a:noFill/>
          <a:ln w="9525" cap="flat" cmpd="sng">
            <a:solidFill>
              <a:srgbClr val="FFC000"/>
            </a:solidFill>
            <a:prstDash val="solid"/>
            <a:round/>
            <a:headEnd type="none" w="med" len="med"/>
            <a:tailEnd type="oval" w="med" len="med"/>
          </a:ln>
        </p:spPr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0B90A3AC-C930-0BAF-5EA7-3912871BDC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6908" y="1404704"/>
            <a:ext cx="4048593" cy="404859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4C796-3A84-2F50-0AE0-751A861BF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4395"/>
            <a:ext cx="12192000" cy="763600"/>
          </a:xfrm>
          <a:solidFill>
            <a:srgbClr val="FFFF00"/>
          </a:solidFill>
        </p:spPr>
        <p:txBody>
          <a:bodyPr/>
          <a:lstStyle/>
          <a:p>
            <a:r>
              <a:rPr lang="en-CA" dirty="0"/>
              <a:t>Table of Contents:</a:t>
            </a:r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8FC6AFF-9809-8D4E-E65D-121D2F47EA59}"/>
              </a:ext>
            </a:extLst>
          </p:cNvPr>
          <p:cNvGrpSpPr/>
          <p:nvPr/>
        </p:nvGrpSpPr>
        <p:grpSpPr>
          <a:xfrm>
            <a:off x="206830" y="1035786"/>
            <a:ext cx="4125685" cy="401128"/>
            <a:chOff x="155122" y="776839"/>
            <a:chExt cx="3094264" cy="300846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57259674-7058-A35D-65F6-DD5A191C6D3A}"/>
                </a:ext>
              </a:extLst>
            </p:cNvPr>
            <p:cNvSpPr/>
            <p:nvPr/>
          </p:nvSpPr>
          <p:spPr>
            <a:xfrm>
              <a:off x="155122" y="783771"/>
              <a:ext cx="293914" cy="293914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sz="2000" b="1" dirty="0">
                  <a:solidFill>
                    <a:schemeClr val="tx1"/>
                  </a:solidFill>
                </a:rPr>
                <a:t>1</a:t>
              </a:r>
              <a:endParaRPr lang="en-US" sz="2000" b="1" dirty="0">
                <a:solidFill>
                  <a:schemeClr val="tx1"/>
                </a:solidFill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3BA3396-944B-61F6-3A44-74249CF0CC3E}"/>
                </a:ext>
              </a:extLst>
            </p:cNvPr>
            <p:cNvSpPr txBox="1"/>
            <p:nvPr/>
          </p:nvSpPr>
          <p:spPr>
            <a:xfrm>
              <a:off x="449036" y="776839"/>
              <a:ext cx="2800350" cy="3000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2000" dirty="0"/>
                <a:t>Introduction to JavaScript</a:t>
              </a:r>
              <a:endParaRPr lang="en-US" sz="2000" dirty="0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29563A01-2986-FBDC-716D-A3125BA8AD51}"/>
              </a:ext>
            </a:extLst>
          </p:cNvPr>
          <p:cNvGrpSpPr/>
          <p:nvPr/>
        </p:nvGrpSpPr>
        <p:grpSpPr>
          <a:xfrm>
            <a:off x="206830" y="1613189"/>
            <a:ext cx="4125685" cy="401128"/>
            <a:chOff x="155122" y="776839"/>
            <a:chExt cx="3094264" cy="300846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66234412-0DE2-5534-BEA5-9C20496005E0}"/>
                </a:ext>
              </a:extLst>
            </p:cNvPr>
            <p:cNvSpPr/>
            <p:nvPr/>
          </p:nvSpPr>
          <p:spPr>
            <a:xfrm>
              <a:off x="155122" y="783771"/>
              <a:ext cx="293914" cy="293914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sz="2000" b="1" dirty="0">
                  <a:solidFill>
                    <a:schemeClr val="tx1"/>
                  </a:solidFill>
                </a:rPr>
                <a:t>2</a:t>
              </a:r>
              <a:endParaRPr lang="en-US" sz="2000" b="1" dirty="0">
                <a:solidFill>
                  <a:schemeClr val="tx1"/>
                </a:solidFill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91D45E2-1B1F-B00E-4B4C-959A064612D1}"/>
                </a:ext>
              </a:extLst>
            </p:cNvPr>
            <p:cNvSpPr txBox="1"/>
            <p:nvPr/>
          </p:nvSpPr>
          <p:spPr>
            <a:xfrm>
              <a:off x="449036" y="776839"/>
              <a:ext cx="2800350" cy="3000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sz="2000" dirty="0"/>
                <a:t>Data Types and Variables</a:t>
              </a:r>
              <a:endParaRPr lang="en-US" sz="2000" dirty="0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4DCBAD7-DF17-D11E-475F-44E5C7CA9880}"/>
              </a:ext>
            </a:extLst>
          </p:cNvPr>
          <p:cNvGrpSpPr/>
          <p:nvPr/>
        </p:nvGrpSpPr>
        <p:grpSpPr>
          <a:xfrm>
            <a:off x="206830" y="2190593"/>
            <a:ext cx="4125685" cy="401128"/>
            <a:chOff x="155122" y="776839"/>
            <a:chExt cx="3094264" cy="300846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4FD135A5-F36A-118F-3150-D8F7FE3C33CD}"/>
                </a:ext>
              </a:extLst>
            </p:cNvPr>
            <p:cNvSpPr/>
            <p:nvPr/>
          </p:nvSpPr>
          <p:spPr>
            <a:xfrm>
              <a:off x="155122" y="783771"/>
              <a:ext cx="293914" cy="293914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sz="2000" b="1" dirty="0">
                  <a:solidFill>
                    <a:schemeClr val="tx1"/>
                  </a:solidFill>
                </a:rPr>
                <a:t>3</a:t>
              </a:r>
              <a:endParaRPr lang="en-US" sz="2000" b="1" dirty="0">
                <a:solidFill>
                  <a:schemeClr val="tx1"/>
                </a:solidFill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F3372B4-A574-F7C3-D9A2-B42D5FA88226}"/>
                </a:ext>
              </a:extLst>
            </p:cNvPr>
            <p:cNvSpPr txBox="1"/>
            <p:nvPr/>
          </p:nvSpPr>
          <p:spPr>
            <a:xfrm>
              <a:off x="449036" y="776839"/>
              <a:ext cx="2800350" cy="3000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2000" dirty="0"/>
                <a:t>String in JavaScript</a:t>
              </a:r>
              <a:endParaRPr lang="en-US" sz="2000" dirty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AF39DB0-16C4-96BF-1BDC-2D5068C75F76}"/>
              </a:ext>
            </a:extLst>
          </p:cNvPr>
          <p:cNvGrpSpPr/>
          <p:nvPr/>
        </p:nvGrpSpPr>
        <p:grpSpPr>
          <a:xfrm>
            <a:off x="206830" y="2767994"/>
            <a:ext cx="4125685" cy="401128"/>
            <a:chOff x="155122" y="776839"/>
            <a:chExt cx="3094264" cy="300846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2923C462-9FC6-4109-01DC-BA29039457FC}"/>
                </a:ext>
              </a:extLst>
            </p:cNvPr>
            <p:cNvSpPr/>
            <p:nvPr/>
          </p:nvSpPr>
          <p:spPr>
            <a:xfrm>
              <a:off x="155122" y="783771"/>
              <a:ext cx="293914" cy="293914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sz="2000" b="1" dirty="0">
                  <a:solidFill>
                    <a:schemeClr val="tx1"/>
                  </a:solidFill>
                </a:rPr>
                <a:t>4</a:t>
              </a:r>
              <a:endParaRPr lang="en-US" sz="2000" b="1" dirty="0">
                <a:solidFill>
                  <a:schemeClr val="tx1"/>
                </a:solidFill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0390164-AC39-2D6F-4BBA-95BF86A706F6}"/>
                </a:ext>
              </a:extLst>
            </p:cNvPr>
            <p:cNvSpPr txBox="1"/>
            <p:nvPr/>
          </p:nvSpPr>
          <p:spPr>
            <a:xfrm>
              <a:off x="449036" y="776839"/>
              <a:ext cx="2800350" cy="3000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2000" dirty="0"/>
                <a:t>Operators in JavaScript</a:t>
              </a:r>
              <a:endParaRPr lang="en-US" sz="2000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CAF2B45-4C37-916C-107D-B7C9A65828AA}"/>
              </a:ext>
            </a:extLst>
          </p:cNvPr>
          <p:cNvGrpSpPr/>
          <p:nvPr/>
        </p:nvGrpSpPr>
        <p:grpSpPr>
          <a:xfrm>
            <a:off x="206830" y="3345397"/>
            <a:ext cx="4125685" cy="401128"/>
            <a:chOff x="155122" y="776839"/>
            <a:chExt cx="3094264" cy="300846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99C9A241-9534-3D3B-3130-5074D4D3AEA3}"/>
                </a:ext>
              </a:extLst>
            </p:cNvPr>
            <p:cNvSpPr/>
            <p:nvPr/>
          </p:nvSpPr>
          <p:spPr>
            <a:xfrm>
              <a:off x="155122" y="783771"/>
              <a:ext cx="293914" cy="293914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sz="2000" b="1" dirty="0">
                  <a:solidFill>
                    <a:schemeClr val="tx1"/>
                  </a:solidFill>
                </a:rPr>
                <a:t>5</a:t>
              </a:r>
              <a:endParaRPr lang="en-US" sz="2000" b="1" dirty="0">
                <a:solidFill>
                  <a:schemeClr val="tx1"/>
                </a:solidFill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16F7B973-DAB1-EFA9-756D-1E8267138404}"/>
                </a:ext>
              </a:extLst>
            </p:cNvPr>
            <p:cNvSpPr txBox="1"/>
            <p:nvPr/>
          </p:nvSpPr>
          <p:spPr>
            <a:xfrm>
              <a:off x="449036" y="776839"/>
              <a:ext cx="2800350" cy="3000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2000" dirty="0"/>
                <a:t>Numbers and Number Methods</a:t>
              </a:r>
              <a:endParaRPr lang="en-US" sz="2000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D320179-B24F-2569-1DA3-3915CAF6AD0A}"/>
              </a:ext>
            </a:extLst>
          </p:cNvPr>
          <p:cNvGrpSpPr/>
          <p:nvPr/>
        </p:nvGrpSpPr>
        <p:grpSpPr>
          <a:xfrm>
            <a:off x="206830" y="3922801"/>
            <a:ext cx="4332513" cy="401128"/>
            <a:chOff x="155122" y="776839"/>
            <a:chExt cx="3249385" cy="300846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48C7D16F-8F88-96AB-58C8-EFB593D608D9}"/>
                </a:ext>
              </a:extLst>
            </p:cNvPr>
            <p:cNvSpPr/>
            <p:nvPr/>
          </p:nvSpPr>
          <p:spPr>
            <a:xfrm>
              <a:off x="155122" y="783771"/>
              <a:ext cx="293914" cy="293914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sz="2000" b="1" dirty="0">
                  <a:solidFill>
                    <a:schemeClr val="tx1"/>
                  </a:solidFill>
                </a:rPr>
                <a:t>6</a:t>
              </a:r>
              <a:endParaRPr lang="en-US" sz="2000" b="1" dirty="0">
                <a:solidFill>
                  <a:schemeClr val="tx1"/>
                </a:solidFill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BCF3867-C668-E4C4-0479-1B3A292AE891}"/>
                </a:ext>
              </a:extLst>
            </p:cNvPr>
            <p:cNvSpPr txBox="1"/>
            <p:nvPr/>
          </p:nvSpPr>
          <p:spPr>
            <a:xfrm>
              <a:off x="449036" y="776839"/>
              <a:ext cx="2955471" cy="3000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2000" dirty="0"/>
                <a:t>String Methods</a:t>
              </a:r>
              <a:endParaRPr lang="en-US" sz="2000" dirty="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760E447-E05C-4848-9E9C-65E2F0B52AF8}"/>
              </a:ext>
            </a:extLst>
          </p:cNvPr>
          <p:cNvGrpSpPr/>
          <p:nvPr/>
        </p:nvGrpSpPr>
        <p:grpSpPr>
          <a:xfrm>
            <a:off x="206830" y="4500202"/>
            <a:ext cx="4125685" cy="401128"/>
            <a:chOff x="155122" y="776839"/>
            <a:chExt cx="3094264" cy="300846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726D72BE-6767-CC87-F08E-65A933E8D046}"/>
                </a:ext>
              </a:extLst>
            </p:cNvPr>
            <p:cNvSpPr/>
            <p:nvPr/>
          </p:nvSpPr>
          <p:spPr>
            <a:xfrm>
              <a:off x="155122" y="783771"/>
              <a:ext cx="293914" cy="293914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sz="2000" b="1" dirty="0">
                  <a:solidFill>
                    <a:schemeClr val="tx1"/>
                  </a:solidFill>
                </a:rPr>
                <a:t>7</a:t>
              </a:r>
              <a:endParaRPr lang="en-US" sz="2000" b="1" dirty="0">
                <a:solidFill>
                  <a:schemeClr val="tx1"/>
                </a:solidFill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BB09CE1-6383-CBB1-51E4-4C325A0FCBE5}"/>
                </a:ext>
              </a:extLst>
            </p:cNvPr>
            <p:cNvSpPr txBox="1"/>
            <p:nvPr/>
          </p:nvSpPr>
          <p:spPr>
            <a:xfrm>
              <a:off x="449036" y="776839"/>
              <a:ext cx="2800350" cy="3000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2000" dirty="0"/>
                <a:t>Conditional Statements</a:t>
              </a:r>
              <a:endParaRPr lang="en-US" sz="2000" dirty="0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867D389A-D9D4-896B-CAF0-56F87541A064}"/>
              </a:ext>
            </a:extLst>
          </p:cNvPr>
          <p:cNvGrpSpPr/>
          <p:nvPr/>
        </p:nvGrpSpPr>
        <p:grpSpPr>
          <a:xfrm>
            <a:off x="206830" y="5077605"/>
            <a:ext cx="4125685" cy="401128"/>
            <a:chOff x="155122" y="776839"/>
            <a:chExt cx="3094264" cy="300846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273BB81-5587-08F8-2B48-5CA8B9743245}"/>
                </a:ext>
              </a:extLst>
            </p:cNvPr>
            <p:cNvSpPr/>
            <p:nvPr/>
          </p:nvSpPr>
          <p:spPr>
            <a:xfrm>
              <a:off x="155122" y="783771"/>
              <a:ext cx="293914" cy="293914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sz="2000" b="1" dirty="0">
                  <a:solidFill>
                    <a:schemeClr val="tx1"/>
                  </a:solidFill>
                </a:rPr>
                <a:t>8</a:t>
              </a:r>
              <a:endParaRPr lang="en-US" sz="2000" b="1" dirty="0">
                <a:solidFill>
                  <a:schemeClr val="tx1"/>
                </a:solidFill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FB03AC77-2BEC-0FF3-9E2C-12F0ABFE48E2}"/>
                </a:ext>
              </a:extLst>
            </p:cNvPr>
            <p:cNvSpPr txBox="1"/>
            <p:nvPr/>
          </p:nvSpPr>
          <p:spPr>
            <a:xfrm>
              <a:off x="449036" y="776839"/>
              <a:ext cx="2800350" cy="3000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2000" dirty="0"/>
                <a:t>Arrays and Array Methods</a:t>
              </a:r>
              <a:endParaRPr lang="en-US" sz="2000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C1945E05-08C6-4E46-CB77-38A7348FDCE7}"/>
              </a:ext>
            </a:extLst>
          </p:cNvPr>
          <p:cNvGrpSpPr/>
          <p:nvPr/>
        </p:nvGrpSpPr>
        <p:grpSpPr>
          <a:xfrm>
            <a:off x="206830" y="5655009"/>
            <a:ext cx="4125685" cy="401128"/>
            <a:chOff x="155122" y="776839"/>
            <a:chExt cx="3094264" cy="300846"/>
          </a:xfrm>
        </p:grpSpPr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180158A2-79B2-4A77-B803-291B80016125}"/>
                </a:ext>
              </a:extLst>
            </p:cNvPr>
            <p:cNvSpPr/>
            <p:nvPr/>
          </p:nvSpPr>
          <p:spPr>
            <a:xfrm>
              <a:off x="155122" y="783771"/>
              <a:ext cx="293914" cy="293914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sz="2000" b="1" dirty="0">
                  <a:solidFill>
                    <a:schemeClr val="tx1"/>
                  </a:solidFill>
                </a:rPr>
                <a:t>9</a:t>
              </a:r>
              <a:endParaRPr lang="en-US" sz="2000" b="1" dirty="0">
                <a:solidFill>
                  <a:schemeClr val="tx1"/>
                </a:solidFill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ECDDE25E-C8DB-C9AA-E7C4-754AAFD0F974}"/>
                </a:ext>
              </a:extLst>
            </p:cNvPr>
            <p:cNvSpPr txBox="1"/>
            <p:nvPr/>
          </p:nvSpPr>
          <p:spPr>
            <a:xfrm>
              <a:off x="449036" y="776839"/>
              <a:ext cx="2800350" cy="3000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2000" dirty="0"/>
                <a:t>Loops</a:t>
              </a:r>
              <a:endParaRPr lang="en-US" sz="2000" dirty="0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A7F4F79A-04C6-F91F-94C0-25274B79C5F4}"/>
              </a:ext>
            </a:extLst>
          </p:cNvPr>
          <p:cNvGrpSpPr/>
          <p:nvPr/>
        </p:nvGrpSpPr>
        <p:grpSpPr>
          <a:xfrm>
            <a:off x="206830" y="6232411"/>
            <a:ext cx="4125685" cy="401128"/>
            <a:chOff x="155122" y="776839"/>
            <a:chExt cx="3094264" cy="300846"/>
          </a:xfrm>
        </p:grpSpPr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00AE5126-BFFE-8209-7E6C-94175B9F0C6B}"/>
                </a:ext>
              </a:extLst>
            </p:cNvPr>
            <p:cNvSpPr/>
            <p:nvPr/>
          </p:nvSpPr>
          <p:spPr>
            <a:xfrm>
              <a:off x="155122" y="783771"/>
              <a:ext cx="293914" cy="293914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CA" sz="2000" b="1" dirty="0">
                  <a:solidFill>
                    <a:schemeClr val="tx1"/>
                  </a:solidFill>
                </a:rPr>
                <a:t>10</a:t>
              </a:r>
              <a:endParaRPr lang="en-US" sz="2000" b="1" dirty="0">
                <a:solidFill>
                  <a:schemeClr val="tx1"/>
                </a:solidFill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FCA99336-343A-399D-BF3F-5B47C98D42CC}"/>
                </a:ext>
              </a:extLst>
            </p:cNvPr>
            <p:cNvSpPr txBox="1"/>
            <p:nvPr/>
          </p:nvSpPr>
          <p:spPr>
            <a:xfrm>
              <a:off x="449036" y="776839"/>
              <a:ext cx="2800350" cy="3000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2000" dirty="0"/>
                <a:t>Functions and Scope</a:t>
              </a:r>
              <a:endParaRPr lang="en-US" sz="2000" dirty="0"/>
            </a:p>
          </p:txBody>
        </p:sp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AC170C8B-431C-18F0-90E1-1ABB88B8FD30}"/>
              </a:ext>
            </a:extLst>
          </p:cNvPr>
          <p:cNvGrpSpPr/>
          <p:nvPr/>
        </p:nvGrpSpPr>
        <p:grpSpPr>
          <a:xfrm>
            <a:off x="4332515" y="1035786"/>
            <a:ext cx="4125685" cy="401128"/>
            <a:chOff x="155122" y="776839"/>
            <a:chExt cx="3094264" cy="300846"/>
          </a:xfrm>
        </p:grpSpPr>
        <p:sp>
          <p:nvSpPr>
            <p:cNvPr id="129" name="Oval 128">
              <a:extLst>
                <a:ext uri="{FF2B5EF4-FFF2-40B4-BE49-F238E27FC236}">
                  <a16:creationId xmlns:a16="http://schemas.microsoft.com/office/drawing/2014/main" id="{65979E5B-5660-E555-3998-A3A041D759A1}"/>
                </a:ext>
              </a:extLst>
            </p:cNvPr>
            <p:cNvSpPr/>
            <p:nvPr/>
          </p:nvSpPr>
          <p:spPr>
            <a:xfrm>
              <a:off x="155122" y="783771"/>
              <a:ext cx="293914" cy="293914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CA" sz="2000" b="1" dirty="0">
                  <a:solidFill>
                    <a:schemeClr val="tx1"/>
                  </a:solidFill>
                </a:rPr>
                <a:t>11</a:t>
              </a:r>
              <a:endParaRPr lang="en-US" sz="2000" b="1" dirty="0">
                <a:solidFill>
                  <a:schemeClr val="tx1"/>
                </a:solidFill>
              </a:endParaRPr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9457E410-8AA5-ADBF-2E45-174AA84E12C4}"/>
                </a:ext>
              </a:extLst>
            </p:cNvPr>
            <p:cNvSpPr txBox="1"/>
            <p:nvPr/>
          </p:nvSpPr>
          <p:spPr>
            <a:xfrm>
              <a:off x="449036" y="776839"/>
              <a:ext cx="2800350" cy="3000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2000" dirty="0"/>
                <a:t>Higher-order Function</a:t>
              </a:r>
              <a:endParaRPr lang="en-US" sz="2000" dirty="0"/>
            </a:p>
          </p:txBody>
        </p:sp>
      </p:grp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3A9D3225-01A3-2AC8-D763-AB0B544EBEB5}"/>
              </a:ext>
            </a:extLst>
          </p:cNvPr>
          <p:cNvGrpSpPr/>
          <p:nvPr/>
        </p:nvGrpSpPr>
        <p:grpSpPr>
          <a:xfrm>
            <a:off x="4332515" y="1613189"/>
            <a:ext cx="4125685" cy="401128"/>
            <a:chOff x="155122" y="776839"/>
            <a:chExt cx="3094264" cy="300846"/>
          </a:xfrm>
        </p:grpSpPr>
        <p:sp>
          <p:nvSpPr>
            <p:cNvPr id="135" name="Oval 134">
              <a:extLst>
                <a:ext uri="{FF2B5EF4-FFF2-40B4-BE49-F238E27FC236}">
                  <a16:creationId xmlns:a16="http://schemas.microsoft.com/office/drawing/2014/main" id="{5F7C4D10-D15C-70DD-DD18-7A0F3C8634CC}"/>
                </a:ext>
              </a:extLst>
            </p:cNvPr>
            <p:cNvSpPr/>
            <p:nvPr/>
          </p:nvSpPr>
          <p:spPr>
            <a:xfrm>
              <a:off x="155122" y="783771"/>
              <a:ext cx="293914" cy="293914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CA" sz="2000" b="1" dirty="0">
                  <a:solidFill>
                    <a:schemeClr val="tx1"/>
                  </a:solidFill>
                </a:rPr>
                <a:t>12</a:t>
              </a:r>
              <a:endParaRPr lang="en-US" sz="2000" b="1" dirty="0">
                <a:solidFill>
                  <a:schemeClr val="tx1"/>
                </a:solidFill>
              </a:endParaRPr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C4791250-121A-215B-1FFF-CD7E174C7D87}"/>
                </a:ext>
              </a:extLst>
            </p:cNvPr>
            <p:cNvSpPr txBox="1"/>
            <p:nvPr/>
          </p:nvSpPr>
          <p:spPr>
            <a:xfrm>
              <a:off x="449036" y="776839"/>
              <a:ext cx="2800350" cy="3000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2000" dirty="0"/>
                <a:t>Objects</a:t>
              </a:r>
              <a:endParaRPr lang="en-US" sz="2000" dirty="0"/>
            </a:p>
          </p:txBody>
        </p:sp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5C9FE001-59B1-0DE8-6A79-2E59623037A0}"/>
              </a:ext>
            </a:extLst>
          </p:cNvPr>
          <p:cNvGrpSpPr/>
          <p:nvPr/>
        </p:nvGrpSpPr>
        <p:grpSpPr>
          <a:xfrm>
            <a:off x="4332515" y="2195214"/>
            <a:ext cx="4125685" cy="401128"/>
            <a:chOff x="155122" y="776839"/>
            <a:chExt cx="3094264" cy="300846"/>
          </a:xfrm>
        </p:grpSpPr>
        <p:sp>
          <p:nvSpPr>
            <p:cNvPr id="138" name="Oval 137">
              <a:extLst>
                <a:ext uri="{FF2B5EF4-FFF2-40B4-BE49-F238E27FC236}">
                  <a16:creationId xmlns:a16="http://schemas.microsoft.com/office/drawing/2014/main" id="{52792767-D795-A8EE-4026-26E579F29AE3}"/>
                </a:ext>
              </a:extLst>
            </p:cNvPr>
            <p:cNvSpPr/>
            <p:nvPr/>
          </p:nvSpPr>
          <p:spPr>
            <a:xfrm>
              <a:off x="155122" y="783771"/>
              <a:ext cx="293914" cy="293914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CA" sz="2000" b="1" dirty="0">
                  <a:solidFill>
                    <a:schemeClr val="tx1"/>
                  </a:solidFill>
                </a:rPr>
                <a:t>13</a:t>
              </a:r>
              <a:endParaRPr lang="en-US" sz="2000" b="1" dirty="0">
                <a:solidFill>
                  <a:schemeClr val="tx1"/>
                </a:solidFill>
              </a:endParaRPr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96D2F895-FF9C-4A13-5B10-89C3AFFFEE3A}"/>
                </a:ext>
              </a:extLst>
            </p:cNvPr>
            <p:cNvSpPr txBox="1"/>
            <p:nvPr/>
          </p:nvSpPr>
          <p:spPr>
            <a:xfrm>
              <a:off x="449036" y="776839"/>
              <a:ext cx="2800350" cy="3000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2000" dirty="0"/>
                <a:t>DOM</a:t>
              </a:r>
              <a:endParaRPr lang="en-US" sz="2000" dirty="0"/>
            </a:p>
          </p:txBody>
        </p:sp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ACBEDD34-1270-A50F-99BB-7C1065E6313B}"/>
              </a:ext>
            </a:extLst>
          </p:cNvPr>
          <p:cNvGrpSpPr/>
          <p:nvPr/>
        </p:nvGrpSpPr>
        <p:grpSpPr>
          <a:xfrm>
            <a:off x="4332515" y="2772615"/>
            <a:ext cx="4125685" cy="401128"/>
            <a:chOff x="155122" y="776839"/>
            <a:chExt cx="3094264" cy="300846"/>
          </a:xfrm>
        </p:grpSpPr>
        <p:sp>
          <p:nvSpPr>
            <p:cNvPr id="141" name="Oval 140">
              <a:extLst>
                <a:ext uri="{FF2B5EF4-FFF2-40B4-BE49-F238E27FC236}">
                  <a16:creationId xmlns:a16="http://schemas.microsoft.com/office/drawing/2014/main" id="{E7E67B92-59E6-44EF-410B-DD019F796CC1}"/>
                </a:ext>
              </a:extLst>
            </p:cNvPr>
            <p:cNvSpPr/>
            <p:nvPr/>
          </p:nvSpPr>
          <p:spPr>
            <a:xfrm>
              <a:off x="155122" y="783771"/>
              <a:ext cx="293914" cy="293914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CA" sz="2000" b="1" dirty="0">
                  <a:solidFill>
                    <a:schemeClr val="tx1"/>
                  </a:solidFill>
                </a:rPr>
                <a:t>14</a:t>
              </a:r>
              <a:endParaRPr lang="en-US" sz="2000" b="1" dirty="0">
                <a:solidFill>
                  <a:schemeClr val="tx1"/>
                </a:solidFill>
              </a:endParaRP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C5DFFFA7-EE43-AE32-F1A5-CAC1C296DE4A}"/>
                </a:ext>
              </a:extLst>
            </p:cNvPr>
            <p:cNvSpPr txBox="1"/>
            <p:nvPr/>
          </p:nvSpPr>
          <p:spPr>
            <a:xfrm>
              <a:off x="449036" y="776839"/>
              <a:ext cx="2800350" cy="3000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2000" dirty="0"/>
                <a:t>BOM</a:t>
              </a:r>
              <a:endParaRPr lang="en-US" sz="2000" dirty="0"/>
            </a:p>
          </p:txBody>
        </p:sp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750C1C49-6C3D-CC9D-8932-4006C40EEF70}"/>
              </a:ext>
            </a:extLst>
          </p:cNvPr>
          <p:cNvGrpSpPr/>
          <p:nvPr/>
        </p:nvGrpSpPr>
        <p:grpSpPr>
          <a:xfrm>
            <a:off x="4332515" y="3345399"/>
            <a:ext cx="4125685" cy="401128"/>
            <a:chOff x="155122" y="776839"/>
            <a:chExt cx="3094264" cy="300846"/>
          </a:xfrm>
        </p:grpSpPr>
        <p:sp>
          <p:nvSpPr>
            <p:cNvPr id="144" name="Oval 143">
              <a:extLst>
                <a:ext uri="{FF2B5EF4-FFF2-40B4-BE49-F238E27FC236}">
                  <a16:creationId xmlns:a16="http://schemas.microsoft.com/office/drawing/2014/main" id="{39FAAD6A-D377-8646-68A6-CB17BA3FBCAE}"/>
                </a:ext>
              </a:extLst>
            </p:cNvPr>
            <p:cNvSpPr/>
            <p:nvPr/>
          </p:nvSpPr>
          <p:spPr>
            <a:xfrm>
              <a:off x="155122" y="783771"/>
              <a:ext cx="293914" cy="293914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CA" sz="2000" b="1" dirty="0">
                  <a:solidFill>
                    <a:schemeClr val="tx1"/>
                  </a:solidFill>
                </a:rPr>
                <a:t>15</a:t>
              </a:r>
              <a:endParaRPr lang="en-US" sz="2000" b="1" dirty="0">
                <a:solidFill>
                  <a:schemeClr val="tx1"/>
                </a:solidFill>
              </a:endParaRPr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70157FBC-97FB-7259-5CB7-FA72401B7436}"/>
                </a:ext>
              </a:extLst>
            </p:cNvPr>
            <p:cNvSpPr txBox="1"/>
            <p:nvPr/>
          </p:nvSpPr>
          <p:spPr>
            <a:xfrm>
              <a:off x="449036" y="776839"/>
              <a:ext cx="2800350" cy="3000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2000" dirty="0" err="1"/>
                <a:t>Destructuring</a:t>
              </a:r>
              <a:endParaRPr lang="en-US" sz="2000" dirty="0"/>
            </a:p>
          </p:txBody>
        </p:sp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D1E1B364-ADFE-3169-3564-B6B1B76E5068}"/>
              </a:ext>
            </a:extLst>
          </p:cNvPr>
          <p:cNvGrpSpPr/>
          <p:nvPr/>
        </p:nvGrpSpPr>
        <p:grpSpPr>
          <a:xfrm>
            <a:off x="4332515" y="3922801"/>
            <a:ext cx="4125685" cy="401128"/>
            <a:chOff x="155122" y="776839"/>
            <a:chExt cx="3094264" cy="300846"/>
          </a:xfrm>
        </p:grpSpPr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B3734436-DF7B-5009-5B69-2CFD8E3E0E04}"/>
                </a:ext>
              </a:extLst>
            </p:cNvPr>
            <p:cNvSpPr/>
            <p:nvPr/>
          </p:nvSpPr>
          <p:spPr>
            <a:xfrm>
              <a:off x="155122" y="783771"/>
              <a:ext cx="293914" cy="293914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CA" sz="2000" b="1" dirty="0">
                  <a:solidFill>
                    <a:schemeClr val="tx1"/>
                  </a:solidFill>
                </a:rPr>
                <a:t>16</a:t>
              </a:r>
              <a:endParaRPr lang="en-US" sz="2000" b="1" dirty="0">
                <a:solidFill>
                  <a:schemeClr val="tx1"/>
                </a:solidFill>
              </a:endParaRPr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E7A75A52-A5A7-39C0-077F-910DF02B6FA6}"/>
                </a:ext>
              </a:extLst>
            </p:cNvPr>
            <p:cNvSpPr txBox="1"/>
            <p:nvPr/>
          </p:nvSpPr>
          <p:spPr>
            <a:xfrm>
              <a:off x="449036" y="776839"/>
              <a:ext cx="2800350" cy="3000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2000" dirty="0"/>
                <a:t>Set and Map</a:t>
              </a:r>
              <a:endParaRPr lang="en-US" sz="2000" dirty="0"/>
            </a:p>
          </p:txBody>
        </p:sp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A5A9D4E2-6A15-4E72-1D81-D5A0FDA8EA6C}"/>
              </a:ext>
            </a:extLst>
          </p:cNvPr>
          <p:cNvGrpSpPr/>
          <p:nvPr/>
        </p:nvGrpSpPr>
        <p:grpSpPr>
          <a:xfrm>
            <a:off x="4332515" y="4500202"/>
            <a:ext cx="4125685" cy="401128"/>
            <a:chOff x="155122" y="776839"/>
            <a:chExt cx="3094264" cy="300846"/>
          </a:xfrm>
        </p:grpSpPr>
        <p:sp>
          <p:nvSpPr>
            <p:cNvPr id="150" name="Oval 149">
              <a:extLst>
                <a:ext uri="{FF2B5EF4-FFF2-40B4-BE49-F238E27FC236}">
                  <a16:creationId xmlns:a16="http://schemas.microsoft.com/office/drawing/2014/main" id="{57073F50-74CD-26B7-C37F-CCFA67396E12}"/>
                </a:ext>
              </a:extLst>
            </p:cNvPr>
            <p:cNvSpPr/>
            <p:nvPr/>
          </p:nvSpPr>
          <p:spPr>
            <a:xfrm>
              <a:off x="155122" y="783771"/>
              <a:ext cx="293914" cy="293914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CA" sz="2000" b="1" dirty="0">
                  <a:solidFill>
                    <a:schemeClr val="tx1"/>
                  </a:solidFill>
                </a:rPr>
                <a:t>17</a:t>
              </a:r>
              <a:endParaRPr lang="en-US" sz="2000" b="1" dirty="0">
                <a:solidFill>
                  <a:schemeClr val="tx1"/>
                </a:solidFill>
              </a:endParaRPr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9E4285D2-C3A2-791E-EDC8-3FB174F7DA3E}"/>
                </a:ext>
              </a:extLst>
            </p:cNvPr>
            <p:cNvSpPr txBox="1"/>
            <p:nvPr/>
          </p:nvSpPr>
          <p:spPr>
            <a:xfrm>
              <a:off x="449036" y="776839"/>
              <a:ext cx="2800350" cy="3000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2000" dirty="0"/>
                <a:t>Array Methods 2</a:t>
              </a:r>
              <a:endParaRPr lang="en-US" sz="2000" dirty="0"/>
            </a:p>
          </p:txBody>
        </p:sp>
      </p:grp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71947551-074B-03CF-5020-81BB1D350BCC}"/>
              </a:ext>
            </a:extLst>
          </p:cNvPr>
          <p:cNvGrpSpPr/>
          <p:nvPr/>
        </p:nvGrpSpPr>
        <p:grpSpPr>
          <a:xfrm>
            <a:off x="4332515" y="5077603"/>
            <a:ext cx="4125685" cy="401128"/>
            <a:chOff x="155122" y="776839"/>
            <a:chExt cx="3094264" cy="300846"/>
          </a:xfrm>
        </p:grpSpPr>
        <p:sp>
          <p:nvSpPr>
            <p:cNvPr id="153" name="Oval 152">
              <a:extLst>
                <a:ext uri="{FF2B5EF4-FFF2-40B4-BE49-F238E27FC236}">
                  <a16:creationId xmlns:a16="http://schemas.microsoft.com/office/drawing/2014/main" id="{346D063B-3839-1A4C-BA62-C7FF35B55680}"/>
                </a:ext>
              </a:extLst>
            </p:cNvPr>
            <p:cNvSpPr/>
            <p:nvPr/>
          </p:nvSpPr>
          <p:spPr>
            <a:xfrm>
              <a:off x="155122" y="783771"/>
              <a:ext cx="293914" cy="293914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CA" sz="2000" b="1" dirty="0">
                  <a:solidFill>
                    <a:schemeClr val="tx1"/>
                  </a:solidFill>
                </a:rPr>
                <a:t>18</a:t>
              </a:r>
              <a:endParaRPr lang="en-US" sz="2000" b="1" dirty="0">
                <a:solidFill>
                  <a:schemeClr val="tx1"/>
                </a:solidFill>
              </a:endParaRPr>
            </a:p>
          </p:txBody>
        </p: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6D7205AB-51BC-DA3C-0511-DC3555DFA7BD}"/>
                </a:ext>
              </a:extLst>
            </p:cNvPr>
            <p:cNvSpPr txBox="1"/>
            <p:nvPr/>
          </p:nvSpPr>
          <p:spPr>
            <a:xfrm>
              <a:off x="449036" y="776839"/>
              <a:ext cx="2800350" cy="3000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2000" dirty="0"/>
                <a:t>Regular Expressions</a:t>
              </a:r>
              <a:endParaRPr lang="en-US" sz="2000" dirty="0"/>
            </a:p>
          </p:txBody>
        </p:sp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8D388C16-C766-C6D3-65F9-46958631E7A1}"/>
              </a:ext>
            </a:extLst>
          </p:cNvPr>
          <p:cNvGrpSpPr/>
          <p:nvPr/>
        </p:nvGrpSpPr>
        <p:grpSpPr>
          <a:xfrm>
            <a:off x="4332515" y="5645765"/>
            <a:ext cx="4125685" cy="401128"/>
            <a:chOff x="155122" y="776839"/>
            <a:chExt cx="3094264" cy="300846"/>
          </a:xfrm>
        </p:grpSpPr>
        <p:sp>
          <p:nvSpPr>
            <p:cNvPr id="156" name="Oval 155">
              <a:extLst>
                <a:ext uri="{FF2B5EF4-FFF2-40B4-BE49-F238E27FC236}">
                  <a16:creationId xmlns:a16="http://schemas.microsoft.com/office/drawing/2014/main" id="{633FCF9A-FCDD-E3D2-9875-254CE754AF95}"/>
                </a:ext>
              </a:extLst>
            </p:cNvPr>
            <p:cNvSpPr/>
            <p:nvPr/>
          </p:nvSpPr>
          <p:spPr>
            <a:xfrm>
              <a:off x="155122" y="783771"/>
              <a:ext cx="293914" cy="293914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CA" sz="2000" b="1" dirty="0">
                  <a:solidFill>
                    <a:schemeClr val="tx1"/>
                  </a:solidFill>
                </a:rPr>
                <a:t>19</a:t>
              </a:r>
              <a:endParaRPr lang="en-US" sz="2000" b="1" dirty="0">
                <a:solidFill>
                  <a:schemeClr val="tx1"/>
                </a:solidFill>
              </a:endParaRPr>
            </a:p>
          </p:txBody>
        </p: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EAEA54B8-8D3E-8512-8F6A-EEE49CCED712}"/>
                </a:ext>
              </a:extLst>
            </p:cNvPr>
            <p:cNvSpPr txBox="1"/>
            <p:nvPr/>
          </p:nvSpPr>
          <p:spPr>
            <a:xfrm>
              <a:off x="449036" y="776839"/>
              <a:ext cx="2800350" cy="3000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2000" dirty="0"/>
                <a:t>OOP</a:t>
              </a:r>
              <a:endParaRPr lang="en-US" sz="2000" dirty="0"/>
            </a:p>
          </p:txBody>
        </p:sp>
      </p:grp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BC87BC8D-FD29-F6D4-110E-AD6211CC4A93}"/>
              </a:ext>
            </a:extLst>
          </p:cNvPr>
          <p:cNvGrpSpPr/>
          <p:nvPr/>
        </p:nvGrpSpPr>
        <p:grpSpPr>
          <a:xfrm>
            <a:off x="4332515" y="6223166"/>
            <a:ext cx="4125685" cy="401128"/>
            <a:chOff x="155122" y="776839"/>
            <a:chExt cx="3094264" cy="300846"/>
          </a:xfrm>
        </p:grpSpPr>
        <p:sp>
          <p:nvSpPr>
            <p:cNvPr id="159" name="Oval 158">
              <a:extLst>
                <a:ext uri="{FF2B5EF4-FFF2-40B4-BE49-F238E27FC236}">
                  <a16:creationId xmlns:a16="http://schemas.microsoft.com/office/drawing/2014/main" id="{2F39308E-D199-C703-DC24-E8F449349DAD}"/>
                </a:ext>
              </a:extLst>
            </p:cNvPr>
            <p:cNvSpPr/>
            <p:nvPr/>
          </p:nvSpPr>
          <p:spPr>
            <a:xfrm>
              <a:off x="155122" y="783771"/>
              <a:ext cx="293914" cy="293914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CA" sz="2000" b="1" dirty="0">
                  <a:solidFill>
                    <a:schemeClr val="tx1"/>
                  </a:solidFill>
                </a:rPr>
                <a:t>20</a:t>
              </a:r>
              <a:endParaRPr lang="en-US" sz="2000" b="1" dirty="0">
                <a:solidFill>
                  <a:schemeClr val="tx1"/>
                </a:solidFill>
              </a:endParaRPr>
            </a:p>
          </p:txBody>
        </p: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033E9001-D6EB-F1E7-C2F5-93C09457A048}"/>
                </a:ext>
              </a:extLst>
            </p:cNvPr>
            <p:cNvSpPr txBox="1"/>
            <p:nvPr/>
          </p:nvSpPr>
          <p:spPr>
            <a:xfrm>
              <a:off x="449036" y="776839"/>
              <a:ext cx="2800350" cy="3000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2000" dirty="0"/>
                <a:t>Date and Time</a:t>
              </a:r>
              <a:endParaRPr lang="en-US" sz="2000" dirty="0"/>
            </a:p>
          </p:txBody>
        </p:sp>
      </p:grp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A9022546-B56D-7D44-32A8-D7C8BB37DF33}"/>
              </a:ext>
            </a:extLst>
          </p:cNvPr>
          <p:cNvGrpSpPr/>
          <p:nvPr/>
        </p:nvGrpSpPr>
        <p:grpSpPr>
          <a:xfrm>
            <a:off x="7859488" y="1045030"/>
            <a:ext cx="4125685" cy="401128"/>
            <a:chOff x="155122" y="776839"/>
            <a:chExt cx="3094264" cy="300846"/>
          </a:xfrm>
        </p:grpSpPr>
        <p:sp>
          <p:nvSpPr>
            <p:cNvPr id="162" name="Oval 161">
              <a:extLst>
                <a:ext uri="{FF2B5EF4-FFF2-40B4-BE49-F238E27FC236}">
                  <a16:creationId xmlns:a16="http://schemas.microsoft.com/office/drawing/2014/main" id="{6A61DF13-825F-6EFC-093D-DA035A0CD75B}"/>
                </a:ext>
              </a:extLst>
            </p:cNvPr>
            <p:cNvSpPr/>
            <p:nvPr/>
          </p:nvSpPr>
          <p:spPr>
            <a:xfrm>
              <a:off x="155122" y="783771"/>
              <a:ext cx="293914" cy="293914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CA" sz="2000" b="1" dirty="0">
                  <a:solidFill>
                    <a:schemeClr val="tx1"/>
                  </a:solidFill>
                </a:rPr>
                <a:t>21</a:t>
              </a:r>
              <a:endParaRPr lang="en-US" sz="2000" b="1" dirty="0">
                <a:solidFill>
                  <a:schemeClr val="tx1"/>
                </a:solidFill>
              </a:endParaRPr>
            </a:p>
          </p:txBody>
        </p:sp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id="{97ABF3A0-396C-1AC2-C565-D2CFC7A115DE}"/>
                </a:ext>
              </a:extLst>
            </p:cNvPr>
            <p:cNvSpPr txBox="1"/>
            <p:nvPr/>
          </p:nvSpPr>
          <p:spPr>
            <a:xfrm>
              <a:off x="449036" y="776839"/>
              <a:ext cx="2800350" cy="3000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2000" dirty="0"/>
                <a:t>Modules</a:t>
              </a:r>
              <a:endParaRPr lang="en-US" sz="2000" dirty="0"/>
            </a:p>
          </p:txBody>
        </p:sp>
      </p:grp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CDF063EB-F81C-9956-4AF7-5907F911762C}"/>
              </a:ext>
            </a:extLst>
          </p:cNvPr>
          <p:cNvGrpSpPr/>
          <p:nvPr/>
        </p:nvGrpSpPr>
        <p:grpSpPr>
          <a:xfrm>
            <a:off x="7859488" y="1622431"/>
            <a:ext cx="4125685" cy="401128"/>
            <a:chOff x="155122" y="776839"/>
            <a:chExt cx="3094264" cy="300846"/>
          </a:xfrm>
        </p:grpSpPr>
        <p:sp>
          <p:nvSpPr>
            <p:cNvPr id="165" name="Oval 164">
              <a:extLst>
                <a:ext uri="{FF2B5EF4-FFF2-40B4-BE49-F238E27FC236}">
                  <a16:creationId xmlns:a16="http://schemas.microsoft.com/office/drawing/2014/main" id="{20FED937-2CF3-E5B2-339A-4F3C9B65FD58}"/>
                </a:ext>
              </a:extLst>
            </p:cNvPr>
            <p:cNvSpPr/>
            <p:nvPr/>
          </p:nvSpPr>
          <p:spPr>
            <a:xfrm>
              <a:off x="155122" y="783771"/>
              <a:ext cx="293914" cy="293914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CA" sz="2000" b="1" dirty="0">
                  <a:solidFill>
                    <a:schemeClr val="tx1"/>
                  </a:solidFill>
                </a:rPr>
                <a:t>22</a:t>
              </a:r>
              <a:endParaRPr lang="en-US" sz="2000" b="1" dirty="0">
                <a:solidFill>
                  <a:schemeClr val="tx1"/>
                </a:solidFill>
              </a:endParaRPr>
            </a:p>
          </p:txBody>
        </p: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550E619C-4154-9BFF-7EB1-669A1A34EE25}"/>
                </a:ext>
              </a:extLst>
            </p:cNvPr>
            <p:cNvSpPr txBox="1"/>
            <p:nvPr/>
          </p:nvSpPr>
          <p:spPr>
            <a:xfrm>
              <a:off x="449036" y="776839"/>
              <a:ext cx="2800350" cy="3000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2000" dirty="0"/>
                <a:t>JSON, AJAX and API</a:t>
              </a:r>
              <a:endParaRPr lang="en-US" sz="2000" dirty="0"/>
            </a:p>
          </p:txBody>
        </p:sp>
      </p:grpSp>
      <p:grpSp>
        <p:nvGrpSpPr>
          <p:cNvPr id="167" name="Group 166">
            <a:extLst>
              <a:ext uri="{FF2B5EF4-FFF2-40B4-BE49-F238E27FC236}">
                <a16:creationId xmlns:a16="http://schemas.microsoft.com/office/drawing/2014/main" id="{E416A592-77D3-DFE2-FD07-6E11ED505A32}"/>
              </a:ext>
            </a:extLst>
          </p:cNvPr>
          <p:cNvGrpSpPr/>
          <p:nvPr/>
        </p:nvGrpSpPr>
        <p:grpSpPr>
          <a:xfrm>
            <a:off x="7859488" y="2204455"/>
            <a:ext cx="4125685" cy="401128"/>
            <a:chOff x="155122" y="776839"/>
            <a:chExt cx="3094264" cy="300846"/>
          </a:xfrm>
        </p:grpSpPr>
        <p:sp>
          <p:nvSpPr>
            <p:cNvPr id="168" name="Oval 167">
              <a:extLst>
                <a:ext uri="{FF2B5EF4-FFF2-40B4-BE49-F238E27FC236}">
                  <a16:creationId xmlns:a16="http://schemas.microsoft.com/office/drawing/2014/main" id="{16A41DB8-E544-DC44-CCEE-188EA3340DC9}"/>
                </a:ext>
              </a:extLst>
            </p:cNvPr>
            <p:cNvSpPr/>
            <p:nvPr/>
          </p:nvSpPr>
          <p:spPr>
            <a:xfrm>
              <a:off x="155122" y="783771"/>
              <a:ext cx="293914" cy="293914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CA" sz="2000" b="1" dirty="0">
                  <a:solidFill>
                    <a:schemeClr val="tx1"/>
                  </a:solidFill>
                </a:rPr>
                <a:t>23</a:t>
              </a:r>
              <a:endParaRPr lang="en-US" sz="2000" b="1" dirty="0">
                <a:solidFill>
                  <a:schemeClr val="tx1"/>
                </a:solidFill>
              </a:endParaRPr>
            </a:p>
          </p:txBody>
        </p:sp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072DDF08-B05A-58BE-C54E-83BA665CD603}"/>
                </a:ext>
              </a:extLst>
            </p:cNvPr>
            <p:cNvSpPr txBox="1"/>
            <p:nvPr/>
          </p:nvSpPr>
          <p:spPr>
            <a:xfrm>
              <a:off x="449036" y="776839"/>
              <a:ext cx="2800350" cy="3000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2000" dirty="0"/>
                <a:t>Promise and Fetch API</a:t>
              </a:r>
              <a:endParaRPr lang="en-US" sz="2000" dirty="0"/>
            </a:p>
          </p:txBody>
        </p:sp>
      </p:grp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F7FC43EC-397D-2649-572C-A742AA0357D2}"/>
              </a:ext>
            </a:extLst>
          </p:cNvPr>
          <p:cNvGrpSpPr/>
          <p:nvPr/>
        </p:nvGrpSpPr>
        <p:grpSpPr>
          <a:xfrm>
            <a:off x="7859488" y="2781857"/>
            <a:ext cx="4125685" cy="401128"/>
            <a:chOff x="155122" y="776839"/>
            <a:chExt cx="3094264" cy="300846"/>
          </a:xfrm>
        </p:grpSpPr>
        <p:sp>
          <p:nvSpPr>
            <p:cNvPr id="171" name="Oval 170">
              <a:extLst>
                <a:ext uri="{FF2B5EF4-FFF2-40B4-BE49-F238E27FC236}">
                  <a16:creationId xmlns:a16="http://schemas.microsoft.com/office/drawing/2014/main" id="{09705A2B-68BC-5171-0244-6B178B1FDF33}"/>
                </a:ext>
              </a:extLst>
            </p:cNvPr>
            <p:cNvSpPr/>
            <p:nvPr/>
          </p:nvSpPr>
          <p:spPr>
            <a:xfrm>
              <a:off x="155122" y="783771"/>
              <a:ext cx="293914" cy="293914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CA" sz="2000" b="1" dirty="0">
                  <a:solidFill>
                    <a:schemeClr val="tx1"/>
                  </a:solidFill>
                </a:rPr>
                <a:t>24</a:t>
              </a:r>
              <a:endParaRPr lang="en-US" sz="2000" b="1" dirty="0">
                <a:solidFill>
                  <a:schemeClr val="tx1"/>
                </a:solidFill>
              </a:endParaRPr>
            </a:p>
          </p:txBody>
        </p:sp>
        <p:sp>
          <p:nvSpPr>
            <p:cNvPr id="172" name="TextBox 171">
              <a:extLst>
                <a:ext uri="{FF2B5EF4-FFF2-40B4-BE49-F238E27FC236}">
                  <a16:creationId xmlns:a16="http://schemas.microsoft.com/office/drawing/2014/main" id="{B25EEDBF-F2D9-7532-4A6E-2BB41F3A08AA}"/>
                </a:ext>
              </a:extLst>
            </p:cNvPr>
            <p:cNvSpPr txBox="1"/>
            <p:nvPr/>
          </p:nvSpPr>
          <p:spPr>
            <a:xfrm>
              <a:off x="449036" y="776839"/>
              <a:ext cx="2800350" cy="3000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2000" dirty="0"/>
                <a:t>Intersection Observer</a:t>
              </a:r>
              <a:endParaRPr lang="en-US" sz="2000" dirty="0"/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66D934D4-56A6-7A49-650A-C1D48095C2CC}"/>
              </a:ext>
            </a:extLst>
          </p:cNvPr>
          <p:cNvSpPr/>
          <p:nvPr/>
        </p:nvSpPr>
        <p:spPr>
          <a:xfrm>
            <a:off x="3513547" y="1070017"/>
            <a:ext cx="612141" cy="35013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200" dirty="0"/>
              <a:t>1 day</a:t>
            </a:r>
            <a:endParaRPr lang="en-US" sz="12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AC8F46D-C65E-E3A4-217D-00A81184F294}"/>
              </a:ext>
            </a:extLst>
          </p:cNvPr>
          <p:cNvSpPr/>
          <p:nvPr/>
        </p:nvSpPr>
        <p:spPr>
          <a:xfrm>
            <a:off x="3513546" y="1663164"/>
            <a:ext cx="612141" cy="35013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200" dirty="0"/>
              <a:t>1 day</a:t>
            </a:r>
            <a:endParaRPr lang="en-US" sz="1200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01481F0-B4F4-29FF-8016-346DD5DADA42}"/>
              </a:ext>
            </a:extLst>
          </p:cNvPr>
          <p:cNvSpPr/>
          <p:nvPr/>
        </p:nvSpPr>
        <p:spPr>
          <a:xfrm>
            <a:off x="3518083" y="2215580"/>
            <a:ext cx="612141" cy="35013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200" dirty="0"/>
              <a:t>N</a:t>
            </a:r>
            <a:endParaRPr lang="en-US" sz="1200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7A8AC6E-70E0-E0C1-44F0-A493508D16D9}"/>
              </a:ext>
            </a:extLst>
          </p:cNvPr>
          <p:cNvSpPr/>
          <p:nvPr/>
        </p:nvSpPr>
        <p:spPr>
          <a:xfrm>
            <a:off x="3524431" y="2772615"/>
            <a:ext cx="612141" cy="35013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200" dirty="0"/>
              <a:t>1 day</a:t>
            </a:r>
            <a:endParaRPr lang="en-US" sz="1200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FB10416-697E-D1EA-667C-150D1FC3BE46}"/>
              </a:ext>
            </a:extLst>
          </p:cNvPr>
          <p:cNvSpPr/>
          <p:nvPr/>
        </p:nvSpPr>
        <p:spPr>
          <a:xfrm>
            <a:off x="3513546" y="3370384"/>
            <a:ext cx="612141" cy="35013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200" dirty="0"/>
              <a:t>1 day</a:t>
            </a:r>
            <a:endParaRPr lang="en-US" sz="1200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ABDB480-E9BB-5792-9BB9-4687E56A6EC0}"/>
              </a:ext>
            </a:extLst>
          </p:cNvPr>
          <p:cNvSpPr/>
          <p:nvPr/>
        </p:nvSpPr>
        <p:spPr>
          <a:xfrm>
            <a:off x="3513545" y="3983974"/>
            <a:ext cx="612141" cy="35013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200" dirty="0"/>
              <a:t>1 day</a:t>
            </a:r>
            <a:endParaRPr lang="en-US" sz="1200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535D4BB-A4B6-4392-CA6B-F1E58F58E869}"/>
              </a:ext>
            </a:extLst>
          </p:cNvPr>
          <p:cNvSpPr/>
          <p:nvPr/>
        </p:nvSpPr>
        <p:spPr>
          <a:xfrm>
            <a:off x="3527153" y="4539247"/>
            <a:ext cx="612141" cy="35013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200" dirty="0"/>
              <a:t>2 days</a:t>
            </a:r>
            <a:endParaRPr lang="en-US" sz="1200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BE74040-DB4B-A6FC-7880-CB40D0DF3D25}"/>
              </a:ext>
            </a:extLst>
          </p:cNvPr>
          <p:cNvSpPr/>
          <p:nvPr/>
        </p:nvSpPr>
        <p:spPr>
          <a:xfrm>
            <a:off x="3524431" y="5102590"/>
            <a:ext cx="612141" cy="35013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200" dirty="0"/>
              <a:t>1 day</a:t>
            </a:r>
            <a:endParaRPr lang="en-US" sz="1200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A994DF4-4109-7E47-F647-87DE8F1634B9}"/>
              </a:ext>
            </a:extLst>
          </p:cNvPr>
          <p:cNvSpPr/>
          <p:nvPr/>
        </p:nvSpPr>
        <p:spPr>
          <a:xfrm>
            <a:off x="3518081" y="5692705"/>
            <a:ext cx="612141" cy="35013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200" dirty="0"/>
              <a:t>2 day</a:t>
            </a:r>
            <a:endParaRPr lang="en-US" sz="1200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8F113E2-8B20-6AFF-5BD1-7C262A94B355}"/>
              </a:ext>
            </a:extLst>
          </p:cNvPr>
          <p:cNvSpPr/>
          <p:nvPr/>
        </p:nvSpPr>
        <p:spPr>
          <a:xfrm>
            <a:off x="3524431" y="6219115"/>
            <a:ext cx="612141" cy="35013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200" dirty="0"/>
              <a:t>2 day</a:t>
            </a:r>
            <a:endParaRPr lang="en-US" sz="1200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00ACFD9-058E-4477-FB59-55F5AFDDB17E}"/>
              </a:ext>
            </a:extLst>
          </p:cNvPr>
          <p:cNvSpPr/>
          <p:nvPr/>
        </p:nvSpPr>
        <p:spPr>
          <a:xfrm>
            <a:off x="7161532" y="1066801"/>
            <a:ext cx="612141" cy="35013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200" dirty="0"/>
              <a:t>1 day</a:t>
            </a:r>
            <a:endParaRPr lang="en-US" sz="1200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3958279-5DE0-C13D-5E8F-6B2E476D0741}"/>
              </a:ext>
            </a:extLst>
          </p:cNvPr>
          <p:cNvSpPr/>
          <p:nvPr/>
        </p:nvSpPr>
        <p:spPr>
          <a:xfrm>
            <a:off x="7161532" y="1638176"/>
            <a:ext cx="612141" cy="35013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200" dirty="0"/>
              <a:t>1 day</a:t>
            </a:r>
            <a:endParaRPr lang="en-US" sz="1200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F73E971-63DF-BD5A-F967-0E9BD1D69B24}"/>
              </a:ext>
            </a:extLst>
          </p:cNvPr>
          <p:cNvSpPr/>
          <p:nvPr/>
        </p:nvSpPr>
        <p:spPr>
          <a:xfrm>
            <a:off x="7161532" y="2249806"/>
            <a:ext cx="612141" cy="35013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200" dirty="0"/>
              <a:t>6 day</a:t>
            </a:r>
            <a:endParaRPr lang="en-US" sz="1200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B37DDAF-C87C-54FF-18FF-BF77B125BAAF}"/>
              </a:ext>
            </a:extLst>
          </p:cNvPr>
          <p:cNvSpPr/>
          <p:nvPr/>
        </p:nvSpPr>
        <p:spPr>
          <a:xfrm>
            <a:off x="7161532" y="2786688"/>
            <a:ext cx="612141" cy="35013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200" dirty="0"/>
              <a:t>2 day</a:t>
            </a:r>
            <a:endParaRPr lang="en-US" sz="1200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420AFF4-4FFF-9100-7AF2-39F7D1851DC2}"/>
              </a:ext>
            </a:extLst>
          </p:cNvPr>
          <p:cNvSpPr/>
          <p:nvPr/>
        </p:nvSpPr>
        <p:spPr>
          <a:xfrm>
            <a:off x="7161531" y="3354640"/>
            <a:ext cx="612141" cy="35013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200" dirty="0"/>
              <a:t>1 day</a:t>
            </a:r>
            <a:endParaRPr lang="en-US" sz="1200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FFC2EF7-47AC-0E5A-8BF2-CD1EC642F6CB}"/>
              </a:ext>
            </a:extLst>
          </p:cNvPr>
          <p:cNvSpPr/>
          <p:nvPr/>
        </p:nvSpPr>
        <p:spPr>
          <a:xfrm>
            <a:off x="7161531" y="3932044"/>
            <a:ext cx="612141" cy="35013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200" dirty="0"/>
              <a:t>1 day</a:t>
            </a:r>
            <a:endParaRPr lang="en-US" sz="1200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F001108-AE03-921B-34D2-13B1A09FC1F7}"/>
              </a:ext>
            </a:extLst>
          </p:cNvPr>
          <p:cNvSpPr/>
          <p:nvPr/>
        </p:nvSpPr>
        <p:spPr>
          <a:xfrm>
            <a:off x="7161531" y="4509445"/>
            <a:ext cx="612141" cy="35013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200" dirty="0"/>
              <a:t>1 day</a:t>
            </a:r>
            <a:endParaRPr lang="en-US" sz="1200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DFA4A8D-E6AA-AC48-C531-806B0344C8B0}"/>
              </a:ext>
            </a:extLst>
          </p:cNvPr>
          <p:cNvSpPr/>
          <p:nvPr/>
        </p:nvSpPr>
        <p:spPr>
          <a:xfrm>
            <a:off x="7161531" y="5086846"/>
            <a:ext cx="612141" cy="35013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200" dirty="0"/>
              <a:t>2 day</a:t>
            </a:r>
            <a:endParaRPr lang="en-US" sz="1200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684A2FE-511A-70D2-451E-CB17DE1B5542}"/>
              </a:ext>
            </a:extLst>
          </p:cNvPr>
          <p:cNvSpPr/>
          <p:nvPr/>
        </p:nvSpPr>
        <p:spPr>
          <a:xfrm>
            <a:off x="7161531" y="5692705"/>
            <a:ext cx="612141" cy="35013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200" dirty="0"/>
              <a:t>1 day</a:t>
            </a:r>
            <a:endParaRPr lang="en-US" sz="1200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942DF916-E342-4E38-5418-6115F1AAEF91}"/>
              </a:ext>
            </a:extLst>
          </p:cNvPr>
          <p:cNvSpPr/>
          <p:nvPr/>
        </p:nvSpPr>
        <p:spPr>
          <a:xfrm>
            <a:off x="7161531" y="6212910"/>
            <a:ext cx="612141" cy="35013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200" dirty="0"/>
              <a:t>1 day</a:t>
            </a:r>
            <a:endParaRPr lang="en-US" sz="1200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0E5CDB71-55DA-83C2-723B-A3DA5F87583A}"/>
              </a:ext>
            </a:extLst>
          </p:cNvPr>
          <p:cNvSpPr/>
          <p:nvPr/>
        </p:nvSpPr>
        <p:spPr>
          <a:xfrm>
            <a:off x="10895332" y="1108864"/>
            <a:ext cx="612141" cy="35013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200" dirty="0"/>
              <a:t>1 day</a:t>
            </a:r>
            <a:endParaRPr lang="en-US" sz="1200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5B77AE67-DAD3-A7DC-E4BB-D9F29FAB74AD}"/>
              </a:ext>
            </a:extLst>
          </p:cNvPr>
          <p:cNvSpPr/>
          <p:nvPr/>
        </p:nvSpPr>
        <p:spPr>
          <a:xfrm>
            <a:off x="10895332" y="1621414"/>
            <a:ext cx="612141" cy="35013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200" dirty="0"/>
              <a:t>3 day</a:t>
            </a:r>
            <a:endParaRPr lang="en-US" sz="1200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F0670B9A-0F50-28C3-F39B-40F87F35D5D7}"/>
              </a:ext>
            </a:extLst>
          </p:cNvPr>
          <p:cNvSpPr/>
          <p:nvPr/>
        </p:nvSpPr>
        <p:spPr>
          <a:xfrm>
            <a:off x="10895332" y="2203438"/>
            <a:ext cx="612141" cy="35013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200" dirty="0"/>
              <a:t>2 day</a:t>
            </a:r>
            <a:endParaRPr lang="en-US" sz="1200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F58207D7-260C-B05A-7F67-1677B7D514A9}"/>
              </a:ext>
            </a:extLst>
          </p:cNvPr>
          <p:cNvSpPr/>
          <p:nvPr/>
        </p:nvSpPr>
        <p:spPr>
          <a:xfrm>
            <a:off x="10895331" y="2767994"/>
            <a:ext cx="612141" cy="35013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200" dirty="0"/>
              <a:t>1 day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494749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10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10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3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3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4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4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4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5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5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5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5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6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6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6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8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8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8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8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9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9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9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8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6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>
                      <p:stCondLst>
                        <p:cond delay="indefinite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4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35" grpId="0" animBg="1"/>
      <p:bldP spid="36" grpId="0" animBg="1"/>
      <p:bldP spid="37" grpId="0" animBg="1"/>
      <p:bldP spid="37" grpId="1" animBg="1"/>
      <p:bldP spid="38" grpId="0" animBg="1"/>
      <p:bldP spid="38" grpId="1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8" grpId="1" animBg="1"/>
      <p:bldP spid="49" grpId="0" animBg="1"/>
      <p:bldP spid="50" grpId="0" animBg="1"/>
      <p:bldP spid="51" grpId="0" animBg="1"/>
      <p:bldP spid="51" grpId="1" animBg="1"/>
      <p:bldP spid="52" grpId="0" animBg="1"/>
      <p:bldP spid="53" grpId="0" animBg="1"/>
      <p:bldP spid="54" grpId="0" animBg="1"/>
      <p:bldP spid="55" grpId="0" animBg="1"/>
      <p:bldP spid="56" grpId="0" animBg="1"/>
      <p:bldP spid="56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B4180E-A5FF-E31B-3A41-F28C9C0EA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98F3A-FA74-7F07-0402-E8034F4EA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4395"/>
            <a:ext cx="12192000" cy="763600"/>
          </a:xfrm>
          <a:solidFill>
            <a:srgbClr val="FFFF00"/>
          </a:solidFill>
        </p:spPr>
        <p:txBody>
          <a:bodyPr/>
          <a:lstStyle/>
          <a:p>
            <a:r>
              <a:rPr lang="en-CA" dirty="0"/>
              <a:t>How to Get the most out of this Course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B0DEAB-2882-8B0E-2363-47AF8343D8D9}"/>
              </a:ext>
            </a:extLst>
          </p:cNvPr>
          <p:cNvSpPr txBox="1"/>
          <p:nvPr/>
        </p:nvSpPr>
        <p:spPr>
          <a:xfrm>
            <a:off x="206829" y="1034143"/>
            <a:ext cx="354874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Attend Every Class</a:t>
            </a:r>
          </a:p>
          <a:p>
            <a:pPr algn="ctr"/>
            <a:r>
              <a:rPr lang="en-GB" dirty="0"/>
              <a:t>Come to class on time</a:t>
            </a:r>
          </a:p>
          <a:p>
            <a:pPr algn="ctr"/>
            <a:r>
              <a:rPr lang="en-GB" dirty="0"/>
              <a:t>Listen carefully to explanations</a:t>
            </a:r>
          </a:p>
          <a:p>
            <a:pPr algn="ctr"/>
            <a:r>
              <a:rPr lang="en-GB" dirty="0"/>
              <a:t>Take short notes</a:t>
            </a:r>
          </a:p>
          <a:p>
            <a:pPr algn="ctr"/>
            <a:r>
              <a:rPr lang="en-GB" dirty="0"/>
              <a:t>Do not miss lessons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81FABE-EA72-20D9-95BE-FAB57F8C03BB}"/>
              </a:ext>
            </a:extLst>
          </p:cNvPr>
          <p:cNvSpPr txBox="1"/>
          <p:nvPr/>
        </p:nvSpPr>
        <p:spPr>
          <a:xfrm>
            <a:off x="4321629" y="1034143"/>
            <a:ext cx="354874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Practice Every Day</a:t>
            </a:r>
          </a:p>
          <a:p>
            <a:pPr algn="ctr"/>
            <a:r>
              <a:rPr lang="en-GB" dirty="0"/>
              <a:t>JavaScript needs </a:t>
            </a:r>
            <a:r>
              <a:rPr lang="en-GB" b="1" dirty="0"/>
              <a:t>practice</a:t>
            </a:r>
            <a:endParaRPr lang="en-GB" dirty="0"/>
          </a:p>
          <a:p>
            <a:pPr algn="ctr"/>
            <a:r>
              <a:rPr lang="en-GB" dirty="0"/>
              <a:t>Write code every day </a:t>
            </a:r>
          </a:p>
          <a:p>
            <a:pPr algn="ctr"/>
            <a:r>
              <a:rPr lang="en-GB" dirty="0"/>
              <a:t>(even 20–30 minutes)</a:t>
            </a:r>
          </a:p>
          <a:p>
            <a:pPr algn="ctr"/>
            <a:r>
              <a:rPr lang="en-GB" dirty="0"/>
              <a:t>Do not only read — </a:t>
            </a:r>
          </a:p>
          <a:p>
            <a:pPr algn="ctr"/>
            <a:r>
              <a:rPr lang="en-GB" b="1" dirty="0"/>
              <a:t>type the code yourself</a:t>
            </a:r>
            <a:endParaRPr lang="en-GB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92D4CFE-5267-2F92-CAEC-5732174B88BB}"/>
              </a:ext>
            </a:extLst>
          </p:cNvPr>
          <p:cNvSpPr txBox="1"/>
          <p:nvPr/>
        </p:nvSpPr>
        <p:spPr>
          <a:xfrm>
            <a:off x="7652658" y="1034143"/>
            <a:ext cx="45393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Understand, Don’t Memorize</a:t>
            </a:r>
          </a:p>
          <a:p>
            <a:pPr algn="ctr"/>
            <a:r>
              <a:rPr lang="en-GB" dirty="0"/>
              <a:t>Try to understand </a:t>
            </a:r>
            <a:r>
              <a:rPr lang="en-GB" b="1" dirty="0"/>
              <a:t>why</a:t>
            </a:r>
            <a:r>
              <a:rPr lang="en-GB" dirty="0"/>
              <a:t> the code works</a:t>
            </a:r>
          </a:p>
          <a:p>
            <a:pPr algn="ctr"/>
            <a:r>
              <a:rPr lang="en-GB" dirty="0"/>
              <a:t>If you don’t understand, ask questions</a:t>
            </a:r>
          </a:p>
          <a:p>
            <a:pPr algn="ctr"/>
            <a:r>
              <a:rPr lang="en-GB" dirty="0"/>
              <a:t>Use comments in your code to explain it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A6BBCE0-5D0D-21E3-C54D-6A94E2BAABC3}"/>
              </a:ext>
            </a:extLst>
          </p:cNvPr>
          <p:cNvSpPr txBox="1"/>
          <p:nvPr/>
        </p:nvSpPr>
        <p:spPr>
          <a:xfrm>
            <a:off x="206829" y="3022600"/>
            <a:ext cx="37664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Make Mistakes (This Is Good!)</a:t>
            </a:r>
          </a:p>
          <a:p>
            <a:pPr algn="ctr"/>
            <a:r>
              <a:rPr lang="en-GB" dirty="0"/>
              <a:t>Errors are normal in programming</a:t>
            </a:r>
          </a:p>
          <a:p>
            <a:pPr algn="ctr"/>
            <a:r>
              <a:rPr lang="en-GB" dirty="0"/>
              <a:t>Read error messages carefully</a:t>
            </a:r>
          </a:p>
          <a:p>
            <a:pPr algn="ctr"/>
            <a:r>
              <a:rPr lang="en-GB" dirty="0"/>
              <a:t>Fix one problem at a time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ECEDFD2-8E21-ABF0-C440-797E042C6D42}"/>
              </a:ext>
            </a:extLst>
          </p:cNvPr>
          <p:cNvSpPr txBox="1"/>
          <p:nvPr/>
        </p:nvSpPr>
        <p:spPr>
          <a:xfrm>
            <a:off x="4321629" y="3022600"/>
            <a:ext cx="35487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Do All Assignments</a:t>
            </a:r>
          </a:p>
          <a:p>
            <a:pPr algn="ctr"/>
            <a:r>
              <a:rPr lang="en-GB" dirty="0"/>
              <a:t>Submit assignments on time</a:t>
            </a:r>
          </a:p>
          <a:p>
            <a:pPr algn="ctr"/>
            <a:r>
              <a:rPr lang="en-GB" dirty="0"/>
              <a:t>Follow instructions carefully</a:t>
            </a:r>
          </a:p>
          <a:p>
            <a:pPr algn="ctr"/>
            <a:r>
              <a:rPr lang="en-GB" dirty="0"/>
              <a:t>Do your own work (no copy-paste)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4447E12-697E-BAC1-A6D4-3E7153E145A9}"/>
              </a:ext>
            </a:extLst>
          </p:cNvPr>
          <p:cNvSpPr txBox="1"/>
          <p:nvPr/>
        </p:nvSpPr>
        <p:spPr>
          <a:xfrm>
            <a:off x="8436430" y="3022599"/>
            <a:ext cx="35487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Review After Class</a:t>
            </a:r>
          </a:p>
          <a:p>
            <a:pPr algn="ctr"/>
            <a:r>
              <a:rPr lang="en-GB" dirty="0"/>
              <a:t>Re-read your notes</a:t>
            </a:r>
          </a:p>
          <a:p>
            <a:pPr algn="ctr"/>
            <a:r>
              <a:rPr lang="en-GB" dirty="0"/>
              <a:t>Re-run examples from class</a:t>
            </a:r>
          </a:p>
          <a:p>
            <a:pPr algn="ctr"/>
            <a:r>
              <a:rPr lang="en-GB" dirty="0"/>
              <a:t>Improve your old code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499CB41-13C9-B82F-BE56-4085484DCDA7}"/>
              </a:ext>
            </a:extLst>
          </p:cNvPr>
          <p:cNvSpPr txBox="1"/>
          <p:nvPr/>
        </p:nvSpPr>
        <p:spPr>
          <a:xfrm>
            <a:off x="206829" y="5011056"/>
            <a:ext cx="35487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Help Each Other</a:t>
            </a:r>
          </a:p>
          <a:p>
            <a:pPr algn="ctr"/>
            <a:r>
              <a:rPr lang="en-GB" dirty="0"/>
              <a:t>Discuss with classmates</a:t>
            </a:r>
          </a:p>
          <a:p>
            <a:pPr algn="ctr"/>
            <a:r>
              <a:rPr lang="en-GB" dirty="0"/>
              <a:t>Search documentation (MDN)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DBE4577-DA3A-1C22-A488-CD0465D28741}"/>
              </a:ext>
            </a:extLst>
          </p:cNvPr>
          <p:cNvSpPr txBox="1"/>
          <p:nvPr/>
        </p:nvSpPr>
        <p:spPr>
          <a:xfrm>
            <a:off x="4321629" y="5011056"/>
            <a:ext cx="35487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Be Patient and Consistent</a:t>
            </a:r>
          </a:p>
          <a:p>
            <a:pPr algn="ctr"/>
            <a:r>
              <a:rPr lang="en-GB" dirty="0"/>
              <a:t>Learning JavaScript takes time</a:t>
            </a:r>
          </a:p>
          <a:p>
            <a:pPr algn="ctr"/>
            <a:r>
              <a:rPr lang="en-GB" dirty="0"/>
              <a:t>Do not give up</a:t>
            </a:r>
          </a:p>
          <a:p>
            <a:pPr algn="ctr"/>
            <a:r>
              <a:rPr lang="en-GB" dirty="0"/>
              <a:t>Practice + patience = success </a:t>
            </a:r>
          </a:p>
        </p:txBody>
      </p:sp>
    </p:spTree>
    <p:extLst>
      <p:ext uri="{BB962C8B-B14F-4D97-AF65-F5344CB8AC3E}">
        <p14:creationId xmlns:p14="http://schemas.microsoft.com/office/powerpoint/2010/main" val="522279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35" grpId="0"/>
      <p:bldP spid="36" grpId="0"/>
      <p:bldP spid="37" grpId="0"/>
      <p:bldP spid="38" grpId="0"/>
      <p:bldP spid="39" grpId="0"/>
      <p:bldP spid="4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362F0DB3-A3BD-A483-9B25-BB666C270B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52400"/>
            <a:ext cx="12192000" cy="7010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70366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9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 dirty="0"/>
              <a:t>What we Cover Today:</a:t>
            </a:r>
            <a:endParaRPr dirty="0"/>
          </a:p>
        </p:txBody>
      </p:sp>
      <p:sp>
        <p:nvSpPr>
          <p:cNvPr id="214" name="Google Shape;214;p29"/>
          <p:cNvSpPr txBox="1">
            <a:spLocks noGrp="1"/>
          </p:cNvSpPr>
          <p:nvPr>
            <p:ph type="title" idx="2"/>
          </p:nvPr>
        </p:nvSpPr>
        <p:spPr>
          <a:xfrm>
            <a:off x="2072412" y="1860800"/>
            <a:ext cx="1040800" cy="829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r>
              <a:rPr lang="en"/>
              <a:t>01</a:t>
            </a:r>
            <a:endParaRPr/>
          </a:p>
        </p:txBody>
      </p:sp>
      <p:sp>
        <p:nvSpPr>
          <p:cNvPr id="215" name="Google Shape;215;p29"/>
          <p:cNvSpPr txBox="1">
            <a:spLocks noGrp="1"/>
          </p:cNvSpPr>
          <p:nvPr>
            <p:ph type="title" idx="3"/>
          </p:nvPr>
        </p:nvSpPr>
        <p:spPr>
          <a:xfrm>
            <a:off x="2072412" y="4065739"/>
            <a:ext cx="1040800" cy="829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r>
              <a:rPr lang="en"/>
              <a:t>04</a:t>
            </a:r>
            <a:endParaRPr/>
          </a:p>
        </p:txBody>
      </p:sp>
      <p:sp>
        <p:nvSpPr>
          <p:cNvPr id="216" name="Google Shape;216;p29"/>
          <p:cNvSpPr txBox="1">
            <a:spLocks noGrp="1"/>
          </p:cNvSpPr>
          <p:nvPr>
            <p:ph type="title" idx="4"/>
          </p:nvPr>
        </p:nvSpPr>
        <p:spPr>
          <a:xfrm>
            <a:off x="5580116" y="1860800"/>
            <a:ext cx="1040800" cy="829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r>
              <a:rPr lang="en"/>
              <a:t>02</a:t>
            </a:r>
            <a:endParaRPr/>
          </a:p>
        </p:txBody>
      </p:sp>
      <p:sp>
        <p:nvSpPr>
          <p:cNvPr id="217" name="Google Shape;217;p29"/>
          <p:cNvSpPr txBox="1">
            <a:spLocks noGrp="1"/>
          </p:cNvSpPr>
          <p:nvPr>
            <p:ph type="title" idx="5"/>
          </p:nvPr>
        </p:nvSpPr>
        <p:spPr>
          <a:xfrm>
            <a:off x="5580116" y="4065739"/>
            <a:ext cx="1040800" cy="829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r>
              <a:rPr lang="en"/>
              <a:t>05</a:t>
            </a:r>
            <a:endParaRPr/>
          </a:p>
        </p:txBody>
      </p:sp>
      <p:sp>
        <p:nvSpPr>
          <p:cNvPr id="218" name="Google Shape;218;p29"/>
          <p:cNvSpPr txBox="1">
            <a:spLocks noGrp="1"/>
          </p:cNvSpPr>
          <p:nvPr>
            <p:ph type="title" idx="6"/>
          </p:nvPr>
        </p:nvSpPr>
        <p:spPr>
          <a:xfrm>
            <a:off x="9087853" y="1860800"/>
            <a:ext cx="1040800" cy="829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r>
              <a:rPr lang="en"/>
              <a:t>03</a:t>
            </a:r>
            <a:endParaRPr/>
          </a:p>
        </p:txBody>
      </p:sp>
      <p:sp>
        <p:nvSpPr>
          <p:cNvPr id="220" name="Google Shape;220;p29"/>
          <p:cNvSpPr txBox="1">
            <a:spLocks noGrp="1"/>
          </p:cNvSpPr>
          <p:nvPr>
            <p:ph type="subTitle" idx="1"/>
          </p:nvPr>
        </p:nvSpPr>
        <p:spPr>
          <a:xfrm>
            <a:off x="960000" y="2893600"/>
            <a:ext cx="3265600" cy="596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/>
            <a:r>
              <a:rPr lang="en-US" dirty="0"/>
              <a:t>Introduction to JS</a:t>
            </a:r>
          </a:p>
        </p:txBody>
      </p:sp>
      <p:cxnSp>
        <p:nvCxnSpPr>
          <p:cNvPr id="226" name="Google Shape;226;p29"/>
          <p:cNvCxnSpPr/>
          <p:nvPr/>
        </p:nvCxnSpPr>
        <p:spPr>
          <a:xfrm>
            <a:off x="2020000" y="2792000"/>
            <a:ext cx="1145600" cy="0"/>
          </a:xfrm>
          <a:prstGeom prst="straightConnector1">
            <a:avLst/>
          </a:prstGeom>
          <a:noFill/>
          <a:ln w="9525" cap="flat" cmpd="sng">
            <a:solidFill>
              <a:srgbClr val="FFC000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227" name="Google Shape;227;p29"/>
          <p:cNvCxnSpPr/>
          <p:nvPr/>
        </p:nvCxnSpPr>
        <p:spPr>
          <a:xfrm>
            <a:off x="5527717" y="2792000"/>
            <a:ext cx="1145600" cy="0"/>
          </a:xfrm>
          <a:prstGeom prst="straightConnector1">
            <a:avLst/>
          </a:prstGeom>
          <a:noFill/>
          <a:ln w="9525" cap="flat" cmpd="sng">
            <a:solidFill>
              <a:srgbClr val="FFC000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228" name="Google Shape;228;p29"/>
          <p:cNvCxnSpPr/>
          <p:nvPr/>
        </p:nvCxnSpPr>
        <p:spPr>
          <a:xfrm>
            <a:off x="9035384" y="2792000"/>
            <a:ext cx="1145600" cy="0"/>
          </a:xfrm>
          <a:prstGeom prst="straightConnector1">
            <a:avLst/>
          </a:prstGeom>
          <a:noFill/>
          <a:ln w="9525" cap="flat" cmpd="sng">
            <a:solidFill>
              <a:srgbClr val="FFC000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229" name="Google Shape;229;p29"/>
          <p:cNvCxnSpPr/>
          <p:nvPr/>
        </p:nvCxnSpPr>
        <p:spPr>
          <a:xfrm>
            <a:off x="2020000" y="4996933"/>
            <a:ext cx="1145600" cy="0"/>
          </a:xfrm>
          <a:prstGeom prst="straightConnector1">
            <a:avLst/>
          </a:prstGeom>
          <a:noFill/>
          <a:ln w="9525" cap="flat" cmpd="sng">
            <a:solidFill>
              <a:srgbClr val="FFC000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230" name="Google Shape;230;p29"/>
          <p:cNvCxnSpPr/>
          <p:nvPr/>
        </p:nvCxnSpPr>
        <p:spPr>
          <a:xfrm>
            <a:off x="5527717" y="4996933"/>
            <a:ext cx="1145600" cy="0"/>
          </a:xfrm>
          <a:prstGeom prst="straightConnector1">
            <a:avLst/>
          </a:prstGeom>
          <a:noFill/>
          <a:ln w="9525" cap="flat" cmpd="sng">
            <a:solidFill>
              <a:srgbClr val="FFC000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" name="Google Shape;220;p29">
            <a:extLst>
              <a:ext uri="{FF2B5EF4-FFF2-40B4-BE49-F238E27FC236}">
                <a16:creationId xmlns:a16="http://schemas.microsoft.com/office/drawing/2014/main" id="{646AA688-C953-8207-6385-3D0F7EEDC8EA}"/>
              </a:ext>
            </a:extLst>
          </p:cNvPr>
          <p:cNvSpPr txBox="1">
            <a:spLocks/>
          </p:cNvSpPr>
          <p:nvPr/>
        </p:nvSpPr>
        <p:spPr>
          <a:xfrm>
            <a:off x="4463200" y="2893596"/>
            <a:ext cx="3265600" cy="5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pPr marL="0" indent="0"/>
            <a:r>
              <a:rPr lang="en-GB" sz="2400" dirty="0"/>
              <a:t>Outputs and Comments</a:t>
            </a:r>
          </a:p>
        </p:txBody>
      </p:sp>
      <p:sp>
        <p:nvSpPr>
          <p:cNvPr id="4" name="Google Shape;220;p29">
            <a:extLst>
              <a:ext uri="{FF2B5EF4-FFF2-40B4-BE49-F238E27FC236}">
                <a16:creationId xmlns:a16="http://schemas.microsoft.com/office/drawing/2014/main" id="{BDB03565-0506-79DC-F6D7-009C8D6D6B35}"/>
              </a:ext>
            </a:extLst>
          </p:cNvPr>
          <p:cNvSpPr txBox="1">
            <a:spLocks/>
          </p:cNvSpPr>
          <p:nvPr/>
        </p:nvSpPr>
        <p:spPr>
          <a:xfrm>
            <a:off x="7966400" y="2876545"/>
            <a:ext cx="3265600" cy="5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pPr marL="0" indent="0"/>
            <a:r>
              <a:rPr lang="en-GB" sz="2400" dirty="0" err="1"/>
              <a:t>EcmaScript</a:t>
            </a:r>
            <a:endParaRPr lang="en-GB" sz="2400" dirty="0"/>
          </a:p>
        </p:txBody>
      </p:sp>
      <p:sp>
        <p:nvSpPr>
          <p:cNvPr id="5" name="Google Shape;220;p29">
            <a:extLst>
              <a:ext uri="{FF2B5EF4-FFF2-40B4-BE49-F238E27FC236}">
                <a16:creationId xmlns:a16="http://schemas.microsoft.com/office/drawing/2014/main" id="{AC67C9DB-CC07-97AD-A7A0-9E896C6818EA}"/>
              </a:ext>
            </a:extLst>
          </p:cNvPr>
          <p:cNvSpPr txBox="1">
            <a:spLocks/>
          </p:cNvSpPr>
          <p:nvPr/>
        </p:nvSpPr>
        <p:spPr>
          <a:xfrm>
            <a:off x="960000" y="5027033"/>
            <a:ext cx="3265600" cy="5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pPr marL="0" indent="0"/>
            <a:r>
              <a:rPr lang="en-GB" sz="2400" dirty="0"/>
              <a:t>History of JS</a:t>
            </a:r>
          </a:p>
        </p:txBody>
      </p:sp>
      <p:sp>
        <p:nvSpPr>
          <p:cNvPr id="6" name="Google Shape;220;p29">
            <a:extLst>
              <a:ext uri="{FF2B5EF4-FFF2-40B4-BE49-F238E27FC236}">
                <a16:creationId xmlns:a16="http://schemas.microsoft.com/office/drawing/2014/main" id="{F2ABA3A9-70CA-444E-BC51-7CD0A40DE7DF}"/>
              </a:ext>
            </a:extLst>
          </p:cNvPr>
          <p:cNvSpPr txBox="1">
            <a:spLocks/>
          </p:cNvSpPr>
          <p:nvPr/>
        </p:nvSpPr>
        <p:spPr>
          <a:xfrm>
            <a:off x="4463200" y="5098529"/>
            <a:ext cx="3265600" cy="5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pPr marL="0" indent="0"/>
            <a:r>
              <a:rPr lang="en-GB" sz="2400" dirty="0"/>
              <a:t>Exercise</a:t>
            </a:r>
          </a:p>
        </p:txBody>
      </p:sp>
    </p:spTree>
    <p:extLst>
      <p:ext uri="{BB962C8B-B14F-4D97-AF65-F5344CB8AC3E}">
        <p14:creationId xmlns:p14="http://schemas.microsoft.com/office/powerpoint/2010/main" val="39770455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3"/>
          <p:cNvSpPr txBox="1">
            <a:spLocks noGrp="1"/>
          </p:cNvSpPr>
          <p:nvPr>
            <p:ph type="title"/>
          </p:nvPr>
        </p:nvSpPr>
        <p:spPr>
          <a:xfrm>
            <a:off x="960000" y="413485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 dirty="0"/>
              <a:t>Introduction to JS</a:t>
            </a:r>
            <a:endParaRPr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6A38E2B-56EE-32E0-7744-8B61F92C598B}"/>
              </a:ext>
            </a:extLst>
          </p:cNvPr>
          <p:cNvSpPr txBox="1"/>
          <p:nvPr/>
        </p:nvSpPr>
        <p:spPr>
          <a:xfrm>
            <a:off x="960001" y="1177085"/>
            <a:ext cx="10912209" cy="55750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40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JavaScript </a:t>
            </a: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 Scripting Language or Programming Language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JavaScript</a:t>
            </a: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a programming language mainly used to </a:t>
            </a:r>
            <a:r>
              <a:rPr lang="en-GB" sz="2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make web pages interactive</a:t>
            </a: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It runs in your web browser and allows websites to:</a:t>
            </a:r>
          </a:p>
          <a:p>
            <a:pPr marL="380990" indent="-38099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Respond to user actions (like clicks, mouse movement, typing, etc.)</a:t>
            </a:r>
          </a:p>
          <a:p>
            <a:pPr marL="380990" indent="-38099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Update content without refreshing the page</a:t>
            </a:r>
          </a:p>
          <a:p>
            <a:pPr marL="380990" indent="-38099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Animate elements (like sliders, menus, or popups)</a:t>
            </a:r>
          </a:p>
          <a:p>
            <a:pPr marL="380990" indent="-38099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Communicate with servers to get or send data (like in chat apps or online forms)</a:t>
            </a:r>
          </a:p>
          <a:p>
            <a:pPr marL="380990" indent="-38099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GB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GB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Note: </a:t>
            </a: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Scripting Language Is like a helper language — it makes it easy to write quick programs that automate tasks or interact with other software.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>
          <a:extLst>
            <a:ext uri="{FF2B5EF4-FFF2-40B4-BE49-F238E27FC236}">
              <a16:creationId xmlns:a16="http://schemas.microsoft.com/office/drawing/2014/main" id="{3FA2691E-11AD-C01E-DE6F-5AFA66389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3">
            <a:extLst>
              <a:ext uri="{FF2B5EF4-FFF2-40B4-BE49-F238E27FC236}">
                <a16:creationId xmlns:a16="http://schemas.microsoft.com/office/drawing/2014/main" id="{6E5E05C4-EC64-6BE6-704E-D18EE26E4C3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413485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 dirty="0"/>
              <a:t>The role of JS in Web Development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16905A4-6B32-A83F-9B28-0ED5C80303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2667" l="3209" r="92399">
                        <a14:foregroundMark x1="48142" y1="10167" x2="48142" y2="10167"/>
                        <a14:foregroundMark x1="38176" y1="50167" x2="38176" y2="50167"/>
                        <a14:foregroundMark x1="34459" y1="50167" x2="34459" y2="50167"/>
                        <a14:foregroundMark x1="31419" y1="45833" x2="31419" y2="45833"/>
                        <a14:foregroundMark x1="37331" y1="48333" x2="37331" y2="48333"/>
                        <a14:foregroundMark x1="6757" y1="68167" x2="6757" y2="68167"/>
                        <a14:foregroundMark x1="74324" y1="71833" x2="74324" y2="71833"/>
                        <a14:foregroundMark x1="66385" y1="53167" x2="66385" y2="53167"/>
                        <a14:foregroundMark x1="86655" y1="63833" x2="86655" y2="63833"/>
                        <a14:foregroundMark x1="86655" y1="63833" x2="86655" y2="63833"/>
                        <a14:foregroundMark x1="81926" y1="57333" x2="67736" y2="73333"/>
                        <a14:foregroundMark x1="67736" y1="73333" x2="83277" y2="58333"/>
                        <a14:foregroundMark x1="83277" y1="58333" x2="80574" y2="57500"/>
                        <a14:foregroundMark x1="76689" y1="48333" x2="89696" y2="60500"/>
                        <a14:foregroundMark x1="89696" y1="60500" x2="88176" y2="64833"/>
                        <a14:foregroundMark x1="78041" y1="53833" x2="57939" y2="69000"/>
                        <a14:foregroundMark x1="57939" y1="69000" x2="63007" y2="81333"/>
                        <a14:foregroundMark x1="81913" y1="90333" x2="82264" y2="90500"/>
                        <a14:foregroundMark x1="81564" y1="90167" x2="81913" y2="90333"/>
                        <a14:foregroundMark x1="63007" y1="81333" x2="81564" y2="90167"/>
                        <a14:foregroundMark x1="82447" y1="90167" x2="89865" y2="76667"/>
                        <a14:foregroundMark x1="82356" y1="90333" x2="82447" y2="90167"/>
                        <a14:foregroundMark x1="82264" y1="90500" x2="82356" y2="90333"/>
                        <a14:foregroundMark x1="89865" y1="76667" x2="92399" y2="62000"/>
                        <a14:foregroundMark x1="92399" y1="62000" x2="79392" y2="56500"/>
                        <a14:foregroundMark x1="79392" y1="56500" x2="74324" y2="51833"/>
                        <a14:foregroundMark x1="25676" y1="92000" x2="25676" y2="92000"/>
                        <a14:foregroundMark x1="3716" y1="67333" x2="3716" y2="67333"/>
                        <a14:foregroundMark x1="25845" y1="71500" x2="25845" y2="71500"/>
                        <a14:foregroundMark x1="67568" y1="92667" x2="67568" y2="92667"/>
                        <a14:foregroundMark x1="3209" y1="70833" x2="3209" y2="70833"/>
                        <a14:backgroundMark x1="82601" y1="90500" x2="82601" y2="90500"/>
                        <a14:backgroundMark x1="82264" y1="90667" x2="82264" y2="90667"/>
                        <a14:backgroundMark x1="82264" y1="90667" x2="82264" y2="90667"/>
                        <a14:backgroundMark x1="82095" y1="90500" x2="82095" y2="90500"/>
                        <a14:backgroundMark x1="82432" y1="90333" x2="82432" y2="90333"/>
                        <a14:backgroundMark x1="82939" y1="90167" x2="82939" y2="901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589738" y="1380031"/>
            <a:ext cx="5012524" cy="5080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1003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>
          <a:extLst>
            <a:ext uri="{FF2B5EF4-FFF2-40B4-BE49-F238E27FC236}">
              <a16:creationId xmlns:a16="http://schemas.microsoft.com/office/drawing/2014/main" id="{8A9AB716-AC23-A63E-41D6-1AC4ACFD27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1160BDF-8F37-86B9-1929-5574570ED7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901" y="0"/>
            <a:ext cx="120420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31161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>
          <a:extLst>
            <a:ext uri="{FF2B5EF4-FFF2-40B4-BE49-F238E27FC236}">
              <a16:creationId xmlns:a16="http://schemas.microsoft.com/office/drawing/2014/main" id="{50E14025-D7B5-6BBC-5C52-06EF60DE86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3">
            <a:extLst>
              <a:ext uri="{FF2B5EF4-FFF2-40B4-BE49-F238E27FC236}">
                <a16:creationId xmlns:a16="http://schemas.microsoft.com/office/drawing/2014/main" id="{81D30B46-4B0A-08F1-1948-0542E6F0531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413485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 dirty="0"/>
              <a:t>Introduction to JS</a:t>
            </a:r>
            <a:endParaRPr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9AF5E49-AF17-E4C9-ECC6-5193F954363A}"/>
              </a:ext>
            </a:extLst>
          </p:cNvPr>
          <p:cNvSpPr txBox="1"/>
          <p:nvPr/>
        </p:nvSpPr>
        <p:spPr>
          <a:xfrm>
            <a:off x="960001" y="1177086"/>
            <a:ext cx="10912209" cy="40977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JavaScript Can Do?</a:t>
            </a:r>
          </a:p>
          <a:p>
            <a:pPr marL="380990" indent="-38099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Dynamically Update Content</a:t>
            </a:r>
          </a:p>
          <a:p>
            <a:pPr marL="380990" indent="-38099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Manipulating HTML and CSS</a:t>
            </a:r>
          </a:p>
          <a:p>
            <a:pPr marL="380990" indent="-38099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Animate images and Content and Create image Gallery</a:t>
            </a:r>
          </a:p>
          <a:p>
            <a:pPr marL="380990" indent="-38099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Manipulate and Validate Data</a:t>
            </a:r>
          </a:p>
          <a:p>
            <a:pPr marL="380990" indent="-38099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Control Multimedia (Audio, Video, Etc)</a:t>
            </a:r>
          </a:p>
          <a:p>
            <a:pPr marL="380990" indent="-38099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Web Browser games, Mobile Apps, Desktop Apps</a:t>
            </a:r>
          </a:p>
        </p:txBody>
      </p:sp>
    </p:spTree>
    <p:extLst>
      <p:ext uri="{BB962C8B-B14F-4D97-AF65-F5344CB8AC3E}">
        <p14:creationId xmlns:p14="http://schemas.microsoft.com/office/powerpoint/2010/main" val="24889422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>
          <a:extLst>
            <a:ext uri="{FF2B5EF4-FFF2-40B4-BE49-F238E27FC236}">
              <a16:creationId xmlns:a16="http://schemas.microsoft.com/office/drawing/2014/main" id="{F0D9E207-FA5D-0884-367F-0E602DBCC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31A09B-8653-92B9-A859-E15DAA13A4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346" y="668383"/>
            <a:ext cx="11747308" cy="5521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9350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>
          <a:extLst>
            <a:ext uri="{FF2B5EF4-FFF2-40B4-BE49-F238E27FC236}">
              <a16:creationId xmlns:a16="http://schemas.microsoft.com/office/drawing/2014/main" id="{1D7FD950-4BE7-0B32-B8DC-A4A17CA90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3">
            <a:extLst>
              <a:ext uri="{FF2B5EF4-FFF2-40B4-BE49-F238E27FC236}">
                <a16:creationId xmlns:a16="http://schemas.microsoft.com/office/drawing/2014/main" id="{102C1E38-9785-30D1-F0E1-96CA23D42AA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233603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 dirty="0"/>
              <a:t>Introduction to JS</a:t>
            </a:r>
            <a:endParaRPr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45E89D2-9973-1159-918B-5FA140AEC44F}"/>
              </a:ext>
            </a:extLst>
          </p:cNvPr>
          <p:cNvSpPr txBox="1"/>
          <p:nvPr/>
        </p:nvSpPr>
        <p:spPr>
          <a:xfrm>
            <a:off x="960001" y="997203"/>
            <a:ext cx="10692353" cy="57597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Add JavaScript to Web Pages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add JavaScript to your web pages, you can use one of these </a:t>
            </a:r>
            <a:r>
              <a:rPr lang="en-GB" sz="2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three main methods</a:t>
            </a: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457189" indent="-457189">
              <a:lnSpc>
                <a:spcPct val="150000"/>
              </a:lnSpc>
              <a:buFont typeface="+mj-lt"/>
              <a:buAutoNum type="arabicPeriod"/>
            </a:pPr>
            <a:r>
              <a:rPr lang="en-GB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Inline JavaScript (inside HTML tags)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&lt;button onclick="alert('Hello!')"&gt;Click me&lt;/button&gt;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 this only for very small scripts, it's not ideal for real projects.</a:t>
            </a:r>
          </a:p>
          <a:p>
            <a:pPr marL="457189" indent="-457189">
              <a:lnSpc>
                <a:spcPct val="150000"/>
              </a:lnSpc>
              <a:buFont typeface="+mj-lt"/>
              <a:buAutoNum type="arabicPeriod" startAt="2"/>
            </a:pPr>
            <a:r>
              <a:rPr lang="fr-FR" sz="2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Internal</a:t>
            </a:r>
            <a:r>
              <a:rPr lang="fr-FR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or </a:t>
            </a:r>
            <a:r>
              <a:rPr lang="fr-FR" sz="2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Embedding</a:t>
            </a:r>
            <a:r>
              <a:rPr lang="fr-FR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JavaScript (</a:t>
            </a:r>
            <a:r>
              <a:rPr lang="fr-FR" sz="2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inside</a:t>
            </a:r>
            <a:r>
              <a:rPr lang="fr-FR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&lt;script&gt; tag)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&lt;script&gt;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 function </a:t>
            </a:r>
            <a:r>
              <a:rPr lang="en-GB" sz="2400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sayHi</a:t>
            </a:r>
            <a:r>
              <a:rPr lang="en-GB" sz="2400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() {alert("Hi from internal script!");}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&lt;/script&gt;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Put your &lt;script&gt; tags at the bottom of the &lt;body&gt; to ensure the page loads first.</a:t>
            </a:r>
          </a:p>
        </p:txBody>
      </p:sp>
    </p:spTree>
    <p:extLst>
      <p:ext uri="{BB962C8B-B14F-4D97-AF65-F5344CB8AC3E}">
        <p14:creationId xmlns:p14="http://schemas.microsoft.com/office/powerpoint/2010/main" val="16719672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>
          <a:extLst>
            <a:ext uri="{FF2B5EF4-FFF2-40B4-BE49-F238E27FC236}">
              <a16:creationId xmlns:a16="http://schemas.microsoft.com/office/drawing/2014/main" id="{010D52BC-9CB0-D386-03B7-7921AF220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3">
            <a:extLst>
              <a:ext uri="{FF2B5EF4-FFF2-40B4-BE49-F238E27FC236}">
                <a16:creationId xmlns:a16="http://schemas.microsoft.com/office/drawing/2014/main" id="{C33FC782-FC05-AA22-C1F1-5CEC275580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233603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 dirty="0"/>
              <a:t>Introduction to JS</a:t>
            </a:r>
            <a:endParaRPr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9A0F955-4A1D-B332-88D3-60C0A08D47C9}"/>
              </a:ext>
            </a:extLst>
          </p:cNvPr>
          <p:cNvSpPr txBox="1"/>
          <p:nvPr/>
        </p:nvSpPr>
        <p:spPr>
          <a:xfrm>
            <a:off x="960001" y="997203"/>
            <a:ext cx="10692353" cy="1697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189" indent="-457189">
              <a:lnSpc>
                <a:spcPct val="150000"/>
              </a:lnSpc>
              <a:buFont typeface="+mj-lt"/>
              <a:buAutoNum type="arabicPeriod" startAt="3"/>
            </a:pPr>
            <a:r>
              <a:rPr lang="en-GB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External JavaScript File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Put your JavaScript in a separate .</a:t>
            </a:r>
            <a:r>
              <a:rPr lang="en-GB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js</a:t>
            </a: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file and link it using the &lt;script&gt; tag.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&lt;script </a:t>
            </a:r>
            <a:r>
              <a:rPr lang="en-GB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src</a:t>
            </a: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="mian.js"&gt;&lt;/script&gt;</a:t>
            </a:r>
          </a:p>
        </p:txBody>
      </p:sp>
    </p:spTree>
    <p:extLst>
      <p:ext uri="{BB962C8B-B14F-4D97-AF65-F5344CB8AC3E}">
        <p14:creationId xmlns:p14="http://schemas.microsoft.com/office/powerpoint/2010/main" val="1857058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4C6E5307-0E3A-C740-B871-30C648674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>
            <a:extLst>
              <a:ext uri="{FF2B5EF4-FFF2-40B4-BE49-F238E27FC236}">
                <a16:creationId xmlns:a16="http://schemas.microsoft.com/office/drawing/2014/main" id="{090EAC51-4AB1-00C5-05E6-5CA6187149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 dirty="0"/>
              <a:t>Outputs &amp; Comments </a:t>
            </a:r>
            <a:endParaRPr dirty="0"/>
          </a:p>
        </p:txBody>
      </p:sp>
      <p:cxnSp>
        <p:nvCxnSpPr>
          <p:cNvPr id="242" name="Google Shape;242;p30">
            <a:extLst>
              <a:ext uri="{FF2B5EF4-FFF2-40B4-BE49-F238E27FC236}">
                <a16:creationId xmlns:a16="http://schemas.microsoft.com/office/drawing/2014/main" id="{9CD01BC8-2FE4-69B3-9965-F8884C7330CE}"/>
              </a:ext>
            </a:extLst>
          </p:cNvPr>
          <p:cNvCxnSpPr/>
          <p:nvPr/>
        </p:nvCxnSpPr>
        <p:spPr>
          <a:xfrm>
            <a:off x="0" y="6138667"/>
            <a:ext cx="1524000" cy="0"/>
          </a:xfrm>
          <a:prstGeom prst="straightConnector1">
            <a:avLst/>
          </a:prstGeom>
          <a:noFill/>
          <a:ln w="9525" cap="flat" cmpd="sng">
            <a:solidFill>
              <a:srgbClr val="FFC000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1565407-763D-BD86-663C-382B257BC6D3}"/>
              </a:ext>
            </a:extLst>
          </p:cNvPr>
          <p:cNvSpPr txBox="1"/>
          <p:nvPr/>
        </p:nvSpPr>
        <p:spPr>
          <a:xfrm>
            <a:off x="779488" y="1608944"/>
            <a:ext cx="10452512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Outputs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JavaScript can Display data in four ways:</a:t>
            </a:r>
          </a:p>
          <a:p>
            <a:pPr marL="457189" indent="-457189">
              <a:lnSpc>
                <a:spcPct val="150000"/>
              </a:lnSpc>
              <a:buFont typeface="+mj-lt"/>
              <a:buAutoNum type="arabicPeriod"/>
            </a:pPr>
            <a:r>
              <a:rPr lang="en-GB" sz="2400" b="1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document.write</a:t>
            </a:r>
            <a:r>
              <a:rPr lang="en-GB" sz="24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()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 </a:t>
            </a:r>
            <a:r>
              <a:rPr lang="en-GB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document.write</a:t>
            </a: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 to directly write to the HTML document.</a:t>
            </a:r>
          </a:p>
          <a:p>
            <a:pPr>
              <a:lnSpc>
                <a:spcPct val="150000"/>
              </a:lnSpc>
            </a:pPr>
            <a:r>
              <a:rPr lang="en-GB" sz="2400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document.write</a:t>
            </a:r>
            <a:r>
              <a:rPr lang="en-GB" sz="2400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(“&lt;h1&gt;Hello, world!&lt;/h1&gt;");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 recommended for modern websites (can overwrite your page if used after it loads).</a:t>
            </a:r>
          </a:p>
          <a:p>
            <a:endParaRPr lang="en-GB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62442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DD6A50A5-8FF1-3B6D-6E8A-258DB59DD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>
            <a:extLst>
              <a:ext uri="{FF2B5EF4-FFF2-40B4-BE49-F238E27FC236}">
                <a16:creationId xmlns:a16="http://schemas.microsoft.com/office/drawing/2014/main" id="{5B1C1761-9F80-CE7A-F243-816464F92EE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 dirty="0"/>
              <a:t>Outputs &amp; Comments </a:t>
            </a:r>
            <a:endParaRPr dirty="0"/>
          </a:p>
        </p:txBody>
      </p:sp>
      <p:cxnSp>
        <p:nvCxnSpPr>
          <p:cNvPr id="242" name="Google Shape;242;p30">
            <a:extLst>
              <a:ext uri="{FF2B5EF4-FFF2-40B4-BE49-F238E27FC236}">
                <a16:creationId xmlns:a16="http://schemas.microsoft.com/office/drawing/2014/main" id="{299A7247-CAEA-418F-6ACB-4525AEEA116E}"/>
              </a:ext>
            </a:extLst>
          </p:cNvPr>
          <p:cNvCxnSpPr/>
          <p:nvPr/>
        </p:nvCxnSpPr>
        <p:spPr>
          <a:xfrm>
            <a:off x="0" y="6138667"/>
            <a:ext cx="1524000" cy="0"/>
          </a:xfrm>
          <a:prstGeom prst="straightConnector1">
            <a:avLst/>
          </a:prstGeom>
          <a:noFill/>
          <a:ln w="9525" cap="flat" cmpd="sng">
            <a:solidFill>
              <a:srgbClr val="FFC000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F0BF0B1-6C8D-A655-FEF1-6CB6D4BAA60F}"/>
              </a:ext>
            </a:extLst>
          </p:cNvPr>
          <p:cNvSpPr txBox="1"/>
          <p:nvPr/>
        </p:nvSpPr>
        <p:spPr>
          <a:xfrm>
            <a:off x="779488" y="1608944"/>
            <a:ext cx="10452512" cy="5021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189" indent="-457189">
              <a:lnSpc>
                <a:spcPct val="150000"/>
              </a:lnSpc>
              <a:buFont typeface="+mj-lt"/>
              <a:buAutoNum type="arabicPeriod" startAt="2"/>
            </a:pPr>
            <a:r>
              <a:rPr lang="en-GB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Alert Box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 alert() to show a popup box with a message.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alert("Hello, user!");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Good for quick messages, but not ideal for modern UX.</a:t>
            </a:r>
          </a:p>
          <a:p>
            <a:pPr marL="457189" indent="-457189">
              <a:lnSpc>
                <a:spcPct val="150000"/>
              </a:lnSpc>
              <a:buFont typeface="+mj-lt"/>
              <a:buAutoNum type="arabicPeriod" startAt="3"/>
            </a:pPr>
            <a:r>
              <a:rPr lang="en-GB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Console Output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 console.log() to show output in the browser’s developer console (for debugging).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console.log("This is a message for developers.");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Most common way to test and debug JavaScript code.</a:t>
            </a:r>
          </a:p>
        </p:txBody>
      </p:sp>
    </p:spTree>
    <p:extLst>
      <p:ext uri="{BB962C8B-B14F-4D97-AF65-F5344CB8AC3E}">
        <p14:creationId xmlns:p14="http://schemas.microsoft.com/office/powerpoint/2010/main" val="41348383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ECC05B2C-A781-CB84-143F-73CCD0556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>
            <a:extLst>
              <a:ext uri="{FF2B5EF4-FFF2-40B4-BE49-F238E27FC236}">
                <a16:creationId xmlns:a16="http://schemas.microsoft.com/office/drawing/2014/main" id="{52813065-6412-6A36-4E20-36B840F4E34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 dirty="0"/>
              <a:t>Outputs &amp; Comments </a:t>
            </a:r>
            <a:endParaRPr dirty="0"/>
          </a:p>
        </p:txBody>
      </p:sp>
      <p:cxnSp>
        <p:nvCxnSpPr>
          <p:cNvPr id="242" name="Google Shape;242;p30">
            <a:extLst>
              <a:ext uri="{FF2B5EF4-FFF2-40B4-BE49-F238E27FC236}">
                <a16:creationId xmlns:a16="http://schemas.microsoft.com/office/drawing/2014/main" id="{5E3EEB21-CE16-FA10-4F62-5A31706B8889}"/>
              </a:ext>
            </a:extLst>
          </p:cNvPr>
          <p:cNvCxnSpPr/>
          <p:nvPr/>
        </p:nvCxnSpPr>
        <p:spPr>
          <a:xfrm>
            <a:off x="0" y="6138667"/>
            <a:ext cx="1524000" cy="0"/>
          </a:xfrm>
          <a:prstGeom prst="straightConnector1">
            <a:avLst/>
          </a:prstGeom>
          <a:noFill/>
          <a:ln w="9525" cap="flat" cmpd="sng">
            <a:solidFill>
              <a:srgbClr val="FFC000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2215105-4D30-B7F0-E01F-E10B1BCB719E}"/>
              </a:ext>
            </a:extLst>
          </p:cNvPr>
          <p:cNvSpPr txBox="1"/>
          <p:nvPr/>
        </p:nvSpPr>
        <p:spPr>
          <a:xfrm>
            <a:off x="779488" y="1608945"/>
            <a:ext cx="10452512" cy="28050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189" indent="-457189">
              <a:lnSpc>
                <a:spcPct val="150000"/>
              </a:lnSpc>
              <a:buFont typeface="+mj-lt"/>
              <a:buAutoNum type="arabicPeriod" startAt="4"/>
            </a:pPr>
            <a:r>
              <a:rPr lang="en-GB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HTML DOM Output (Dynamic Page Update)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Change the content of HTML elements using </a:t>
            </a:r>
            <a:r>
              <a:rPr lang="en-GB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innerHTML</a:t>
            </a: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&lt;p id=“paragraph"&gt;Khalid&lt;/p&gt;</a:t>
            </a:r>
          </a:p>
          <a:p>
            <a:pPr>
              <a:lnSpc>
                <a:spcPct val="150000"/>
              </a:lnSpc>
            </a:pPr>
            <a:r>
              <a:rPr lang="en-GB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document.getElementById</a:t>
            </a: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("paragraph").</a:t>
            </a:r>
            <a:r>
              <a:rPr lang="en-GB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innerHTML</a:t>
            </a: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“</a:t>
            </a:r>
            <a:r>
              <a:rPr lang="en-GB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Guuled</a:t>
            </a: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Ali </a:t>
            </a:r>
            <a:r>
              <a:rPr lang="en-GB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iyo</a:t>
            </a: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Anas";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Best way to show output directly in the webpage dynamically.</a:t>
            </a:r>
          </a:p>
        </p:txBody>
      </p:sp>
    </p:spTree>
    <p:extLst>
      <p:ext uri="{BB962C8B-B14F-4D97-AF65-F5344CB8AC3E}">
        <p14:creationId xmlns:p14="http://schemas.microsoft.com/office/powerpoint/2010/main" val="33619204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0B782E70-B4AA-3034-8531-4E0C75D5A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>
            <a:extLst>
              <a:ext uri="{FF2B5EF4-FFF2-40B4-BE49-F238E27FC236}">
                <a16:creationId xmlns:a16="http://schemas.microsoft.com/office/drawing/2014/main" id="{8FBA8C1D-EE4D-620A-2782-913DE56A0A4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 dirty="0"/>
              <a:t>Outputs &amp; Comments </a:t>
            </a:r>
            <a:endParaRPr dirty="0"/>
          </a:p>
        </p:txBody>
      </p:sp>
      <p:cxnSp>
        <p:nvCxnSpPr>
          <p:cNvPr id="242" name="Google Shape;242;p30">
            <a:extLst>
              <a:ext uri="{FF2B5EF4-FFF2-40B4-BE49-F238E27FC236}">
                <a16:creationId xmlns:a16="http://schemas.microsoft.com/office/drawing/2014/main" id="{3BAA701D-2918-4823-AA8C-F400576E21E9}"/>
              </a:ext>
            </a:extLst>
          </p:cNvPr>
          <p:cNvCxnSpPr/>
          <p:nvPr/>
        </p:nvCxnSpPr>
        <p:spPr>
          <a:xfrm>
            <a:off x="0" y="6138667"/>
            <a:ext cx="1524000" cy="0"/>
          </a:xfrm>
          <a:prstGeom prst="straightConnector1">
            <a:avLst/>
          </a:prstGeom>
          <a:noFill/>
          <a:ln w="9525" cap="flat" cmpd="sng">
            <a:solidFill>
              <a:srgbClr val="FFC000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9BA86DAF-B038-4C7B-FED2-CBF9BBC93801}"/>
              </a:ext>
            </a:extLst>
          </p:cNvPr>
          <p:cNvSpPr txBox="1"/>
          <p:nvPr/>
        </p:nvSpPr>
        <p:spPr>
          <a:xfrm>
            <a:off x="779488" y="1608945"/>
            <a:ext cx="10452512" cy="44055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667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Styling The JavaScript Console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JavaScript, you can use console.log() with CSS styles to make console messages look better and useful for debugging, grouping logs, or highlighting warnings.</a:t>
            </a:r>
          </a:p>
          <a:p>
            <a:pPr>
              <a:lnSpc>
                <a:spcPct val="150000"/>
              </a:lnSpc>
            </a:pPr>
            <a:r>
              <a:rPr lang="en-GB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it Works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 the %c format in console.log() to apply CSS styles to part of the message.</a:t>
            </a:r>
          </a:p>
          <a:p>
            <a:pPr>
              <a:lnSpc>
                <a:spcPct val="150000"/>
              </a:lnSpc>
            </a:pPr>
            <a:r>
              <a:rPr lang="en-GB" sz="2133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console.log(‘%</a:t>
            </a:r>
            <a:r>
              <a:rPr lang="en-GB" sz="2133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cKhalid</a:t>
            </a:r>
            <a:r>
              <a:rPr lang="en-GB" sz="2133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Abdirahman', '</a:t>
            </a:r>
            <a:r>
              <a:rPr lang="en-GB" sz="2133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color</a:t>
            </a:r>
            <a:r>
              <a:rPr lang="en-GB" sz="2133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: red; font-size: 20px; font-weight: bold;');</a:t>
            </a:r>
          </a:p>
          <a:p>
            <a:pPr>
              <a:lnSpc>
                <a:spcPct val="150000"/>
              </a:lnSpc>
            </a:pPr>
            <a:endParaRPr lang="en-GB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97406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CC796D33-E0E3-EF2E-F2E0-D1486F984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>
            <a:extLst>
              <a:ext uri="{FF2B5EF4-FFF2-40B4-BE49-F238E27FC236}">
                <a16:creationId xmlns:a16="http://schemas.microsoft.com/office/drawing/2014/main" id="{BFA7FF60-EAF6-D8E0-F3A8-EC45C4FE158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 dirty="0"/>
              <a:t>Outputs &amp; Comments </a:t>
            </a:r>
            <a:endParaRPr dirty="0"/>
          </a:p>
        </p:txBody>
      </p:sp>
      <p:cxnSp>
        <p:nvCxnSpPr>
          <p:cNvPr id="242" name="Google Shape;242;p30">
            <a:extLst>
              <a:ext uri="{FF2B5EF4-FFF2-40B4-BE49-F238E27FC236}">
                <a16:creationId xmlns:a16="http://schemas.microsoft.com/office/drawing/2014/main" id="{D9A90B17-B824-EADB-BD55-22C40BE2B5F6}"/>
              </a:ext>
            </a:extLst>
          </p:cNvPr>
          <p:cNvCxnSpPr/>
          <p:nvPr/>
        </p:nvCxnSpPr>
        <p:spPr>
          <a:xfrm>
            <a:off x="0" y="6138667"/>
            <a:ext cx="1524000" cy="0"/>
          </a:xfrm>
          <a:prstGeom prst="straightConnector1">
            <a:avLst/>
          </a:prstGeom>
          <a:noFill/>
          <a:ln w="9525" cap="flat" cmpd="sng">
            <a:solidFill>
              <a:srgbClr val="FFC000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93ADC69F-5A57-D934-5FBC-FEBED02B5517}"/>
              </a:ext>
            </a:extLst>
          </p:cNvPr>
          <p:cNvSpPr txBox="1"/>
          <p:nvPr/>
        </p:nvSpPr>
        <p:spPr>
          <a:xfrm>
            <a:off x="779488" y="1608944"/>
            <a:ext cx="10452512" cy="4467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Multiple Styled Parts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You can use multiple %c tokens to style different parts of the same log: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console.log(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 '%</a:t>
            </a:r>
            <a:r>
              <a:rPr lang="en-GB" sz="2400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cSuccess</a:t>
            </a:r>
            <a:r>
              <a:rPr lang="en-GB" sz="2400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:%c The operation was completed.',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 '</a:t>
            </a:r>
            <a:r>
              <a:rPr lang="en-GB" sz="2400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color</a:t>
            </a:r>
            <a:r>
              <a:rPr lang="en-GB" sz="2400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: green; font-weight: bold;',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 '</a:t>
            </a:r>
            <a:r>
              <a:rPr lang="en-GB" sz="2400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color</a:t>
            </a:r>
            <a:r>
              <a:rPr lang="en-GB" sz="2400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: black;'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);</a:t>
            </a:r>
          </a:p>
          <a:p>
            <a:pPr>
              <a:lnSpc>
                <a:spcPct val="150000"/>
              </a:lnSpc>
            </a:pPr>
            <a:endParaRPr lang="en-GB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9582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13D915FC-1C16-FDF6-36DE-8822A2B424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>
            <a:extLst>
              <a:ext uri="{FF2B5EF4-FFF2-40B4-BE49-F238E27FC236}">
                <a16:creationId xmlns:a16="http://schemas.microsoft.com/office/drawing/2014/main" id="{4B877007-BE9C-CA6E-CB96-071CC4F8D31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 dirty="0"/>
              <a:t>Outputs &amp; Comments </a:t>
            </a:r>
            <a:endParaRPr dirty="0"/>
          </a:p>
        </p:txBody>
      </p:sp>
      <p:cxnSp>
        <p:nvCxnSpPr>
          <p:cNvPr id="242" name="Google Shape;242;p30">
            <a:extLst>
              <a:ext uri="{FF2B5EF4-FFF2-40B4-BE49-F238E27FC236}">
                <a16:creationId xmlns:a16="http://schemas.microsoft.com/office/drawing/2014/main" id="{98678B9A-63C1-B487-4597-CF6B3214DFFB}"/>
              </a:ext>
            </a:extLst>
          </p:cNvPr>
          <p:cNvCxnSpPr/>
          <p:nvPr/>
        </p:nvCxnSpPr>
        <p:spPr>
          <a:xfrm>
            <a:off x="0" y="6138667"/>
            <a:ext cx="1524000" cy="0"/>
          </a:xfrm>
          <a:prstGeom prst="straightConnector1">
            <a:avLst/>
          </a:prstGeom>
          <a:noFill/>
          <a:ln w="9525" cap="flat" cmpd="sng">
            <a:solidFill>
              <a:srgbClr val="FFC000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3336339-B89D-1033-5A46-CBE18FA0B0D1}"/>
              </a:ext>
            </a:extLst>
          </p:cNvPr>
          <p:cNvSpPr txBox="1"/>
          <p:nvPr/>
        </p:nvSpPr>
        <p:spPr>
          <a:xfrm>
            <a:off x="779488" y="1608944"/>
            <a:ext cx="10452512" cy="27435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Comments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JavaScript comments can be used to explain JavaScript code, and to make it more readable.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JavaScript comments can also be used to prevent execution, when testing alternative code.</a:t>
            </a:r>
          </a:p>
        </p:txBody>
      </p:sp>
    </p:spTree>
    <p:extLst>
      <p:ext uri="{BB962C8B-B14F-4D97-AF65-F5344CB8AC3E}">
        <p14:creationId xmlns:p14="http://schemas.microsoft.com/office/powerpoint/2010/main" val="22029054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8403F3EF-15F3-FB2C-5F8F-7794177A69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>
            <a:extLst>
              <a:ext uri="{FF2B5EF4-FFF2-40B4-BE49-F238E27FC236}">
                <a16:creationId xmlns:a16="http://schemas.microsoft.com/office/drawing/2014/main" id="{17334F21-4E78-3D3C-1E8D-C89EC9CE5D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 dirty="0"/>
              <a:t>Outputs &amp; Comments </a:t>
            </a:r>
            <a:endParaRPr dirty="0"/>
          </a:p>
        </p:txBody>
      </p:sp>
      <p:cxnSp>
        <p:nvCxnSpPr>
          <p:cNvPr id="242" name="Google Shape;242;p30">
            <a:extLst>
              <a:ext uri="{FF2B5EF4-FFF2-40B4-BE49-F238E27FC236}">
                <a16:creationId xmlns:a16="http://schemas.microsoft.com/office/drawing/2014/main" id="{3350D06D-5366-A61D-B15B-4AE3A9D1753D}"/>
              </a:ext>
            </a:extLst>
          </p:cNvPr>
          <p:cNvCxnSpPr/>
          <p:nvPr/>
        </p:nvCxnSpPr>
        <p:spPr>
          <a:xfrm>
            <a:off x="0" y="6138667"/>
            <a:ext cx="1524000" cy="0"/>
          </a:xfrm>
          <a:prstGeom prst="straightConnector1">
            <a:avLst/>
          </a:prstGeom>
          <a:noFill/>
          <a:ln w="9525" cap="flat" cmpd="sng">
            <a:solidFill>
              <a:srgbClr val="FFC000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990924F4-C4A8-82F9-98B9-5845D957DE9D}"/>
              </a:ext>
            </a:extLst>
          </p:cNvPr>
          <p:cNvSpPr txBox="1"/>
          <p:nvPr/>
        </p:nvSpPr>
        <p:spPr>
          <a:xfrm>
            <a:off x="762000" y="1356967"/>
            <a:ext cx="10452512" cy="50827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667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Types of JS Comments</a:t>
            </a:r>
          </a:p>
          <a:p>
            <a:pPr marL="609585" indent="-609585">
              <a:lnSpc>
                <a:spcPct val="150000"/>
              </a:lnSpc>
              <a:buFont typeface="+mj-lt"/>
              <a:buAutoNum type="arabicPeriod"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Single-line Comment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Starts with </a:t>
            </a:r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//</a:t>
            </a:r>
            <a:r>
              <a:rPr lang="en-GB" sz="2400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anything after it on the same line is a comment.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// This is a single-line comment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let name = "Khalid"; // This sets the name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609585" indent="-609585">
              <a:lnSpc>
                <a:spcPct val="150000"/>
              </a:lnSpc>
              <a:buFont typeface="+mj-lt"/>
              <a:buAutoNum type="arabicPeriod" startAt="2"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Multi-line Comment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Multi-line comments start with </a:t>
            </a:r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/*</a:t>
            </a: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end with </a:t>
            </a:r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*/</a:t>
            </a: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Any text between </a:t>
            </a:r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/*</a:t>
            </a: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*/</a:t>
            </a: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will be ignored by JavaScript.</a:t>
            </a:r>
          </a:p>
          <a:p>
            <a:pPr>
              <a:lnSpc>
                <a:spcPct val="150000"/>
              </a:lnSpc>
            </a:pPr>
            <a:endParaRPr lang="en-US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16958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5"/>
          <p:cNvSpPr txBox="1">
            <a:spLocks noGrp="1"/>
          </p:cNvSpPr>
          <p:nvPr>
            <p:ph type="title"/>
          </p:nvPr>
        </p:nvSpPr>
        <p:spPr>
          <a:xfrm>
            <a:off x="700171" y="433471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 dirty="0"/>
              <a:t>ECMAScript</a:t>
            </a:r>
            <a:endParaRPr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32349D3-63A3-9F1E-1060-40204CB5B5E5}"/>
              </a:ext>
            </a:extLst>
          </p:cNvPr>
          <p:cNvSpPr txBox="1"/>
          <p:nvPr/>
        </p:nvSpPr>
        <p:spPr>
          <a:xfrm>
            <a:off x="700171" y="1197071"/>
            <a:ext cx="10791659" cy="3359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ECMAScript (or ES) is the official standard that defines how the JavaScript language should work.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Simple words: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ECMAScript is the set of rules for JavaScript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tells browsers and computers how JavaScript should behave.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Every new version of ECMAScript adds new features to JavaScript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>
          <a:extLst>
            <a:ext uri="{FF2B5EF4-FFF2-40B4-BE49-F238E27FC236}">
              <a16:creationId xmlns:a16="http://schemas.microsoft.com/office/drawing/2014/main" id="{2BFD073F-29E7-711D-8B23-3212036C6F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5">
            <a:extLst>
              <a:ext uri="{FF2B5EF4-FFF2-40B4-BE49-F238E27FC236}">
                <a16:creationId xmlns:a16="http://schemas.microsoft.com/office/drawing/2014/main" id="{D8D9B798-450D-F9E1-7178-5002D59AEDA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00171" y="433471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 dirty="0"/>
              <a:t>ECMAScript</a:t>
            </a:r>
            <a:endParaRPr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025EFF4-7A3C-A6FF-9421-986DDD3E3840}"/>
              </a:ext>
            </a:extLst>
          </p:cNvPr>
          <p:cNvSpPr txBox="1"/>
          <p:nvPr/>
        </p:nvSpPr>
        <p:spPr>
          <a:xfrm>
            <a:off x="700171" y="1197071"/>
            <a:ext cx="10791659" cy="50827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667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Why ECMAScript Exits?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the 1990s, different browsers like Netscape and Internet Explorer started adding their own versions of JavaScript. This caused compatibility problems for developers.</a:t>
            </a:r>
          </a:p>
          <a:p>
            <a:pPr>
              <a:lnSpc>
                <a:spcPct val="150000"/>
              </a:lnSpc>
            </a:pPr>
            <a:endParaRPr lang="en-GB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fix this, in 1997, a group called </a:t>
            </a:r>
            <a:r>
              <a:rPr lang="en-GB" sz="2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ECMA International </a:t>
            </a: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created a standard called ECMAScript, so that all browsers could follow the same rules for JavaScript.</a:t>
            </a:r>
          </a:p>
          <a:p>
            <a:pPr>
              <a:lnSpc>
                <a:spcPct val="150000"/>
              </a:lnSpc>
            </a:pPr>
            <a:endParaRPr lang="en-GB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endParaRPr lang="en-GB" sz="240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GB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Note: </a:t>
            </a: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ECMA = European Computer Manufacturers Association</a:t>
            </a:r>
          </a:p>
        </p:txBody>
      </p:sp>
    </p:spTree>
    <p:extLst>
      <p:ext uri="{BB962C8B-B14F-4D97-AF65-F5344CB8AC3E}">
        <p14:creationId xmlns:p14="http://schemas.microsoft.com/office/powerpoint/2010/main" val="2874163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>
          <a:extLst>
            <a:ext uri="{FF2B5EF4-FFF2-40B4-BE49-F238E27FC236}">
              <a16:creationId xmlns:a16="http://schemas.microsoft.com/office/drawing/2014/main" id="{76897C42-23A5-D6B9-6E88-1783D2747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5">
            <a:extLst>
              <a:ext uri="{FF2B5EF4-FFF2-40B4-BE49-F238E27FC236}">
                <a16:creationId xmlns:a16="http://schemas.microsoft.com/office/drawing/2014/main" id="{FD22D6CB-B160-F4B5-4912-D15B50B66B1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00171" y="433471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 dirty="0"/>
              <a:t>ECMAScript</a:t>
            </a:r>
            <a:endParaRPr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E23264A-AAF2-3469-4772-8CBC82B246F8}"/>
              </a:ext>
            </a:extLst>
          </p:cNvPr>
          <p:cNvGraphicFramePr>
            <a:graphicFrameLocks noGrp="1"/>
          </p:cNvGraphicFramePr>
          <p:nvPr/>
        </p:nvGraphicFramePr>
        <p:xfrm>
          <a:off x="950384" y="3287829"/>
          <a:ext cx="10291232" cy="2560320"/>
        </p:xfrm>
        <a:graphic>
          <a:graphicData uri="http://schemas.openxmlformats.org/drawingml/2006/table">
            <a:tbl>
              <a:tblPr/>
              <a:tblGrid>
                <a:gridCol w="2008052">
                  <a:extLst>
                    <a:ext uri="{9D8B030D-6E8A-4147-A177-3AD203B41FA5}">
                      <a16:colId xmlns:a16="http://schemas.microsoft.com/office/drawing/2014/main" val="1265267665"/>
                    </a:ext>
                  </a:extLst>
                </a:gridCol>
                <a:gridCol w="2028669">
                  <a:extLst>
                    <a:ext uri="{9D8B030D-6E8A-4147-A177-3AD203B41FA5}">
                      <a16:colId xmlns:a16="http://schemas.microsoft.com/office/drawing/2014/main" val="2084943703"/>
                    </a:ext>
                  </a:extLst>
                </a:gridCol>
                <a:gridCol w="6254511">
                  <a:extLst>
                    <a:ext uri="{9D8B030D-6E8A-4147-A177-3AD203B41FA5}">
                      <a16:colId xmlns:a16="http://schemas.microsoft.com/office/drawing/2014/main" val="1830472959"/>
                    </a:ext>
                  </a:extLst>
                </a:gridCol>
              </a:tblGrid>
              <a:tr h="447040">
                <a:tc>
                  <a:txBody>
                    <a:bodyPr/>
                    <a:lstStyle/>
                    <a:p>
                      <a:r>
                        <a:rPr lang="en-GB" sz="21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Version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1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Year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1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Key Features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8532542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r>
                        <a:rPr lang="en-GB" sz="21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ES1</a:t>
                      </a:r>
                      <a:endParaRPr lang="en-GB" sz="2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1997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1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First official version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8698727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r>
                        <a:rPr lang="en-GB" sz="21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ES5</a:t>
                      </a:r>
                      <a:endParaRPr lang="en-GB" sz="2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1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2009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strict mode, JSON, array methods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0020683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r>
                        <a:rPr lang="en-GB" sz="21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ES6 / ES2015</a:t>
                      </a:r>
                      <a:endParaRPr lang="en-GB" sz="2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1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2015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let, </a:t>
                      </a:r>
                      <a:r>
                        <a:rPr lang="en-GB" sz="210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const</a:t>
                      </a:r>
                      <a:r>
                        <a:rPr lang="en-GB" sz="2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, arrow functions, classes, modules, promises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1596571"/>
                  </a:ext>
                </a:extLst>
              </a:tr>
              <a:tr h="772160">
                <a:tc>
                  <a:txBody>
                    <a:bodyPr/>
                    <a:lstStyle/>
                    <a:p>
                      <a:r>
                        <a:rPr lang="en-GB" sz="21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ES2016+ / ES6+</a:t>
                      </a:r>
                      <a:endParaRPr lang="en-GB" sz="2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2016–now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Yearly updates: async/await, optional chaining (?.), </a:t>
                      </a:r>
                      <a:r>
                        <a:rPr lang="en-GB" sz="210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nullish</a:t>
                      </a:r>
                      <a:r>
                        <a:rPr lang="en-GB" sz="2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coalescing (??), top-level await, etc.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6519181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29A38E79-3E95-8B96-24F6-3C604D36B0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086" y="1197071"/>
            <a:ext cx="11491829" cy="1775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51867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>
          <a:extLst>
            <a:ext uri="{FF2B5EF4-FFF2-40B4-BE49-F238E27FC236}">
              <a16:creationId xmlns:a16="http://schemas.microsoft.com/office/drawing/2014/main" id="{505A4798-A7B2-D843-3EE0-D0869D650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3">
            <a:extLst>
              <a:ext uri="{FF2B5EF4-FFF2-40B4-BE49-F238E27FC236}">
                <a16:creationId xmlns:a16="http://schemas.microsoft.com/office/drawing/2014/main" id="{C0A5DE75-0C0A-E08C-D20F-D95CF8BF24F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413485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 dirty="0"/>
              <a:t>History of JavaScript</a:t>
            </a:r>
            <a:endParaRPr dirty="0"/>
          </a:p>
        </p:txBody>
      </p:sp>
      <p:pic>
        <p:nvPicPr>
          <p:cNvPr id="1026" name="Picture 2" descr="Brendan Eich - Wikipedia">
            <a:extLst>
              <a:ext uri="{FF2B5EF4-FFF2-40B4-BE49-F238E27FC236}">
                <a16:creationId xmlns:a16="http://schemas.microsoft.com/office/drawing/2014/main" id="{26E484FE-BADB-D388-C588-41E46B01C7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41084" y="326601"/>
            <a:ext cx="1196057" cy="11960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FCE8724-3B61-DA3D-B4EE-40B5841660B6}"/>
              </a:ext>
            </a:extLst>
          </p:cNvPr>
          <p:cNvCxnSpPr/>
          <p:nvPr/>
        </p:nvCxnSpPr>
        <p:spPr>
          <a:xfrm>
            <a:off x="1864961" y="1309511"/>
            <a:ext cx="0" cy="541866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ircle: Hollow 3">
            <a:extLst>
              <a:ext uri="{FF2B5EF4-FFF2-40B4-BE49-F238E27FC236}">
                <a16:creationId xmlns:a16="http://schemas.microsoft.com/office/drawing/2014/main" id="{A5821C9F-AF87-FAC1-4D04-F0238546E635}"/>
              </a:ext>
            </a:extLst>
          </p:cNvPr>
          <p:cNvSpPr/>
          <p:nvPr/>
        </p:nvSpPr>
        <p:spPr>
          <a:xfrm>
            <a:off x="1673051" y="1614311"/>
            <a:ext cx="383821" cy="383821"/>
          </a:xfrm>
          <a:prstGeom prst="donut">
            <a:avLst>
              <a:gd name="adj" fmla="val 44669"/>
            </a:avLst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5989BE-0BB5-E895-9204-D67B10698150}"/>
              </a:ext>
            </a:extLst>
          </p:cNvPr>
          <p:cNvSpPr txBox="1"/>
          <p:nvPr/>
        </p:nvSpPr>
        <p:spPr>
          <a:xfrm>
            <a:off x="667367" y="1560001"/>
            <a:ext cx="10056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1995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69F2E7-2035-F900-7AB9-3D0EBC4D7AE4}"/>
              </a:ext>
            </a:extLst>
          </p:cNvPr>
          <p:cNvSpPr txBox="1"/>
          <p:nvPr/>
        </p:nvSpPr>
        <p:spPr>
          <a:xfrm>
            <a:off x="2559713" y="1559999"/>
            <a:ext cx="94526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Brendan Eich creates the </a:t>
            </a: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very first version of JavaScript in just 10 days.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was called </a:t>
            </a: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Mocha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ircle: Hollow 6">
            <a:extLst>
              <a:ext uri="{FF2B5EF4-FFF2-40B4-BE49-F238E27FC236}">
                <a16:creationId xmlns:a16="http://schemas.microsoft.com/office/drawing/2014/main" id="{117EB73F-9C62-2C52-E5E9-08C27E12FEA3}"/>
              </a:ext>
            </a:extLst>
          </p:cNvPr>
          <p:cNvSpPr/>
          <p:nvPr/>
        </p:nvSpPr>
        <p:spPr>
          <a:xfrm>
            <a:off x="1673051" y="2608511"/>
            <a:ext cx="383821" cy="383821"/>
          </a:xfrm>
          <a:prstGeom prst="donut">
            <a:avLst>
              <a:gd name="adj" fmla="val 44669"/>
            </a:avLst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01FF88-5A61-9EE6-F064-0547EACF4898}"/>
              </a:ext>
            </a:extLst>
          </p:cNvPr>
          <p:cNvSpPr txBox="1"/>
          <p:nvPr/>
        </p:nvSpPr>
        <p:spPr>
          <a:xfrm>
            <a:off x="667367" y="2554201"/>
            <a:ext cx="10056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1996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A8E7FE-C7F6-FCFE-D972-74530656F3EE}"/>
              </a:ext>
            </a:extLst>
          </p:cNvPr>
          <p:cNvSpPr txBox="1"/>
          <p:nvPr/>
        </p:nvSpPr>
        <p:spPr>
          <a:xfrm>
            <a:off x="2559712" y="2554199"/>
            <a:ext cx="96322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Mocha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changes to </a:t>
            </a:r>
            <a:r>
              <a:rPr lang="en-GB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LiveScript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then to JavaScript, in order to attract Java developers. However, </a:t>
            </a: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JavaScript has almost nothing to do with Java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5C07C6-C81F-6EAF-80E5-758AA22EA360}"/>
              </a:ext>
            </a:extLst>
          </p:cNvPr>
          <p:cNvSpPr txBox="1"/>
          <p:nvPr/>
        </p:nvSpPr>
        <p:spPr>
          <a:xfrm>
            <a:off x="2559715" y="3548399"/>
            <a:ext cx="640366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Microsoft launches IE, copying JavaScript from Netscape and calling it JScript;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0F4F059-DD20-FDDF-A24B-76418B9A20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8786" y="3442028"/>
            <a:ext cx="2473215" cy="1167357"/>
          </a:xfrm>
          <a:prstGeom prst="rect">
            <a:avLst/>
          </a:prstGeom>
        </p:spPr>
      </p:pic>
      <p:sp>
        <p:nvSpPr>
          <p:cNvPr id="14" name="Circle: Hollow 13">
            <a:extLst>
              <a:ext uri="{FF2B5EF4-FFF2-40B4-BE49-F238E27FC236}">
                <a16:creationId xmlns:a16="http://schemas.microsoft.com/office/drawing/2014/main" id="{B7F5639E-703C-3541-68E5-45EF6466B097}"/>
              </a:ext>
            </a:extLst>
          </p:cNvPr>
          <p:cNvSpPr/>
          <p:nvPr/>
        </p:nvSpPr>
        <p:spPr>
          <a:xfrm>
            <a:off x="1673051" y="4741027"/>
            <a:ext cx="383821" cy="383821"/>
          </a:xfrm>
          <a:prstGeom prst="donut">
            <a:avLst>
              <a:gd name="adj" fmla="val 44669"/>
            </a:avLst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C004B79-F89A-1862-93F7-FABA33201EF6}"/>
              </a:ext>
            </a:extLst>
          </p:cNvPr>
          <p:cNvSpPr txBox="1"/>
          <p:nvPr/>
        </p:nvSpPr>
        <p:spPr>
          <a:xfrm>
            <a:off x="667367" y="4686717"/>
            <a:ext cx="10056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1997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6F43689-B354-A78D-49DC-DD16FDF06E96}"/>
              </a:ext>
            </a:extLst>
          </p:cNvPr>
          <p:cNvSpPr txBox="1"/>
          <p:nvPr/>
        </p:nvSpPr>
        <p:spPr>
          <a:xfrm>
            <a:off x="2559712" y="4686715"/>
            <a:ext cx="963228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a need to standardize the language, ECMA releases ECMAScript 1 (ES1), the first official standard for JavaScript (ECMAScript is the standard, JavaScript the language in practice);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E4FAE39-7280-B686-571A-EB6DE78606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8785" y="5680914"/>
            <a:ext cx="2731520" cy="1047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560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5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  <p:bldP spid="7" grpId="0" animBg="1"/>
      <p:bldP spid="8" grpId="0"/>
      <p:bldP spid="9" grpId="0"/>
      <p:bldP spid="10" grpId="0"/>
      <p:bldP spid="14" grpId="0" animBg="1"/>
      <p:bldP spid="15" grpId="0"/>
      <p:bldP spid="1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>
          <a:extLst>
            <a:ext uri="{FF2B5EF4-FFF2-40B4-BE49-F238E27FC236}">
              <a16:creationId xmlns:a16="http://schemas.microsoft.com/office/drawing/2014/main" id="{283D12A0-DA17-9C5D-C8BF-DFCCFCD7A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3">
            <a:extLst>
              <a:ext uri="{FF2B5EF4-FFF2-40B4-BE49-F238E27FC236}">
                <a16:creationId xmlns:a16="http://schemas.microsoft.com/office/drawing/2014/main" id="{1B24F61A-4C9B-96AA-2C20-7008A0B719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413485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 dirty="0"/>
              <a:t>History of JavaScript</a:t>
            </a:r>
            <a:endParaRPr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7FF3CE9-1475-1323-44E8-E8C744160025}"/>
              </a:ext>
            </a:extLst>
          </p:cNvPr>
          <p:cNvCxnSpPr/>
          <p:nvPr/>
        </p:nvCxnSpPr>
        <p:spPr>
          <a:xfrm>
            <a:off x="1864961" y="1309511"/>
            <a:ext cx="0" cy="541866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ircle: Hollow 3">
            <a:extLst>
              <a:ext uri="{FF2B5EF4-FFF2-40B4-BE49-F238E27FC236}">
                <a16:creationId xmlns:a16="http://schemas.microsoft.com/office/drawing/2014/main" id="{BD84EF13-64B9-27F0-0CDA-6340D8CC2F96}"/>
              </a:ext>
            </a:extLst>
          </p:cNvPr>
          <p:cNvSpPr/>
          <p:nvPr/>
        </p:nvSpPr>
        <p:spPr>
          <a:xfrm>
            <a:off x="1673051" y="1614311"/>
            <a:ext cx="383821" cy="383821"/>
          </a:xfrm>
          <a:prstGeom prst="donut">
            <a:avLst>
              <a:gd name="adj" fmla="val 44669"/>
            </a:avLst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EE785E-8DD9-4EDA-D293-F4285E58A69B}"/>
              </a:ext>
            </a:extLst>
          </p:cNvPr>
          <p:cNvSpPr txBox="1"/>
          <p:nvPr/>
        </p:nvSpPr>
        <p:spPr>
          <a:xfrm>
            <a:off x="667367" y="1560001"/>
            <a:ext cx="10056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2009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81B359-FB8D-4D2F-2A9A-614CD50A830C}"/>
              </a:ext>
            </a:extLst>
          </p:cNvPr>
          <p:cNvSpPr txBox="1"/>
          <p:nvPr/>
        </p:nvSpPr>
        <p:spPr>
          <a:xfrm>
            <a:off x="2559713" y="1559999"/>
            <a:ext cx="94526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ES5 (ECMAScript 5) is released with lots of great new features;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ircle: Hollow 6">
            <a:extLst>
              <a:ext uri="{FF2B5EF4-FFF2-40B4-BE49-F238E27FC236}">
                <a16:creationId xmlns:a16="http://schemas.microsoft.com/office/drawing/2014/main" id="{48D051B0-63A7-5CA6-4F41-F3BCF5F9C946}"/>
              </a:ext>
            </a:extLst>
          </p:cNvPr>
          <p:cNvSpPr/>
          <p:nvPr/>
        </p:nvSpPr>
        <p:spPr>
          <a:xfrm>
            <a:off x="1673051" y="2608511"/>
            <a:ext cx="383821" cy="383821"/>
          </a:xfrm>
          <a:prstGeom prst="donut">
            <a:avLst>
              <a:gd name="adj" fmla="val 44669"/>
            </a:avLst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B26C59-DBB8-8A24-2686-B4894B7F11F4}"/>
              </a:ext>
            </a:extLst>
          </p:cNvPr>
          <p:cNvSpPr txBox="1"/>
          <p:nvPr/>
        </p:nvSpPr>
        <p:spPr>
          <a:xfrm>
            <a:off x="667367" y="2554201"/>
            <a:ext cx="10056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2015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0D6EC0-3F29-10DC-478A-112BD87B178D}"/>
              </a:ext>
            </a:extLst>
          </p:cNvPr>
          <p:cNvSpPr txBox="1"/>
          <p:nvPr/>
        </p:nvSpPr>
        <p:spPr>
          <a:xfrm>
            <a:off x="2559712" y="2554199"/>
            <a:ext cx="96322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ES6/ES2015 (ECMAScript 2015) was released: the biggest update to the language ever!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71C4AEF-8FFC-FD9C-AB9B-2E275F0C65EF}"/>
              </a:ext>
            </a:extLst>
          </p:cNvPr>
          <p:cNvSpPr txBox="1"/>
          <p:nvPr/>
        </p:nvSpPr>
        <p:spPr>
          <a:xfrm>
            <a:off x="2559714" y="3548399"/>
            <a:ext cx="89662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ECMAScript changes to </a:t>
            </a: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annual release cycle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order to ship less features per update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Circle: Hollow 13">
            <a:extLst>
              <a:ext uri="{FF2B5EF4-FFF2-40B4-BE49-F238E27FC236}">
                <a16:creationId xmlns:a16="http://schemas.microsoft.com/office/drawing/2014/main" id="{E511D11A-3CFE-A2DB-02E0-C44919D92072}"/>
              </a:ext>
            </a:extLst>
          </p:cNvPr>
          <p:cNvSpPr/>
          <p:nvPr/>
        </p:nvSpPr>
        <p:spPr>
          <a:xfrm>
            <a:off x="1673051" y="4741027"/>
            <a:ext cx="383821" cy="383821"/>
          </a:xfrm>
          <a:prstGeom prst="donut">
            <a:avLst>
              <a:gd name="adj" fmla="val 44669"/>
            </a:avLst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A3AE2F7-7A6F-F46D-0366-73AAAE61D0A0}"/>
              </a:ext>
            </a:extLst>
          </p:cNvPr>
          <p:cNvSpPr txBox="1"/>
          <p:nvPr/>
        </p:nvSpPr>
        <p:spPr>
          <a:xfrm>
            <a:off x="338667" y="4686716"/>
            <a:ext cx="1433684" cy="502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2016 - </a:t>
            </a:r>
            <a:r>
              <a:rPr lang="en-GB" sz="26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∞</a:t>
            </a:r>
            <a:r>
              <a:rPr lang="en-C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C62678C-569E-1E42-6AA1-FB4DCCA2E0E9}"/>
              </a:ext>
            </a:extLst>
          </p:cNvPr>
          <p:cNvSpPr txBox="1"/>
          <p:nvPr/>
        </p:nvSpPr>
        <p:spPr>
          <a:xfrm>
            <a:off x="2559712" y="4686715"/>
            <a:ext cx="96322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Release</a:t>
            </a:r>
            <a:r>
              <a:rPr lang="es-E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s-E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ES2016 / ES2017 / ES2018 / ES2019 / ES2020 / ES2021 / ... / ES2089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0985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  <p:bldP spid="7" grpId="0" animBg="1"/>
      <p:bldP spid="8" grpId="0"/>
      <p:bldP spid="9" grpId="0"/>
      <p:bldP spid="10" grpId="0"/>
      <p:bldP spid="15" grpId="0"/>
      <p:bldP spid="16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1394</Words>
  <Application>Microsoft Office PowerPoint</Application>
  <PresentationFormat>Widescreen</PresentationFormat>
  <Paragraphs>248</Paragraphs>
  <Slides>24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4" baseType="lpstr">
      <vt:lpstr>Arial</vt:lpstr>
      <vt:lpstr>Cairo</vt:lpstr>
      <vt:lpstr>Cairo Light</vt:lpstr>
      <vt:lpstr>Calibri</vt:lpstr>
      <vt:lpstr>Calibri Light</vt:lpstr>
      <vt:lpstr>Consolas</vt:lpstr>
      <vt:lpstr>DM Sans SemiBold</vt:lpstr>
      <vt:lpstr>Times New Roman</vt:lpstr>
      <vt:lpstr>Wingdings</vt:lpstr>
      <vt:lpstr>Office Theme</vt:lpstr>
      <vt:lpstr>JavaScript</vt:lpstr>
      <vt:lpstr>Table of Contents:</vt:lpstr>
      <vt:lpstr>How to Get the most out of this Course</vt:lpstr>
      <vt:lpstr>PowerPoint Presentation</vt:lpstr>
      <vt:lpstr>What we Cover Today:</vt:lpstr>
      <vt:lpstr>Introduction to JS</vt:lpstr>
      <vt:lpstr>The role of JS in Web Development</vt:lpstr>
      <vt:lpstr>PowerPoint Presentation</vt:lpstr>
      <vt:lpstr>Introduction to JS</vt:lpstr>
      <vt:lpstr>PowerPoint Presentation</vt:lpstr>
      <vt:lpstr>Introduction to JS</vt:lpstr>
      <vt:lpstr>Introduction to JS</vt:lpstr>
      <vt:lpstr>Outputs &amp; Comments </vt:lpstr>
      <vt:lpstr>Outputs &amp; Comments </vt:lpstr>
      <vt:lpstr>Outputs &amp; Comments </vt:lpstr>
      <vt:lpstr>Outputs &amp; Comments </vt:lpstr>
      <vt:lpstr>Outputs &amp; Comments </vt:lpstr>
      <vt:lpstr>Outputs &amp; Comments </vt:lpstr>
      <vt:lpstr>Outputs &amp; Comments </vt:lpstr>
      <vt:lpstr>ECMAScript</vt:lpstr>
      <vt:lpstr>ECMAScript</vt:lpstr>
      <vt:lpstr>ECMAScript</vt:lpstr>
      <vt:lpstr>History of JavaScript</vt:lpstr>
      <vt:lpstr>History of JavaScript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Khalid Sulub</dc:creator>
  <cp:lastModifiedBy>Khalid Sulub</cp:lastModifiedBy>
  <cp:revision>6</cp:revision>
  <dcterms:created xsi:type="dcterms:W3CDTF">2025-12-15T15:34:27Z</dcterms:created>
  <dcterms:modified xsi:type="dcterms:W3CDTF">2026-02-15T07:54:17Z</dcterms:modified>
</cp:coreProperties>
</file>