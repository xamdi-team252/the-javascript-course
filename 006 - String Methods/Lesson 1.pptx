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851" r:id="rId2"/>
    <p:sldId id="470" r:id="rId3"/>
    <p:sldId id="360" r:id="rId4"/>
    <p:sldId id="361" r:id="rId5"/>
    <p:sldId id="362" r:id="rId6"/>
    <p:sldId id="363" r:id="rId7"/>
    <p:sldId id="364" r:id="rId8"/>
    <p:sldId id="365" r:id="rId9"/>
    <p:sldId id="366" r:id="rId10"/>
    <p:sldId id="367" r:id="rId11"/>
    <p:sldId id="368" r:id="rId12"/>
    <p:sldId id="369" r:id="rId13"/>
    <p:sldId id="370" r:id="rId14"/>
    <p:sldId id="37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0EF4CF-424E-44D6-AE51-652890C22F93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E3F218-7047-4A2E-97E2-0CDE2225A0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563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46402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C2C90A83-B7E8-4236-3BFD-D725BBC03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480B2A98-3AB4-7414-3B16-E1DB928FB9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9E8D929C-E0F8-8FD8-E0D5-D6AFDD30F1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40466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4DEC6813-192A-0881-CA39-A1E3D69C5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DCDF39B5-2889-E594-70FA-446D86EE0C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C66F3FE0-B63E-3DD0-5F61-69027628E9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70342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F71FB274-1CC1-8F2C-6C21-02E894CC4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3DC6F2FD-D039-1DCC-1903-A6D8D136BA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787577E8-9EC9-A6AB-279D-321231A062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41695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CDBC3C62-0B87-99FD-01BF-A692868AE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C2B6CA46-A9F6-8F62-670C-E42F1D6725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50F6CBF3-314D-DF6B-E227-FCB9E87AE6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89200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0DA11407-3EBA-8500-8182-F01861FDD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AFF30F2C-ED39-550D-07C3-E0A00D2C55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1E004924-477F-754E-4AE4-02E8D16631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54287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5DB530FC-BE2C-F5DC-FD2A-3F3F0824D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B256F30B-11D4-5F10-5F71-3CD7354E27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0E4919C1-9141-71DE-EDD9-B76A92BFF1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73894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BDC947AF-555B-008A-44D2-A056533AE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C51681AE-B48E-5537-9550-A546D9D8BC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CBB9ACA8-134F-C71C-BF97-80018CBCE7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67524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2D928C56-4A11-8FA0-758B-039F20F1A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C1D171DF-CDA7-ACB9-5334-F5B217D0EF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09F83BC1-897B-253D-0380-32BAB3930D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57625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A6664389-CFA3-75F2-8689-BCB56D013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BDFAE744-B6CB-D685-FD7A-249AAA1812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51792EC7-4BFA-3442-1757-630A625CBA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25846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E3251A65-658E-DCB8-6DA3-FD1249507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45DA7C6B-AE4B-E3FE-FCAE-83613C0AC7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4A6089D1-8E86-9F07-FC16-0785D5DCE2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89745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F80BC239-CC7E-59C0-77FE-D15266FF6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612368D2-8DFF-610B-3B1D-427ECC3A43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5B633857-7076-85CB-8F9C-CAC724134E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57692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F1F9CCF1-A6A9-3178-B136-E42E1B5FC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67DD9037-646A-D4BC-499F-E05C8C075A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EDF5733B-A6A1-F9F5-2A46-4B6282FA60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69513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06970-E8F2-BFD7-CDBC-A45D1545FA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DA1904-31FF-5D1F-DEF4-6790FD2DDF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8B8788-A365-0E7D-4AD1-BC873AC3F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01CB3-0EAD-4AF4-932E-A8D84B37CE0D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25BED-E303-B0D1-3CCB-2BA481B56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324AB-2FE4-4264-A341-1D3787BBD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38988-E8E3-44E7-96E8-3250E39A5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181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81AF5-72FA-CB8E-14E3-C6E4B155B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72C57-012A-F6D6-746A-E481020882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E648C-9213-C60B-4B92-6F22E451A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01CB3-0EAD-4AF4-932E-A8D84B37CE0D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62C09-3135-6375-CE19-58132703F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CDA75-830C-691E-C574-BBA9A4E5C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38988-E8E3-44E7-96E8-3250E39A5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060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2EFC6-662C-658A-4484-23D0EA5E7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D4BF06-1672-4B82-8759-4A49DD1F3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F6E5F3-F513-FCA5-C20C-F2DDBECF5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01CB3-0EAD-4AF4-932E-A8D84B37CE0D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DA40CF-C028-7231-7E01-6D1ED699E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74C32C-ADDA-D894-CF2A-EFC9CD954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38988-E8E3-44E7-96E8-3250E39A5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312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81DF6-91E4-9EF4-C9C6-476C87814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DC417-14FB-364D-53E7-67FC904E69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CB37F0-96DF-FAFC-089C-35362A6B08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42B0D1-BF91-3957-272C-00363D23D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01CB3-0EAD-4AF4-932E-A8D84B37CE0D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DBDACD-30D1-0237-CEF6-A7E191FC4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53233A-9F62-427B-625F-AD8561DE8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38988-E8E3-44E7-96E8-3250E39A5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36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6F4FA-16CB-E77B-94F3-7D8FBFEBC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E3B2E8-B0D8-9176-9B8E-CD45B2F169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B09E70-C463-4EFF-0F5C-F14D1BE5BD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73EC07-813A-A76E-533A-E40988D537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E762E9-E44D-7A56-4902-5FD9715CB6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375273-10C6-5F57-3441-4A6CC33B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01CB3-0EAD-4AF4-932E-A8D84B37CE0D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8023C5-F809-E83C-26AA-D757BFB80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BF0DCE-965B-FE2E-A19A-CB1769040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38988-E8E3-44E7-96E8-3250E39A5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160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862C0-DBBA-62BE-0DD8-C51C3C760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82CE83-816C-0B8D-300F-21B33A8DF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01CB3-0EAD-4AF4-932E-A8D84B37CE0D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18B5C0-7E72-820B-4E6D-DF9D4284B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082079-1AB9-AF0B-0B07-4F0736F10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38988-E8E3-44E7-96E8-3250E39A5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322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4C7A98-4814-3111-F18D-A9A0ADC56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01CB3-0EAD-4AF4-932E-A8D84B37CE0D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56F163-3C42-5566-A786-1265BFE17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2C760C-93E0-EA38-5236-AB19D3510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38988-E8E3-44E7-96E8-3250E39A5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337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10BDC-3D19-85E8-BFDC-D102DC38D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F61D6-D83F-FC87-FCCB-197FF40E18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949C45-CAB6-1915-72C1-A801F5CA23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819C23-A1B4-0D83-FFC8-71418AD37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01CB3-0EAD-4AF4-932E-A8D84B37CE0D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7E2EE0-9C15-C7A5-8276-3C9B7A236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39D0BF-31FB-0BB6-0EDB-A1ED73D2F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38988-E8E3-44E7-96E8-3250E39A5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507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37AED-E0D7-A50C-D2D0-F17EB6C07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D9482C-C074-A839-06BF-40F7E68723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E810F5-028C-C7A4-DE43-B7A08F4F5C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C811BB-F743-2FDB-D485-DB3D9ED42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01CB3-0EAD-4AF4-932E-A8D84B37CE0D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4E0ECE-352A-7A44-3979-6FB4F869A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4DD465-2072-CC60-D1AB-50459E5E1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38988-E8E3-44E7-96E8-3250E39A5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793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43807-D200-D938-82A0-14668E0E3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538565-5160-0359-45B8-507969913F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40D8FF-361E-963A-6ABC-E30748081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01CB3-0EAD-4AF4-932E-A8D84B37CE0D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0CEBF8-220D-7769-2BB1-F9AC6CCF6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3944DE-3B04-DB4E-6109-3FC2F9FE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38988-E8E3-44E7-96E8-3250E39A5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070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CC9CAA-EF4A-C703-8272-8707522B9E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2DCC89-1E93-32CA-2C50-C3A3E2F235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F30AD-83EF-B372-4850-19D2BA1A3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01CB3-0EAD-4AF4-932E-A8D84B37CE0D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563A44-F2A7-E58A-7503-194B578D1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3BA4BC-B50D-4FB5-9656-1DE4DC407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38988-E8E3-44E7-96E8-3250E39A5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1099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960000" y="1621000"/>
            <a:ext cx="10272000" cy="52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●"/>
              <a:defRPr/>
            </a:lvl1pPr>
            <a:lvl2pPr marL="1219170" lvl="1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○"/>
              <a:defRPr/>
            </a:lvl2pPr>
            <a:lvl3pPr marL="1828754" lvl="2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■"/>
              <a:defRPr/>
            </a:lvl3pPr>
            <a:lvl4pPr marL="2438339" lvl="3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●"/>
              <a:defRPr/>
            </a:lvl4pPr>
            <a:lvl5pPr marL="3047924" lvl="4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○"/>
              <a:defRPr/>
            </a:lvl5pPr>
            <a:lvl6pPr marL="3657509" lvl="5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■"/>
              <a:defRPr/>
            </a:lvl6pPr>
            <a:lvl7pPr marL="4267093" lvl="6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●"/>
              <a:defRPr/>
            </a:lvl7pPr>
            <a:lvl8pPr marL="4876678" lvl="7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○"/>
              <a:defRPr/>
            </a:lvl8pPr>
            <a:lvl9pPr marL="5486263" lvl="8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■"/>
              <a:defRPr/>
            </a:lvl9pPr>
          </a:lstStyle>
          <a:p>
            <a:endParaRPr/>
          </a:p>
        </p:txBody>
      </p:sp>
      <p:grpSp>
        <p:nvGrpSpPr>
          <p:cNvPr id="23" name="Google Shape;23;p4"/>
          <p:cNvGrpSpPr/>
          <p:nvPr/>
        </p:nvGrpSpPr>
        <p:grpSpPr>
          <a:xfrm>
            <a:off x="168" y="0"/>
            <a:ext cx="12191833" cy="161200"/>
            <a:chOff x="125" y="0"/>
            <a:chExt cx="9143875" cy="120900"/>
          </a:xfrm>
        </p:grpSpPr>
        <p:sp>
          <p:nvSpPr>
            <p:cNvPr id="24" name="Google Shape;24;p4"/>
            <p:cNvSpPr/>
            <p:nvPr/>
          </p:nvSpPr>
          <p:spPr>
            <a:xfrm flipH="1">
              <a:off x="654900" y="0"/>
              <a:ext cx="8489100" cy="12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25" name="Google Shape;25;p4"/>
            <p:cNvSpPr/>
            <p:nvPr/>
          </p:nvSpPr>
          <p:spPr>
            <a:xfrm flipH="1">
              <a:off x="125" y="0"/>
              <a:ext cx="713100" cy="120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iro"/>
                <a:ea typeface="Cairo"/>
                <a:cs typeface="Cairo"/>
                <a:sym typeface="Cair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203272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7"/>
          <p:cNvSpPr txBox="1">
            <a:spLocks noGrp="1"/>
          </p:cNvSpPr>
          <p:nvPr>
            <p:ph type="title" idx="2" hasCustomPrompt="1"/>
          </p:nvPr>
        </p:nvSpPr>
        <p:spPr>
          <a:xfrm>
            <a:off x="2072412" y="1860800"/>
            <a:ext cx="1040800" cy="82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03" name="Google Shape;103;p17"/>
          <p:cNvSpPr txBox="1">
            <a:spLocks noGrp="1"/>
          </p:cNvSpPr>
          <p:nvPr>
            <p:ph type="title" idx="3" hasCustomPrompt="1"/>
          </p:nvPr>
        </p:nvSpPr>
        <p:spPr>
          <a:xfrm>
            <a:off x="2072412" y="4065739"/>
            <a:ext cx="1040800" cy="82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04" name="Google Shape;104;p17"/>
          <p:cNvSpPr txBox="1">
            <a:spLocks noGrp="1"/>
          </p:cNvSpPr>
          <p:nvPr>
            <p:ph type="title" idx="4" hasCustomPrompt="1"/>
          </p:nvPr>
        </p:nvSpPr>
        <p:spPr>
          <a:xfrm>
            <a:off x="5580116" y="1860800"/>
            <a:ext cx="1040800" cy="82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05" name="Google Shape;105;p17"/>
          <p:cNvSpPr txBox="1">
            <a:spLocks noGrp="1"/>
          </p:cNvSpPr>
          <p:nvPr>
            <p:ph type="title" idx="5" hasCustomPrompt="1"/>
          </p:nvPr>
        </p:nvSpPr>
        <p:spPr>
          <a:xfrm>
            <a:off x="5580116" y="4065739"/>
            <a:ext cx="1040800" cy="82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06" name="Google Shape;106;p17"/>
          <p:cNvSpPr txBox="1">
            <a:spLocks noGrp="1"/>
          </p:cNvSpPr>
          <p:nvPr>
            <p:ph type="title" idx="6" hasCustomPrompt="1"/>
          </p:nvPr>
        </p:nvSpPr>
        <p:spPr>
          <a:xfrm>
            <a:off x="9087853" y="1860800"/>
            <a:ext cx="1040800" cy="82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07" name="Google Shape;107;p17"/>
          <p:cNvSpPr txBox="1">
            <a:spLocks noGrp="1"/>
          </p:cNvSpPr>
          <p:nvPr>
            <p:ph type="title" idx="7" hasCustomPrompt="1"/>
          </p:nvPr>
        </p:nvSpPr>
        <p:spPr>
          <a:xfrm>
            <a:off x="9087853" y="4065739"/>
            <a:ext cx="1040800" cy="82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08" name="Google Shape;108;p17"/>
          <p:cNvSpPr txBox="1">
            <a:spLocks noGrp="1"/>
          </p:cNvSpPr>
          <p:nvPr>
            <p:ph type="subTitle" idx="1"/>
          </p:nvPr>
        </p:nvSpPr>
        <p:spPr>
          <a:xfrm>
            <a:off x="960000" y="2893600"/>
            <a:ext cx="32656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subTitle" idx="8"/>
          </p:nvPr>
        </p:nvSpPr>
        <p:spPr>
          <a:xfrm>
            <a:off x="4467704" y="2893600"/>
            <a:ext cx="32656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110" name="Google Shape;110;p17"/>
          <p:cNvSpPr txBox="1">
            <a:spLocks noGrp="1"/>
          </p:cNvSpPr>
          <p:nvPr>
            <p:ph type="subTitle" idx="9"/>
          </p:nvPr>
        </p:nvSpPr>
        <p:spPr>
          <a:xfrm>
            <a:off x="7975441" y="2893600"/>
            <a:ext cx="32656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111" name="Google Shape;111;p17"/>
          <p:cNvSpPr txBox="1">
            <a:spLocks noGrp="1"/>
          </p:cNvSpPr>
          <p:nvPr>
            <p:ph type="subTitle" idx="13"/>
          </p:nvPr>
        </p:nvSpPr>
        <p:spPr>
          <a:xfrm>
            <a:off x="960000" y="5098533"/>
            <a:ext cx="32656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112" name="Google Shape;112;p17"/>
          <p:cNvSpPr txBox="1">
            <a:spLocks noGrp="1"/>
          </p:cNvSpPr>
          <p:nvPr>
            <p:ph type="subTitle" idx="14"/>
          </p:nvPr>
        </p:nvSpPr>
        <p:spPr>
          <a:xfrm>
            <a:off x="4467704" y="5098533"/>
            <a:ext cx="32656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113" name="Google Shape;113;p17"/>
          <p:cNvSpPr txBox="1">
            <a:spLocks noGrp="1"/>
          </p:cNvSpPr>
          <p:nvPr>
            <p:ph type="subTitle" idx="15"/>
          </p:nvPr>
        </p:nvSpPr>
        <p:spPr>
          <a:xfrm>
            <a:off x="7975441" y="5098533"/>
            <a:ext cx="32656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grpSp>
        <p:nvGrpSpPr>
          <p:cNvPr id="114" name="Google Shape;114;p17"/>
          <p:cNvGrpSpPr/>
          <p:nvPr/>
        </p:nvGrpSpPr>
        <p:grpSpPr>
          <a:xfrm>
            <a:off x="-15" y="-16"/>
            <a:ext cx="161217" cy="6862784"/>
            <a:chOff x="-12" y="-12"/>
            <a:chExt cx="120913" cy="5147088"/>
          </a:xfrm>
        </p:grpSpPr>
        <p:sp>
          <p:nvSpPr>
            <p:cNvPr id="115" name="Google Shape;115;p17"/>
            <p:cNvSpPr/>
            <p:nvPr/>
          </p:nvSpPr>
          <p:spPr>
            <a:xfrm rot="5400000" flipH="1">
              <a:off x="-2185650" y="2840525"/>
              <a:ext cx="4492200" cy="12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16" name="Google Shape;116;p17"/>
            <p:cNvSpPr/>
            <p:nvPr/>
          </p:nvSpPr>
          <p:spPr>
            <a:xfrm rot="5400000" flipH="1">
              <a:off x="-296112" y="296088"/>
              <a:ext cx="713100" cy="120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iro"/>
                <a:ea typeface="Cairo"/>
                <a:cs typeface="Cairo"/>
                <a:sym typeface="Cair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40130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C82FBE-51CC-4D57-4528-663A38BDB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53AC66-E6D1-94D2-0A60-9DE7068BF6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500A8-D324-D0A8-5693-A4547DA4BD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F01CB3-0EAD-4AF4-932E-A8D84B37CE0D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2F45DF-9182-71A7-01C8-F3EE9A4C7C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1791F8-412F-7E13-1FE2-90A6B6D8F5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438988-E8E3-44E7-96E8-3250E39A5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273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13 Most Common JavaScript String Methods You Should Know About | by Dimple  Kumari | Medium">
            <a:extLst>
              <a:ext uri="{FF2B5EF4-FFF2-40B4-BE49-F238E27FC236}">
                <a16:creationId xmlns:a16="http://schemas.microsoft.com/office/drawing/2014/main" id="{489F11E3-B25C-FD6A-EF57-BDAE0D6589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7973"/>
            <a:ext cx="12192000" cy="6760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9160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What we Cover Today:</a:t>
            </a:r>
            <a:endParaRPr dirty="0"/>
          </a:p>
        </p:txBody>
      </p:sp>
      <p:sp>
        <p:nvSpPr>
          <p:cNvPr id="214" name="Google Shape;214;p29"/>
          <p:cNvSpPr txBox="1">
            <a:spLocks noGrp="1"/>
          </p:cNvSpPr>
          <p:nvPr>
            <p:ph type="title" idx="2"/>
          </p:nvPr>
        </p:nvSpPr>
        <p:spPr>
          <a:xfrm>
            <a:off x="2072412" y="1860800"/>
            <a:ext cx="1040800" cy="82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/>
              <a:t>01</a:t>
            </a:r>
            <a:endParaRPr/>
          </a:p>
        </p:txBody>
      </p:sp>
      <p:sp>
        <p:nvSpPr>
          <p:cNvPr id="216" name="Google Shape;216;p29"/>
          <p:cNvSpPr txBox="1">
            <a:spLocks noGrp="1"/>
          </p:cNvSpPr>
          <p:nvPr>
            <p:ph type="title" idx="4"/>
          </p:nvPr>
        </p:nvSpPr>
        <p:spPr>
          <a:xfrm>
            <a:off x="5580116" y="1860800"/>
            <a:ext cx="1040800" cy="82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/>
              <a:t>02</a:t>
            </a:r>
            <a:endParaRPr/>
          </a:p>
        </p:txBody>
      </p:sp>
      <p:sp>
        <p:nvSpPr>
          <p:cNvPr id="220" name="Google Shape;220;p29"/>
          <p:cNvSpPr txBox="1">
            <a:spLocks noGrp="1"/>
          </p:cNvSpPr>
          <p:nvPr>
            <p:ph type="subTitle" idx="1"/>
          </p:nvPr>
        </p:nvSpPr>
        <p:spPr>
          <a:xfrm>
            <a:off x="960000" y="2893600"/>
            <a:ext cx="3265600" cy="59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/>
            <a:r>
              <a:rPr lang="en-CA" b="0" dirty="0">
                <a:latin typeface="DM Sans SemiBold"/>
                <a:ea typeface="DM Sans SemiBold"/>
                <a:cs typeface="DM Sans SemiBold"/>
                <a:sym typeface="DM Sans SemiBold"/>
              </a:rPr>
              <a:t>String Methods</a:t>
            </a:r>
            <a:endParaRPr b="0" dirty="0"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cxnSp>
        <p:nvCxnSpPr>
          <p:cNvPr id="226" name="Google Shape;226;p29"/>
          <p:cNvCxnSpPr/>
          <p:nvPr/>
        </p:nvCxnSpPr>
        <p:spPr>
          <a:xfrm>
            <a:off x="2020000" y="2792000"/>
            <a:ext cx="1145600" cy="0"/>
          </a:xfrm>
          <a:prstGeom prst="straightConnector1">
            <a:avLst/>
          </a:prstGeom>
          <a:noFill/>
          <a:ln w="9525" cap="flat" cmpd="sng">
            <a:solidFill>
              <a:srgbClr val="FFC000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27" name="Google Shape;227;p29"/>
          <p:cNvCxnSpPr/>
          <p:nvPr/>
        </p:nvCxnSpPr>
        <p:spPr>
          <a:xfrm>
            <a:off x="5527717" y="2792000"/>
            <a:ext cx="1145600" cy="0"/>
          </a:xfrm>
          <a:prstGeom prst="straightConnector1">
            <a:avLst/>
          </a:prstGeom>
          <a:noFill/>
          <a:ln w="9525" cap="flat" cmpd="sng">
            <a:solidFill>
              <a:srgbClr val="FFC000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" name="Google Shape;220;p29">
            <a:extLst>
              <a:ext uri="{FF2B5EF4-FFF2-40B4-BE49-F238E27FC236}">
                <a16:creationId xmlns:a16="http://schemas.microsoft.com/office/drawing/2014/main" id="{646AA688-C953-8207-6385-3D0F7EEDC8EA}"/>
              </a:ext>
            </a:extLst>
          </p:cNvPr>
          <p:cNvSpPr txBox="1">
            <a:spLocks/>
          </p:cNvSpPr>
          <p:nvPr/>
        </p:nvSpPr>
        <p:spPr>
          <a:xfrm>
            <a:off x="4463200" y="2893596"/>
            <a:ext cx="3265600" cy="5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pPr marL="0" indent="0"/>
            <a:r>
              <a:rPr lang="en-GB" sz="2400" dirty="0"/>
              <a:t>Exercise</a:t>
            </a:r>
          </a:p>
        </p:txBody>
      </p:sp>
    </p:spTree>
    <p:extLst>
      <p:ext uri="{BB962C8B-B14F-4D97-AF65-F5344CB8AC3E}">
        <p14:creationId xmlns:p14="http://schemas.microsoft.com/office/powerpoint/2010/main" val="41841169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8E64773B-CE28-A64A-3268-ACCFCADDD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23A2F441-31DB-1D97-407C-9DF9FABAAF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180511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String Methods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0F481BEB-E6F9-84C8-5915-FA36DF19C5B2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96530E8-68BF-D833-EE04-EC84C8862748}"/>
              </a:ext>
            </a:extLst>
          </p:cNvPr>
          <p:cNvSpPr txBox="1"/>
          <p:nvPr/>
        </p:nvSpPr>
        <p:spPr>
          <a:xfrm>
            <a:off x="960001" y="794460"/>
            <a:ext cx="11025172" cy="6035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charAt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GB" sz="2267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charAt</a:t>
            </a:r>
            <a:r>
              <a:rPr lang="en-GB" sz="2267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(x)</a:t>
            </a: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method returns the character at a specified index (position) in a string: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  <a:p>
            <a:pPr lvl="0"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</a:rPr>
              <a:t>let text = "HELLO WORLD";</a:t>
            </a:r>
            <a:br>
              <a:rPr lang="en-GB" sz="2267" dirty="0">
                <a:latin typeface="Consolas" panose="020B0609020204030204" pitchFamily="49" charset="0"/>
              </a:rPr>
            </a:br>
            <a:r>
              <a:rPr lang="en-GB" sz="2267" dirty="0">
                <a:latin typeface="Consolas" panose="020B0609020204030204" pitchFamily="49" charset="0"/>
              </a:rPr>
              <a:t>let char = </a:t>
            </a:r>
            <a:r>
              <a:rPr lang="en-GB" sz="2267" dirty="0" err="1">
                <a:latin typeface="Consolas" panose="020B0609020204030204" pitchFamily="49" charset="0"/>
              </a:rPr>
              <a:t>text.charAt</a:t>
            </a:r>
            <a:r>
              <a:rPr lang="en-GB" sz="2267" dirty="0">
                <a:latin typeface="Consolas" panose="020B0609020204030204" pitchFamily="49" charset="0"/>
              </a:rPr>
              <a:t>(0); // H</a:t>
            </a:r>
          </a:p>
          <a:p>
            <a:pPr lvl="0">
              <a:lnSpc>
                <a:spcPct val="150000"/>
              </a:lnSpc>
            </a:pPr>
            <a:endParaRPr lang="en-GB" sz="2267" dirty="0">
              <a:latin typeface="Consolas" panose="020B0609020204030204" pitchFamily="49" charset="0"/>
            </a:endParaRPr>
          </a:p>
          <a:p>
            <a:pPr lvl="0">
              <a:lnSpc>
                <a:spcPct val="150000"/>
              </a:lnSpc>
            </a:pP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length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GB" sz="2267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length</a:t>
            </a:r>
            <a:r>
              <a:rPr lang="en-GB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property returns the length of a String.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  <a:p>
            <a:pPr lvl="0">
              <a:lnSpc>
                <a:spcPct val="150000"/>
              </a:lnSpc>
            </a:pPr>
            <a:r>
              <a:rPr lang="en-US" sz="2400" dirty="0">
                <a:latin typeface="Consolas" panose="020B0609020204030204" pitchFamily="49" charset="0"/>
              </a:rPr>
              <a:t>let text = "ABCDEFGHIJKLMNOPQRSTUVWXYZ";</a:t>
            </a:r>
            <a:br>
              <a:rPr lang="en-US" sz="2400" dirty="0">
                <a:latin typeface="Consolas" panose="020B0609020204030204" pitchFamily="49" charset="0"/>
              </a:rPr>
            </a:br>
            <a:r>
              <a:rPr lang="en-US" sz="2400" dirty="0">
                <a:latin typeface="Consolas" panose="020B0609020204030204" pitchFamily="49" charset="0"/>
              </a:rPr>
              <a:t>let length = </a:t>
            </a:r>
            <a:r>
              <a:rPr lang="en-US" sz="2400" dirty="0" err="1">
                <a:latin typeface="Consolas" panose="020B0609020204030204" pitchFamily="49" charset="0"/>
              </a:rPr>
              <a:t>text.length</a:t>
            </a:r>
            <a:r>
              <a:rPr lang="en-US" sz="2400" dirty="0">
                <a:latin typeface="Consolas" panose="020B0609020204030204" pitchFamily="49" charset="0"/>
              </a:rPr>
              <a:t>; // 26</a:t>
            </a:r>
          </a:p>
        </p:txBody>
      </p:sp>
    </p:spTree>
    <p:extLst>
      <p:ext uri="{BB962C8B-B14F-4D97-AF65-F5344CB8AC3E}">
        <p14:creationId xmlns:p14="http://schemas.microsoft.com/office/powerpoint/2010/main" val="1443121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11B94590-8C77-00E3-0DED-72F4B2D34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29A1704E-B23F-B6F4-8FB4-7630CEE456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String Methods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5D5F511D-E1E6-DEC8-3D58-C416763C4712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82461E8-77EC-D64A-E04D-97611EFFEF6A}"/>
              </a:ext>
            </a:extLst>
          </p:cNvPr>
          <p:cNvSpPr txBox="1"/>
          <p:nvPr/>
        </p:nvSpPr>
        <p:spPr>
          <a:xfrm>
            <a:off x="960001" y="1316975"/>
            <a:ext cx="11025172" cy="3268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trim()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GB" sz="2267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trim()</a:t>
            </a: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method removes whitespace from both sides of a string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  <a:p>
            <a:pPr lvl="0"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</a:rPr>
              <a:t>let text1 = "      Hello World!      ";</a:t>
            </a:r>
          </a:p>
          <a:p>
            <a:pPr lvl="0"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</a:rPr>
              <a:t>let text2 = text1.trim(); // Hello World!</a:t>
            </a:r>
          </a:p>
          <a:p>
            <a:pPr lvl="0">
              <a:lnSpc>
                <a:spcPct val="150000"/>
              </a:lnSpc>
            </a:pPr>
            <a:endParaRPr lang="en-GB" sz="2267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799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9C3DC1AA-05DD-1FE7-BFB3-D9C7049B2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E9AB7F72-EA74-5724-C26A-B1E1EA20C1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180511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String Methods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09B1D430-CA2F-237E-8307-1FC28D18A71F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82A72DE-2C3A-6939-7A3E-48902105FD16}"/>
              </a:ext>
            </a:extLst>
          </p:cNvPr>
          <p:cNvSpPr txBox="1"/>
          <p:nvPr/>
        </p:nvSpPr>
        <p:spPr>
          <a:xfrm>
            <a:off x="960001" y="794460"/>
            <a:ext cx="11025172" cy="6035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toUpperCase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GB" sz="2267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toUpperCase</a:t>
            </a:r>
            <a:r>
              <a:rPr lang="en-GB" sz="2267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method that convert a string to upper case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  <a:p>
            <a:pPr lvl="0"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</a:rPr>
              <a:t>let text1 = "Hello World!";</a:t>
            </a:r>
          </a:p>
          <a:p>
            <a:pPr lvl="0"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</a:rPr>
              <a:t>let text2 = text1.toUpperCase(); // HELLO WORLD!</a:t>
            </a:r>
          </a:p>
          <a:p>
            <a:pPr lvl="0">
              <a:lnSpc>
                <a:spcPct val="150000"/>
              </a:lnSpc>
            </a:pPr>
            <a:endParaRPr lang="en-GB" sz="2267" dirty="0">
              <a:latin typeface="Consolas" panose="020B0609020204030204" pitchFamily="49" charset="0"/>
            </a:endParaRPr>
          </a:p>
          <a:p>
            <a:pPr lvl="0">
              <a:lnSpc>
                <a:spcPct val="150000"/>
              </a:lnSpc>
            </a:pP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toLowerCase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GB" sz="2267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toLowerCase</a:t>
            </a:r>
            <a:r>
              <a:rPr lang="en-GB" sz="2267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r>
              <a:rPr lang="en-GB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method that convert a string to lower case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Consolas" panose="020B0609020204030204" pitchFamily="49" charset="0"/>
              </a:rPr>
              <a:t>let text1 = "Hello World!";   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Consolas" panose="020B0609020204030204" pitchFamily="49" charset="0"/>
              </a:rPr>
              <a:t>let text2 = text1.toLowerCase(); // hello world!</a:t>
            </a:r>
            <a:endParaRPr lang="en-US" sz="2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1972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269BF810-57C3-FDC2-888D-88E79BEF1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49BF6E30-A2D9-98AE-8696-2E85E2188E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180511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String Methods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A374B454-65C5-E230-4D5D-1EEDBF6E359A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19B3428-5E0A-886A-34C9-F9578E6A0F3C}"/>
              </a:ext>
            </a:extLst>
          </p:cNvPr>
          <p:cNvSpPr txBox="1"/>
          <p:nvPr/>
        </p:nvSpPr>
        <p:spPr>
          <a:xfrm>
            <a:off x="960001" y="794461"/>
            <a:ext cx="11025172" cy="4899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Chaining String Methods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Chaining = use many methods together on the same value.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 “chain” them with a dot (.).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result of one method goes into the next method.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1: Without Chaining</a:t>
            </a:r>
          </a:p>
          <a:p>
            <a:pPr lvl="0">
              <a:lnSpc>
                <a:spcPct val="150000"/>
              </a:lnSpc>
            </a:pPr>
            <a:r>
              <a:rPr lang="en-US" sz="2267" dirty="0">
                <a:latin typeface="Consolas" panose="020B0609020204030204" pitchFamily="49" charset="0"/>
              </a:rPr>
              <a:t>let text = "   hello world   ";</a:t>
            </a:r>
          </a:p>
          <a:p>
            <a:pPr lvl="0">
              <a:lnSpc>
                <a:spcPct val="150000"/>
              </a:lnSpc>
            </a:pPr>
            <a:r>
              <a:rPr lang="en-US" sz="2267" dirty="0">
                <a:latin typeface="Consolas" panose="020B0609020204030204" pitchFamily="49" charset="0"/>
              </a:rPr>
              <a:t>let trimmed = </a:t>
            </a:r>
            <a:r>
              <a:rPr lang="en-US" sz="2267" dirty="0" err="1">
                <a:latin typeface="Consolas" panose="020B0609020204030204" pitchFamily="49" charset="0"/>
              </a:rPr>
              <a:t>text.trim</a:t>
            </a:r>
            <a:r>
              <a:rPr lang="en-US" sz="2267" dirty="0">
                <a:latin typeface="Consolas" panose="020B0609020204030204" pitchFamily="49" charset="0"/>
              </a:rPr>
              <a:t>(); // remove spaces</a:t>
            </a:r>
          </a:p>
          <a:p>
            <a:pPr lvl="0">
              <a:lnSpc>
                <a:spcPct val="150000"/>
              </a:lnSpc>
            </a:pPr>
            <a:r>
              <a:rPr lang="en-US" sz="2267" dirty="0">
                <a:latin typeface="Consolas" panose="020B0609020204030204" pitchFamily="49" charset="0"/>
              </a:rPr>
              <a:t>let upper = </a:t>
            </a:r>
            <a:r>
              <a:rPr lang="en-US" sz="2267" dirty="0" err="1">
                <a:latin typeface="Consolas" panose="020B0609020204030204" pitchFamily="49" charset="0"/>
              </a:rPr>
              <a:t>trimmed.toUpperCase</a:t>
            </a:r>
            <a:r>
              <a:rPr lang="en-US" sz="2267" dirty="0">
                <a:latin typeface="Consolas" panose="020B0609020204030204" pitchFamily="49" charset="0"/>
              </a:rPr>
              <a:t>(); // make big letters</a:t>
            </a:r>
          </a:p>
          <a:p>
            <a:pPr lvl="0">
              <a:lnSpc>
                <a:spcPct val="150000"/>
              </a:lnSpc>
            </a:pPr>
            <a:r>
              <a:rPr lang="en-US" sz="2267" dirty="0">
                <a:latin typeface="Consolas" panose="020B0609020204030204" pitchFamily="49" charset="0"/>
              </a:rPr>
              <a:t>console.log(upper); // "HELLO WORLD"</a:t>
            </a:r>
          </a:p>
        </p:txBody>
      </p:sp>
    </p:spTree>
    <p:extLst>
      <p:ext uri="{BB962C8B-B14F-4D97-AF65-F5344CB8AC3E}">
        <p14:creationId xmlns:p14="http://schemas.microsoft.com/office/powerpoint/2010/main" val="2377120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C19488D8-936E-77A0-D7F7-C5DC10DA9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8F98E646-A529-8DE5-AE5F-15FDEB8768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180511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String Methods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42581A88-F63B-53D8-67D8-9859B785AAF1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93837B9-0A4D-61A0-5360-810ADF29F158}"/>
              </a:ext>
            </a:extLst>
          </p:cNvPr>
          <p:cNvSpPr txBox="1"/>
          <p:nvPr/>
        </p:nvSpPr>
        <p:spPr>
          <a:xfrm>
            <a:off x="960001" y="944111"/>
            <a:ext cx="11025172" cy="219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Chaining String Methods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2: With Chaining</a:t>
            </a:r>
          </a:p>
          <a:p>
            <a:pPr lvl="0"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</a:rPr>
              <a:t>let text = "   hello world   ";</a:t>
            </a:r>
          </a:p>
          <a:p>
            <a:pPr lvl="0"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</a:rPr>
              <a:t>console.log(</a:t>
            </a:r>
            <a:r>
              <a:rPr lang="en-GB" sz="2267" dirty="0" err="1">
                <a:latin typeface="Consolas" panose="020B0609020204030204" pitchFamily="49" charset="0"/>
              </a:rPr>
              <a:t>text.trim</a:t>
            </a:r>
            <a:r>
              <a:rPr lang="en-GB" sz="2267" dirty="0">
                <a:latin typeface="Consolas" panose="020B0609020204030204" pitchFamily="49" charset="0"/>
              </a:rPr>
              <a:t>().</a:t>
            </a:r>
            <a:r>
              <a:rPr lang="en-GB" sz="2267" dirty="0" err="1">
                <a:latin typeface="Consolas" panose="020B0609020204030204" pitchFamily="49" charset="0"/>
              </a:rPr>
              <a:t>toUpperCase</a:t>
            </a:r>
            <a:r>
              <a:rPr lang="en-GB" sz="2267" dirty="0">
                <a:latin typeface="Consolas" panose="020B0609020204030204" pitchFamily="49" charset="0"/>
              </a:rPr>
              <a:t>()); // "HELLO WORLD"</a:t>
            </a:r>
          </a:p>
        </p:txBody>
      </p:sp>
    </p:spTree>
    <p:extLst>
      <p:ext uri="{BB962C8B-B14F-4D97-AF65-F5344CB8AC3E}">
        <p14:creationId xmlns:p14="http://schemas.microsoft.com/office/powerpoint/2010/main" val="2774526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EF12B3BA-5445-8BCA-B695-93874608E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1D689BB7-B957-126D-0A4A-CFC550966F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String Methods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92D8E285-EE84-09AC-EEE1-F3A94891C0F1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993CDB7-73D1-5076-E500-42D9B590372D}"/>
              </a:ext>
            </a:extLst>
          </p:cNvPr>
          <p:cNvSpPr txBox="1"/>
          <p:nvPr/>
        </p:nvSpPr>
        <p:spPr>
          <a:xfrm>
            <a:off x="960001" y="1150940"/>
            <a:ext cx="11025172" cy="3298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indexOf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GB" sz="2267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indexOf</a:t>
            </a:r>
            <a:r>
              <a:rPr lang="en-GB" sz="2267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method returns the index (position) of the first occurrence of a string in a string, or it returns -1 if the string is not found: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Example:</a:t>
            </a:r>
          </a:p>
          <a:p>
            <a:pPr lvl="0"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let text = "Please locate where 'locate' occurs!";</a:t>
            </a:r>
          </a:p>
          <a:p>
            <a:pPr lvl="0"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let index = </a:t>
            </a:r>
            <a:r>
              <a:rPr lang="en-GB" sz="2267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text.indexOf</a:t>
            </a:r>
            <a:r>
              <a:rPr lang="en-GB" sz="2267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("locate"); // 7</a:t>
            </a:r>
          </a:p>
        </p:txBody>
      </p:sp>
    </p:spTree>
    <p:extLst>
      <p:ext uri="{BB962C8B-B14F-4D97-AF65-F5344CB8AC3E}">
        <p14:creationId xmlns:p14="http://schemas.microsoft.com/office/powerpoint/2010/main" val="3498791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C8230739-24A1-B80D-6208-4EA4447C7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F52C1E58-E56B-89AA-BBD9-38DCD76808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String Methods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E3335CFB-BCED-7E10-2B49-4BBF6DCDD106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237E365-B8CF-0614-7F8F-BEA7BA3A2848}"/>
              </a:ext>
            </a:extLst>
          </p:cNvPr>
          <p:cNvSpPr txBox="1"/>
          <p:nvPr/>
        </p:nvSpPr>
        <p:spPr>
          <a:xfrm>
            <a:off x="960001" y="1150940"/>
            <a:ext cx="11025172" cy="3298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lastIndexOf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GB" sz="2267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lastIndexOf</a:t>
            </a:r>
            <a:r>
              <a:rPr lang="en-GB" sz="2267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method returns the index of the last occurrence of a specified text in a string: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Example:</a:t>
            </a:r>
          </a:p>
          <a:p>
            <a:pPr lvl="0"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let text = "Please locate where 'locate' occurs!";</a:t>
            </a:r>
          </a:p>
          <a:p>
            <a:pPr lvl="0"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let index = </a:t>
            </a:r>
            <a:r>
              <a:rPr lang="en-GB" sz="2267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text.lastIndexOf</a:t>
            </a:r>
            <a:r>
              <a:rPr lang="en-GB" sz="2267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("locate"); // 21</a:t>
            </a:r>
          </a:p>
        </p:txBody>
      </p:sp>
    </p:spTree>
    <p:extLst>
      <p:ext uri="{BB962C8B-B14F-4D97-AF65-F5344CB8AC3E}">
        <p14:creationId xmlns:p14="http://schemas.microsoft.com/office/powerpoint/2010/main" val="435097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86680753-0944-159E-8B97-C30401549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09EFFF96-9FB3-80AE-AB6F-0D38D2462F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String Methods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16F85E0B-7DBE-350E-D9BB-6014ED6ED926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681EFF4-2A4F-074A-3241-5ED6E31AA549}"/>
              </a:ext>
            </a:extLst>
          </p:cNvPr>
          <p:cNvSpPr txBox="1"/>
          <p:nvPr/>
        </p:nvSpPr>
        <p:spPr>
          <a:xfrm>
            <a:off x="960001" y="1150940"/>
            <a:ext cx="11025172" cy="3852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slice()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GB" sz="2267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lastIndexOf</a:t>
            </a:r>
            <a:r>
              <a:rPr lang="en-GB" sz="2267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extracts a part of a string and returns the extracted part in a new string.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method takes 2 parameters: start position, and end position (end not included).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Example:</a:t>
            </a:r>
          </a:p>
          <a:p>
            <a:pPr lvl="0"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let text = "Apple, Banana, Kiwi";</a:t>
            </a:r>
          </a:p>
          <a:p>
            <a:pPr lvl="0"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let part = </a:t>
            </a:r>
            <a:r>
              <a:rPr lang="en-GB" sz="2267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text.slice</a:t>
            </a:r>
            <a:r>
              <a:rPr lang="en-GB" sz="2267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(7, 13);</a:t>
            </a:r>
          </a:p>
        </p:txBody>
      </p:sp>
    </p:spTree>
    <p:extLst>
      <p:ext uri="{BB962C8B-B14F-4D97-AF65-F5344CB8AC3E}">
        <p14:creationId xmlns:p14="http://schemas.microsoft.com/office/powerpoint/2010/main" val="42475370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F3AACA40-16F5-29D8-3ADC-356F7E884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38408FD8-E381-C3B9-054B-03261331F2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String Methods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29CA8C56-76C3-FA42-0A47-D0C68BBF8572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00BED21-B7E2-9D28-4C86-6957ABC60549}"/>
              </a:ext>
            </a:extLst>
          </p:cNvPr>
          <p:cNvSpPr txBox="1"/>
          <p:nvPr/>
        </p:nvSpPr>
        <p:spPr>
          <a:xfrm>
            <a:off x="960001" y="1150941"/>
            <a:ext cx="11025172" cy="379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split()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GB" sz="2267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split()</a:t>
            </a: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method that covert a string to an array 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Example:</a:t>
            </a:r>
          </a:p>
          <a:p>
            <a:pPr lvl="0"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let text = “Khalid Abdirahman”</a:t>
            </a:r>
          </a:p>
          <a:p>
            <a:pPr lvl="0">
              <a:lnSpc>
                <a:spcPct val="150000"/>
              </a:lnSpc>
            </a:pPr>
            <a:r>
              <a:rPr lang="en-GB" sz="2267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text.split</a:t>
            </a:r>
            <a:r>
              <a:rPr lang="en-GB" sz="2267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(); // [“Khalid Abdirahman”]</a:t>
            </a:r>
          </a:p>
          <a:p>
            <a:pPr lvl="0">
              <a:lnSpc>
                <a:spcPct val="150000"/>
              </a:lnSpc>
            </a:pPr>
            <a:r>
              <a:rPr lang="en-GB" sz="2267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text.split</a:t>
            </a:r>
            <a:r>
              <a:rPr lang="en-GB" sz="2267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("")    // [“K”, “h”, “a”, “l”, “</a:t>
            </a:r>
            <a:r>
              <a:rPr lang="en-GB" sz="2267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GB" sz="2267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”, “d”, “ ”, “A”, …]</a:t>
            </a:r>
          </a:p>
          <a:p>
            <a:pPr lvl="0">
              <a:lnSpc>
                <a:spcPct val="150000"/>
              </a:lnSpc>
            </a:pPr>
            <a:r>
              <a:rPr lang="en-GB" sz="2267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text.split</a:t>
            </a:r>
            <a:r>
              <a:rPr lang="en-GB" sz="2267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(" ")    // [“Khalid”, “Abdirahman”]</a:t>
            </a:r>
          </a:p>
        </p:txBody>
      </p:sp>
    </p:spTree>
    <p:extLst>
      <p:ext uri="{BB962C8B-B14F-4D97-AF65-F5344CB8AC3E}">
        <p14:creationId xmlns:p14="http://schemas.microsoft.com/office/powerpoint/2010/main" val="26143512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91A15DB2-11DF-EE46-654B-D93B304CE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BB8FA184-D9F2-0D02-02D5-907BB09CC1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String Methods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9DB92056-FEAC-9E4D-8189-071CFCDE762F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BE7A69C-C58C-4A4B-54DD-B3B83A468433}"/>
              </a:ext>
            </a:extLst>
          </p:cNvPr>
          <p:cNvSpPr txBox="1"/>
          <p:nvPr/>
        </p:nvSpPr>
        <p:spPr>
          <a:xfrm>
            <a:off x="960001" y="1150940"/>
            <a:ext cx="11025172" cy="4869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includes()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GB" sz="2267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includes()</a:t>
            </a: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method returns true if a string contains a specified value.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Example:</a:t>
            </a:r>
          </a:p>
          <a:p>
            <a:pPr lvl="0"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let text = "Hello world, welcome to the universe.";</a:t>
            </a:r>
          </a:p>
          <a:p>
            <a:pPr lvl="0">
              <a:lnSpc>
                <a:spcPct val="150000"/>
              </a:lnSpc>
            </a:pPr>
            <a:r>
              <a:rPr lang="en-GB" sz="2267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text.includes</a:t>
            </a:r>
            <a:r>
              <a:rPr lang="en-GB" sz="2267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("world"); // true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2:</a:t>
            </a:r>
            <a:endParaRPr lang="en-GB" sz="24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let text = "Hello world, welcome to the universe.";</a:t>
            </a:r>
          </a:p>
          <a:p>
            <a:pPr lvl="0">
              <a:lnSpc>
                <a:spcPct val="150000"/>
              </a:lnSpc>
            </a:pPr>
            <a:r>
              <a:rPr lang="en-GB" sz="2267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text.includes</a:t>
            </a:r>
            <a:r>
              <a:rPr lang="en-GB" sz="2267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("world", 12); // false</a:t>
            </a:r>
          </a:p>
          <a:p>
            <a:pPr lvl="0"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Note: includes() is case sensitive </a:t>
            </a:r>
          </a:p>
        </p:txBody>
      </p:sp>
    </p:spTree>
    <p:extLst>
      <p:ext uri="{BB962C8B-B14F-4D97-AF65-F5344CB8AC3E}">
        <p14:creationId xmlns:p14="http://schemas.microsoft.com/office/powerpoint/2010/main" val="15406045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7B9D54B1-B3B4-D22D-EA6D-EAC0BCBB0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BED5E039-885B-A761-F985-E1EEDAEF7F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String Methods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00B7EE42-DFF2-71B5-14EA-C26F86069162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1EC4737-F91F-BC4C-AC41-303DFEFAAA32}"/>
              </a:ext>
            </a:extLst>
          </p:cNvPr>
          <p:cNvSpPr txBox="1"/>
          <p:nvPr/>
        </p:nvSpPr>
        <p:spPr>
          <a:xfrm>
            <a:off x="960001" y="1150940"/>
            <a:ext cx="11025172" cy="27449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StartsWith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GB" sz="2267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StartsWitch</a:t>
            </a:r>
            <a:r>
              <a:rPr lang="en-GB" sz="2267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method returns true if a string begins with a specified value.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Example:</a:t>
            </a:r>
          </a:p>
          <a:p>
            <a:pPr lvl="0"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let text = "Hello world, welcome to the universe.";</a:t>
            </a:r>
          </a:p>
          <a:p>
            <a:pPr lvl="0">
              <a:lnSpc>
                <a:spcPct val="150000"/>
              </a:lnSpc>
            </a:pPr>
            <a:r>
              <a:rPr lang="en-GB" sz="2267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text.startsWith</a:t>
            </a:r>
            <a:r>
              <a:rPr lang="en-GB" sz="2267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("Hello"); // true</a:t>
            </a:r>
          </a:p>
        </p:txBody>
      </p:sp>
    </p:spTree>
    <p:extLst>
      <p:ext uri="{BB962C8B-B14F-4D97-AF65-F5344CB8AC3E}">
        <p14:creationId xmlns:p14="http://schemas.microsoft.com/office/powerpoint/2010/main" val="27405870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73DC681A-8CDC-540D-90CC-4D5DBDB00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B9B2D8B2-B707-EDD0-3F9D-E015AF4530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String Methods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0CA87688-DD5F-6559-535C-03401B681064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B99FA7E-08AB-1620-37AA-2AC4CEF597A3}"/>
              </a:ext>
            </a:extLst>
          </p:cNvPr>
          <p:cNvSpPr txBox="1"/>
          <p:nvPr/>
        </p:nvSpPr>
        <p:spPr>
          <a:xfrm>
            <a:off x="960001" y="1150940"/>
            <a:ext cx="11025172" cy="27449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endsWith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GB" sz="2267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endsWitch</a:t>
            </a:r>
            <a:r>
              <a:rPr lang="en-GB" sz="2267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method returns true if a string ends with a specified value.</a:t>
            </a:r>
          </a:p>
          <a:p>
            <a:pPr lvl="0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Example:</a:t>
            </a:r>
          </a:p>
          <a:p>
            <a:pPr lvl="0"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let text = “Khalid Sulub”;</a:t>
            </a:r>
          </a:p>
          <a:p>
            <a:pPr lvl="0">
              <a:lnSpc>
                <a:spcPct val="150000"/>
              </a:lnSpc>
            </a:pPr>
            <a:r>
              <a:rPr lang="en-GB" sz="2267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text.startsWith</a:t>
            </a:r>
            <a:r>
              <a:rPr lang="en-GB" sz="2267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(“</a:t>
            </a:r>
            <a:r>
              <a:rPr lang="en-GB" sz="2267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sulub</a:t>
            </a:r>
            <a:r>
              <a:rPr lang="en-GB" sz="2267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"); // true</a:t>
            </a:r>
          </a:p>
        </p:txBody>
      </p:sp>
    </p:spTree>
    <p:extLst>
      <p:ext uri="{BB962C8B-B14F-4D97-AF65-F5344CB8AC3E}">
        <p14:creationId xmlns:p14="http://schemas.microsoft.com/office/powerpoint/2010/main" val="34373055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695</Words>
  <Application>Microsoft Office PowerPoint</Application>
  <PresentationFormat>Widescreen</PresentationFormat>
  <Paragraphs>97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</vt:lpstr>
      <vt:lpstr>Cairo</vt:lpstr>
      <vt:lpstr>Cairo Light</vt:lpstr>
      <vt:lpstr>Calibri</vt:lpstr>
      <vt:lpstr>Calibri Light</vt:lpstr>
      <vt:lpstr>Consolas</vt:lpstr>
      <vt:lpstr>DM Sans SemiBold</vt:lpstr>
      <vt:lpstr>Times New Roman</vt:lpstr>
      <vt:lpstr>Office Theme</vt:lpstr>
      <vt:lpstr>PowerPoint Presentation</vt:lpstr>
      <vt:lpstr>What we Cover Today:</vt:lpstr>
      <vt:lpstr>String Methods</vt:lpstr>
      <vt:lpstr>String Methods</vt:lpstr>
      <vt:lpstr>String Methods</vt:lpstr>
      <vt:lpstr>String Methods</vt:lpstr>
      <vt:lpstr>String Methods</vt:lpstr>
      <vt:lpstr>String Methods</vt:lpstr>
      <vt:lpstr>String Methods</vt:lpstr>
      <vt:lpstr>String Methods</vt:lpstr>
      <vt:lpstr>String Methods</vt:lpstr>
      <vt:lpstr>String Methods</vt:lpstr>
      <vt:lpstr>String Methods</vt:lpstr>
      <vt:lpstr>String Methods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Khalid Sulub</dc:creator>
  <cp:lastModifiedBy>Khalid Sulub</cp:lastModifiedBy>
  <cp:revision>1</cp:revision>
  <dcterms:created xsi:type="dcterms:W3CDTF">2025-12-15T16:22:07Z</dcterms:created>
  <dcterms:modified xsi:type="dcterms:W3CDTF">2025-12-15T16:24:30Z</dcterms:modified>
</cp:coreProperties>
</file>