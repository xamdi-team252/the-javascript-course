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854" r:id="rId2"/>
    <p:sldId id="470" r:id="rId3"/>
    <p:sldId id="872" r:id="rId4"/>
    <p:sldId id="416" r:id="rId5"/>
    <p:sldId id="411" r:id="rId6"/>
    <p:sldId id="412" r:id="rId7"/>
    <p:sldId id="413" r:id="rId8"/>
    <p:sldId id="414" r:id="rId9"/>
    <p:sldId id="415" r:id="rId10"/>
    <p:sldId id="410" r:id="rId11"/>
    <p:sldId id="417" r:id="rId12"/>
    <p:sldId id="418" r:id="rId13"/>
    <p:sldId id="4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3F04B-61A8-4100-826B-C72EB143143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E3B42-6C35-4D43-8E1C-C3F4DE60B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0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6560522-4E49-8E94-FAE2-0958660D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67B555D-3D55-BD74-03E1-CE6B7D022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B68FD30-C386-9FA6-B0BC-75B2E4DCF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547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84B7D75-B2B5-9A90-A32F-A3A63587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FD3880C8-5D5A-4A4B-90F1-9FFB64453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51670D3-2BC8-1405-D264-85121173C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943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C0DF105-1A98-327B-7BFB-7989ACA0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71E35CD-8F68-B2B2-EF17-C602FA1BF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70465E9-5739-D9AC-0B0C-5220DB3DB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379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25F6050-1BE8-0287-4F87-A4349CD5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E4E16FE7-D634-0D6C-ED62-F33A500F8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263190D1-5AF0-DB53-8956-A6243C9ED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374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FC1D22F-6DE1-2B56-544F-669DEB79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F914EF9-97E6-8B8C-18AC-7A9C70C3B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87F59C4B-4278-BCB8-CEAA-C2C86951F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456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7AD0FDF-F26E-1CD2-5F9D-F701700B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7CF7277-DC83-F94B-0C96-137BCEC72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BAE39129-6EB4-7765-736C-CD6DCD601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117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398B1FC-08D7-C5B1-B788-3AC190A1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35B843A-94E6-B223-03B7-70D0B57CD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EB4EA43-9D0F-8A53-1581-5F54FD2A6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343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559F5AB-E745-5D3A-6A92-E49C24D3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2CE7919B-7479-1052-6A4C-636176F70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F924CBE-8F29-5591-F974-3B5387583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439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C812DA7-D074-556D-A5E5-4F8941B1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318CB41-D7E1-7277-19EE-A3563712F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9797941-FC82-4845-7AA1-43499E00B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995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868CC19-54EE-A2FC-F996-8F1C0023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415F772-13B2-F9ED-9FC0-2CE7A2CAC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F4374218-8615-33DE-9E10-5CEEF89DF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23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C955CAE-E17C-FF0A-CFDA-74D04A44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58BB04B6-0465-9DAA-2D1C-D310488F0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21D5DA8-2153-3CF1-8183-C8DEA9537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0840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96D89EC-777B-7235-E03B-E0AAEADF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1801616-4C88-EF82-67C9-0B2039276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79ECFE7-CC7C-A86C-68FF-4A991A117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8814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4632-5D0E-F3DA-4F3B-ED9F96E5B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77854-559A-EA41-FA90-61CE9BF42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2CDDB-00A4-C63D-F2B5-AA95E5A1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6E00E-18A5-0D1F-3165-18943252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612BC-E2C2-7CB7-343C-A62DD4D5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81EF-852E-6443-DAB5-EC2985B5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C8B6-40C8-58DF-8626-7884387B5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555A-61E9-AFCD-6857-7FC68E5D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80522-BA05-30D1-46B5-A65CB906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5DA8-6C4F-4DF8-B828-F265263C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8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98D3-BD6D-927D-B531-33B870A8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23976-CC67-6C4B-6D69-85C3697F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1C16-8848-09E9-B8AC-D35DC97B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FE8A-B518-D00F-F912-4164A773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77246-1171-511E-BD8A-FD661882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A7AA-1BB9-5051-7DF3-FD99A73F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3CCBF-9FB5-B759-C287-B95230E8E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EEC7A-B803-DA1D-7215-29A25741F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56A10-C421-F606-75A9-425C89C6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CBEE1-3048-5C1E-EB8E-34228B1F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1FC12-B6E2-2FCF-9FC8-435D3566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3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2ACD-17AC-01AC-A615-23D052AB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6AC3-431A-41CC-F8F1-CCD2054A3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8F5C9-6D6A-3C1E-2C1A-180746CFA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A5A76-FC02-FDBE-3447-B6D117AE0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61252-67F1-6B02-7E41-50E94428B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D03A0-B68E-1EAD-8703-7609F229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D4D67-BC92-DC3C-945D-820008EA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8B2E9-D25A-F0EA-499F-278A9621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65E4-2564-E488-5DFC-120FF53F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BF586-DF79-169D-5359-D686BBCDF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771A9-4EBF-709B-3545-3F6DC73E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B5C11-33D8-6203-2B36-0E615FF6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6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C9336-A2CD-31A0-B59C-C197119F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8A3B7-DD43-65E4-138E-5944AE0B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88457-0DB3-6618-19E1-5CEE8F00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97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DF6E-DD98-DD5F-C85B-AEE0060B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60E28-E937-5F5D-2654-8223B2B06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2AE71-85E1-EB26-2836-29BAF5CB6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60E80-EA81-8D4C-2785-7A2866C7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B17F2-080D-8414-2579-8AD769AA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E5AEE-5B5F-D1AB-5547-12F91B17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3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0960-3483-1F66-C624-3A43F53F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1DD64-ECF7-1C6B-28CB-4A3AA0F69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B555B-52B3-18F3-3FC3-BD3943E5A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35A01-971D-EDC4-0F4B-8CBC79ED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C9854-CF66-CE45-6C45-640FF926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746DB-94D0-DC40-9A61-8DE7CF88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7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3B92-0285-F890-FA4C-298E0F6A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12C47-66A7-F204-B845-15F30BCDB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C6B84-A7A3-52E2-F83F-BBDBC2A2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2F2A8-ECB5-4C5F-5D65-5E5C8A31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7F303-F5C9-2EE7-B491-C14B4AFC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6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23CD8-712F-DF1C-65DA-2937788E3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1CE17-CFDA-8283-8669-9A2DB781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EDCC-6409-C740-BBF5-671E9791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16438-199E-1CCE-890F-58E7275F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CDC72-3CA7-2E58-7B4E-8193CE9B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45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6942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3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E53A49-F084-6688-B379-69F41280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E4B9D-B493-1D00-FD0F-60ACE017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EDE69-26AB-C56E-10F8-1B2CBB38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A9630-13C6-4CA0-AFBC-9E872EAD91D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0002B-15CF-63E0-88FC-E3B4F2949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681FB-B743-CA80-E9CD-2914AECA8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74E89-D745-4A48-8FED-25F4A748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7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D51D92B-EE54-1398-BA5B-50DBDD00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3B21303-3E87-64C7-4C97-41FB38746F1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4BD5567-6892-A239-D1C0-4D8E5E8A3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4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8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Loop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For Loop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While Loop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Do while Loop</a:t>
            </a:r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Exercise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0DD5356A-98E3-BCF5-E8C5-4C8DBED6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A36A360-CF68-9DE3-163D-79093EB19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5635832-C34B-4E0E-111D-1340EA011C7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2EE376E-DEB6-D8AA-9A1B-2261F5733C6A}"/>
              </a:ext>
            </a:extLst>
          </p:cNvPr>
          <p:cNvSpPr txBox="1"/>
          <p:nvPr/>
        </p:nvSpPr>
        <p:spPr>
          <a:xfrm>
            <a:off x="960001" y="1101132"/>
            <a:ext cx="1102517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is a control structure that allows you to repeat a block of code multiple times based on a certain condition or a set of conditions.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main types of loops in JavaScript: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</a:t>
            </a:r>
          </a:p>
        </p:txBody>
      </p:sp>
    </p:spTree>
    <p:extLst>
      <p:ext uri="{BB962C8B-B14F-4D97-AF65-F5344CB8AC3E}">
        <p14:creationId xmlns:p14="http://schemas.microsoft.com/office/powerpoint/2010/main" val="139124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25B3DA6-6EE1-F652-42BD-3E5EA774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38CBF68-F874-1839-1990-EDF3AEDADA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CA0E8DE-B4B6-D616-D37C-C8D72CAB50D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EEAF5A-E478-E07A-17CE-7391582AA37B}"/>
              </a:ext>
            </a:extLst>
          </p:cNvPr>
          <p:cNvSpPr txBox="1"/>
          <p:nvPr/>
        </p:nvSpPr>
        <p:spPr>
          <a:xfrm>
            <a:off x="960001" y="1101132"/>
            <a:ext cx="11025172" cy="493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is used when the number of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iterations is known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beforehand. It repeats a block of code a fixed number of times.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is the must commonly used loop, it is used when we want to perform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(increment | decrement)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For (initialization; condition; updating)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block of code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Callout: Line with Accent Bar 1">
            <a:extLst>
              <a:ext uri="{FF2B5EF4-FFF2-40B4-BE49-F238E27FC236}">
                <a16:creationId xmlns:a16="http://schemas.microsoft.com/office/drawing/2014/main" id="{D6962899-BDDF-7F94-ADAB-D65122E1743B}"/>
              </a:ext>
            </a:extLst>
          </p:cNvPr>
          <p:cNvSpPr/>
          <p:nvPr/>
        </p:nvSpPr>
        <p:spPr>
          <a:xfrm>
            <a:off x="7218270" y="894081"/>
            <a:ext cx="4438637" cy="207052"/>
          </a:xfrm>
          <a:prstGeom prst="accentCallout1">
            <a:avLst>
              <a:gd name="adj1" fmla="val 16654"/>
              <a:gd name="adj2" fmla="val -1563"/>
              <a:gd name="adj3" fmla="val 451845"/>
              <a:gd name="adj4" fmla="val -24263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1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means how many times the loop repeats the code inside it.</a:t>
            </a:r>
          </a:p>
        </p:txBody>
      </p:sp>
    </p:spTree>
    <p:extLst>
      <p:ext uri="{BB962C8B-B14F-4D97-AF65-F5344CB8AC3E}">
        <p14:creationId xmlns:p14="http://schemas.microsoft.com/office/powerpoint/2010/main" val="117581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DF460E2-6123-BCE8-E42C-91E8AD10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CBB760A-52BD-F805-A045-0169E420A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C0639D0-78F2-FD76-91EF-5CD4939022C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937346D-7187-32AC-08BE-A67F277D2E40}"/>
              </a:ext>
            </a:extLst>
          </p:cNvPr>
          <p:cNvSpPr txBox="1"/>
          <p:nvPr/>
        </p:nvSpPr>
        <p:spPr>
          <a:xfrm>
            <a:off x="960001" y="1101133"/>
            <a:ext cx="5779467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step initializes a loop control variable. It is executed only once at the beginning of the loop.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loop runs as long as the condition evaluates to true.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step updates the loop control variable after each iteration</a:t>
            </a:r>
          </a:p>
        </p:txBody>
      </p:sp>
      <p:pic>
        <p:nvPicPr>
          <p:cNvPr id="1026" name="Picture 2" descr="For Loop Flowchart">
            <a:extLst>
              <a:ext uri="{FF2B5EF4-FFF2-40B4-BE49-F238E27FC236}">
                <a16:creationId xmlns:a16="http://schemas.microsoft.com/office/drawing/2014/main" id="{E7C4F185-37B7-FD6D-D265-B762378C3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299" y="1593498"/>
            <a:ext cx="6091676" cy="399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96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5EF22C2-C6BD-37CD-F02B-FC4A0C01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AE9A8CEE-ADE0-2D21-36E4-4B49522F3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A93EB57-79BD-DB76-BB71-3D7C4C18916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9499230-D574-EDE9-C3B3-D4E3ADA87067}"/>
              </a:ext>
            </a:extLst>
          </p:cNvPr>
          <p:cNvSpPr txBox="1"/>
          <p:nvPr/>
        </p:nvSpPr>
        <p:spPr>
          <a:xfrm>
            <a:off x="960001" y="1101133"/>
            <a:ext cx="10271999" cy="533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for (let </a:t>
            </a:r>
            <a:r>
              <a:rPr lang="en-GB" sz="2267" dirty="0" err="1">
                <a:latin typeface="Consolas" panose="020B0609020204030204" pitchFamily="49" charset="0"/>
              </a:rPr>
              <a:t>i</a:t>
            </a:r>
            <a:r>
              <a:rPr lang="en-GB" sz="2267" dirty="0">
                <a:latin typeface="Consolas" panose="020B0609020204030204" pitchFamily="49" charset="0"/>
              </a:rPr>
              <a:t> = 0; </a:t>
            </a:r>
            <a:r>
              <a:rPr lang="en-GB" sz="2267" dirty="0" err="1">
                <a:latin typeface="Consolas" panose="020B0609020204030204" pitchFamily="49" charset="0"/>
              </a:rPr>
              <a:t>i</a:t>
            </a:r>
            <a:r>
              <a:rPr lang="en-GB" sz="2267" dirty="0">
                <a:latin typeface="Consolas" panose="020B0609020204030204" pitchFamily="49" charset="0"/>
              </a:rPr>
              <a:t> &lt; 5; </a:t>
            </a:r>
            <a:r>
              <a:rPr lang="en-GB" sz="2267" dirty="0" err="1">
                <a:latin typeface="Consolas" panose="020B0609020204030204" pitchFamily="49" charset="0"/>
              </a:rPr>
              <a:t>i</a:t>
            </a:r>
            <a:r>
              <a:rPr lang="en-GB" sz="2267" dirty="0">
                <a:latin typeface="Consolas" panose="020B0609020204030204" pitchFamily="49" charset="0"/>
              </a:rPr>
              <a:t>++) {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  console.log(`The Number is ${</a:t>
            </a:r>
            <a:r>
              <a:rPr lang="en-GB" sz="2267" dirty="0" err="1">
                <a:latin typeface="Consolas" panose="020B0609020204030204" pitchFamily="49" charset="0"/>
              </a:rPr>
              <a:t>i</a:t>
            </a:r>
            <a:r>
              <a:rPr lang="en-GB" sz="2267" dirty="0">
                <a:latin typeface="Consolas" panose="020B0609020204030204" pitchFamily="49" charset="0"/>
              </a:rPr>
              <a:t>}`);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} 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The Number is 0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The Number is 1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The Number is 2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The Number is 3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The Number is 4</a:t>
            </a:r>
          </a:p>
        </p:txBody>
      </p:sp>
    </p:spTree>
    <p:extLst>
      <p:ext uri="{BB962C8B-B14F-4D97-AF65-F5344CB8AC3E}">
        <p14:creationId xmlns:p14="http://schemas.microsoft.com/office/powerpoint/2010/main" val="387785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61302A8-7421-54C1-76C3-10ED26B8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41F9B5A-18B3-7AFC-1192-A545E2B94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CF6AB1C-BB72-D92F-4BEA-79E12B85136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B3FC9D-13AD-ADFD-98BE-2F5B6BBE22C3}"/>
              </a:ext>
            </a:extLst>
          </p:cNvPr>
          <p:cNvSpPr txBox="1"/>
          <p:nvPr/>
        </p:nvSpPr>
        <p:spPr>
          <a:xfrm>
            <a:off x="960001" y="1101133"/>
            <a:ext cx="10271999" cy="431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Loop On Sequences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Let Boys = [“Ahmed”, “Ali”, “Anas”, “</a:t>
            </a:r>
            <a:r>
              <a:rPr lang="en-GB" sz="2400" dirty="0" err="1">
                <a:latin typeface="Consolas" panose="020B0609020204030204" pitchFamily="49" charset="0"/>
              </a:rPr>
              <a:t>Ciise</a:t>
            </a:r>
            <a:r>
              <a:rPr lang="en-GB" sz="2400" dirty="0">
                <a:latin typeface="Consolas" panose="020B0609020204030204" pitchFamily="49" charset="0"/>
              </a:rPr>
              <a:t>”, “Muuse”]; 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console.log(Boys[0]);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console.log(Boys[1]);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console.log(Boys[2]);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console.log(Boys[3]);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console.log(Boys[4]);</a:t>
            </a:r>
            <a:endParaRPr lang="en-GB" sz="2267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334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0A263D2-7B4F-A69F-8D62-F8AAFB89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43685C7-8AE8-B8C6-D3D9-8A2D840C97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5DB1886-CD07-2158-5E40-CD967C8428B7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92032C-5E2E-4714-C1FF-395B3F29C4ED}"/>
              </a:ext>
            </a:extLst>
          </p:cNvPr>
          <p:cNvSpPr txBox="1"/>
          <p:nvPr/>
        </p:nvSpPr>
        <p:spPr>
          <a:xfrm>
            <a:off x="960001" y="1101132"/>
            <a:ext cx="10271999" cy="335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Loop On Sequences (Solution)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Let Boys = [“Ahmed”, “Ali”, “Anas”, “</a:t>
            </a:r>
            <a:r>
              <a:rPr lang="en-GB" sz="2400" dirty="0" err="1">
                <a:latin typeface="Consolas" panose="020B0609020204030204" pitchFamily="49" charset="0"/>
              </a:rPr>
              <a:t>Ciise</a:t>
            </a:r>
            <a:r>
              <a:rPr lang="en-GB" sz="2400" dirty="0">
                <a:latin typeface="Consolas" panose="020B0609020204030204" pitchFamily="49" charset="0"/>
              </a:rPr>
              <a:t>”, “Muuse”];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for (let </a:t>
            </a:r>
            <a:r>
              <a:rPr lang="en-GB" sz="2400" dirty="0" err="1">
                <a:latin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</a:rPr>
              <a:t> = 0; </a:t>
            </a:r>
            <a:r>
              <a:rPr lang="en-GB" sz="2400" dirty="0" err="1">
                <a:latin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</a:rPr>
              <a:t> &lt; </a:t>
            </a:r>
            <a:r>
              <a:rPr lang="en-GB" sz="2400" dirty="0" err="1">
                <a:latin typeface="Consolas" panose="020B0609020204030204" pitchFamily="49" charset="0"/>
              </a:rPr>
              <a:t>Boys.length</a:t>
            </a:r>
            <a:r>
              <a:rPr lang="en-GB" sz="2400" dirty="0">
                <a:latin typeface="Consolas" panose="020B0609020204030204" pitchFamily="49" charset="0"/>
              </a:rPr>
              <a:t>; </a:t>
            </a:r>
            <a:r>
              <a:rPr lang="en-GB" sz="2400" dirty="0" err="1">
                <a:latin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</a:rPr>
              <a:t>++) {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  console.log(Boys[</a:t>
            </a:r>
            <a:r>
              <a:rPr lang="en-GB" sz="2400" dirty="0" err="1">
                <a:latin typeface="Consolas" panose="020B0609020204030204" pitchFamily="49" charset="0"/>
              </a:rPr>
              <a:t>i</a:t>
            </a:r>
            <a:r>
              <a:rPr lang="en-GB" sz="2400" dirty="0">
                <a:latin typeface="Consolas" panose="020B0609020204030204" pitchFamily="49" charset="0"/>
              </a:rPr>
              <a:t>]);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}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4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B10FB07-FB13-0DBA-6767-AADC80DA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7174CB4-A38A-A981-3132-F2B15071C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D423216-9B86-326C-9CFE-067692F7507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9DA489-D96C-E2A3-B488-D10D7CD4BB1D}"/>
              </a:ext>
            </a:extLst>
          </p:cNvPr>
          <p:cNvSpPr txBox="1"/>
          <p:nvPr/>
        </p:nvSpPr>
        <p:spPr>
          <a:xfrm>
            <a:off x="960000" y="1101132"/>
            <a:ext cx="10486933" cy="585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Filter Strings in Array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 </a:t>
            </a:r>
            <a:r>
              <a:rPr lang="en-US" sz="2267" dirty="0" err="1">
                <a:latin typeface="Consolas" panose="020B0609020204030204" pitchFamily="49" charset="0"/>
              </a:rPr>
              <a:t>arr</a:t>
            </a:r>
            <a:r>
              <a:rPr lang="en-US" sz="2267" dirty="0">
                <a:latin typeface="Consolas" panose="020B0609020204030204" pitchFamily="49" charset="0"/>
              </a:rPr>
              <a:t> = [1, 2, "Ahmed", "Ali", 5, "Anas", "</a:t>
            </a:r>
            <a:r>
              <a:rPr lang="en-US" sz="2267" dirty="0" err="1">
                <a:latin typeface="Consolas" panose="020B0609020204030204" pitchFamily="49" charset="0"/>
              </a:rPr>
              <a:t>Ciise</a:t>
            </a:r>
            <a:r>
              <a:rPr lang="en-US" sz="2267" dirty="0">
                <a:latin typeface="Consolas" panose="020B0609020204030204" pitchFamily="49" charset="0"/>
              </a:rPr>
              <a:t>"];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 </a:t>
            </a:r>
            <a:r>
              <a:rPr lang="en-US" sz="2267" dirty="0" err="1">
                <a:latin typeface="Consolas" panose="020B0609020204030204" pitchFamily="49" charset="0"/>
              </a:rPr>
              <a:t>onlyNames</a:t>
            </a:r>
            <a:r>
              <a:rPr lang="en-US" sz="2267" dirty="0">
                <a:latin typeface="Consolas" panose="020B0609020204030204" pitchFamily="49" charset="0"/>
              </a:rPr>
              <a:t> = []; 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for (let </a:t>
            </a:r>
            <a:r>
              <a:rPr lang="en-US" sz="2267" dirty="0" err="1">
                <a:latin typeface="Consolas" panose="020B0609020204030204" pitchFamily="49" charset="0"/>
              </a:rPr>
              <a:t>i</a:t>
            </a:r>
            <a:r>
              <a:rPr lang="en-US" sz="2267" dirty="0">
                <a:latin typeface="Consolas" panose="020B0609020204030204" pitchFamily="49" charset="0"/>
              </a:rPr>
              <a:t> = 0; </a:t>
            </a:r>
            <a:r>
              <a:rPr lang="en-US" sz="2267" dirty="0" err="1">
                <a:latin typeface="Consolas" panose="020B0609020204030204" pitchFamily="49" charset="0"/>
              </a:rPr>
              <a:t>i</a:t>
            </a:r>
            <a:r>
              <a:rPr lang="en-US" sz="2267" dirty="0">
                <a:latin typeface="Consolas" panose="020B0609020204030204" pitchFamily="49" charset="0"/>
              </a:rPr>
              <a:t> &lt; </a:t>
            </a:r>
            <a:r>
              <a:rPr lang="en-US" sz="2267" dirty="0" err="1">
                <a:latin typeface="Consolas" panose="020B0609020204030204" pitchFamily="49" charset="0"/>
              </a:rPr>
              <a:t>arr.length</a:t>
            </a:r>
            <a:r>
              <a:rPr lang="en-US" sz="2267" dirty="0">
                <a:latin typeface="Consolas" panose="020B0609020204030204" pitchFamily="49" charset="0"/>
              </a:rPr>
              <a:t>; </a:t>
            </a:r>
            <a:r>
              <a:rPr lang="en-US" sz="2267" dirty="0" err="1">
                <a:latin typeface="Consolas" panose="020B0609020204030204" pitchFamily="49" charset="0"/>
              </a:rPr>
              <a:t>i</a:t>
            </a:r>
            <a:r>
              <a:rPr lang="en-US" sz="2267" dirty="0">
                <a:latin typeface="Consolas" panose="020B0609020204030204" pitchFamily="49" charset="0"/>
              </a:rPr>
              <a:t>++) {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   if (</a:t>
            </a:r>
            <a:r>
              <a:rPr lang="en-US" sz="2267" dirty="0" err="1">
                <a:latin typeface="Consolas" panose="020B0609020204030204" pitchFamily="49" charset="0"/>
              </a:rPr>
              <a:t>typeof</a:t>
            </a:r>
            <a:r>
              <a:rPr lang="en-US" sz="2267" dirty="0">
                <a:latin typeface="Consolas" panose="020B0609020204030204" pitchFamily="49" charset="0"/>
              </a:rPr>
              <a:t> </a:t>
            </a:r>
            <a:r>
              <a:rPr lang="en-US" sz="2267" dirty="0" err="1">
                <a:latin typeface="Consolas" panose="020B0609020204030204" pitchFamily="49" charset="0"/>
              </a:rPr>
              <a:t>arr</a:t>
            </a:r>
            <a:r>
              <a:rPr lang="en-US" sz="2267" dirty="0">
                <a:latin typeface="Consolas" panose="020B0609020204030204" pitchFamily="49" charset="0"/>
              </a:rPr>
              <a:t>[</a:t>
            </a:r>
            <a:r>
              <a:rPr lang="en-US" sz="2267" dirty="0" err="1">
                <a:latin typeface="Consolas" panose="020B0609020204030204" pitchFamily="49" charset="0"/>
              </a:rPr>
              <a:t>i</a:t>
            </a:r>
            <a:r>
              <a:rPr lang="en-US" sz="2267" dirty="0">
                <a:latin typeface="Consolas" panose="020B0609020204030204" pitchFamily="49" charset="0"/>
              </a:rPr>
              <a:t>] === "string") {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      </a:t>
            </a:r>
            <a:r>
              <a:rPr lang="en-US" sz="2267" dirty="0" err="1">
                <a:latin typeface="Consolas" panose="020B0609020204030204" pitchFamily="49" charset="0"/>
              </a:rPr>
              <a:t>onlyNames.push</a:t>
            </a:r>
            <a:r>
              <a:rPr lang="en-US" sz="2267" dirty="0">
                <a:latin typeface="Consolas" panose="020B0609020204030204" pitchFamily="49" charset="0"/>
              </a:rPr>
              <a:t>(</a:t>
            </a:r>
            <a:r>
              <a:rPr lang="en-US" sz="2267" dirty="0" err="1">
                <a:latin typeface="Consolas" panose="020B0609020204030204" pitchFamily="49" charset="0"/>
              </a:rPr>
              <a:t>arr</a:t>
            </a:r>
            <a:r>
              <a:rPr lang="en-US" sz="2267" dirty="0">
                <a:latin typeface="Consolas" panose="020B0609020204030204" pitchFamily="49" charset="0"/>
              </a:rPr>
              <a:t>[</a:t>
            </a:r>
            <a:r>
              <a:rPr lang="en-US" sz="2267" dirty="0" err="1">
                <a:latin typeface="Consolas" panose="020B0609020204030204" pitchFamily="49" charset="0"/>
              </a:rPr>
              <a:t>i</a:t>
            </a:r>
            <a:r>
              <a:rPr lang="en-US" sz="2267" dirty="0">
                <a:latin typeface="Consolas" panose="020B0609020204030204" pitchFamily="49" charset="0"/>
              </a:rPr>
              <a:t>]);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   }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}</a:t>
            </a:r>
          </a:p>
          <a:p>
            <a:pPr lvl="2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console.log(</a:t>
            </a:r>
            <a:r>
              <a:rPr lang="en-US" sz="2267" dirty="0" err="1">
                <a:latin typeface="Consolas" panose="020B0609020204030204" pitchFamily="49" charset="0"/>
              </a:rPr>
              <a:t>onlyNames</a:t>
            </a:r>
            <a:r>
              <a:rPr lang="en-US" sz="2267" dirty="0">
                <a:latin typeface="Consolas" panose="020B0609020204030204" pitchFamily="49" charset="0"/>
              </a:rPr>
              <a:t>); // ["Ahmed", "Ali“, "Anas", "</a:t>
            </a:r>
            <a:r>
              <a:rPr lang="en-US" sz="2267" dirty="0" err="1">
                <a:latin typeface="Consolas" panose="020B0609020204030204" pitchFamily="49" charset="0"/>
              </a:rPr>
              <a:t>Ciise</a:t>
            </a:r>
            <a:r>
              <a:rPr lang="en-US" sz="2267" dirty="0">
                <a:latin typeface="Consolas" panose="020B0609020204030204" pitchFamily="49" charset="0"/>
              </a:rPr>
              <a:t>"];</a:t>
            </a:r>
          </a:p>
        </p:txBody>
      </p:sp>
    </p:spTree>
    <p:extLst>
      <p:ext uri="{BB962C8B-B14F-4D97-AF65-F5344CB8AC3E}">
        <p14:creationId xmlns:p14="http://schemas.microsoft.com/office/powerpoint/2010/main" val="209909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A0F03B0-4BAD-CA8F-6D29-F3F55663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8189525-EB61-2A93-A945-ABC009B59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D61ED18-2612-387D-99B8-5B69BB3BF8A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490B86-70AB-6155-951F-67B102456C15}"/>
              </a:ext>
            </a:extLst>
          </p:cNvPr>
          <p:cNvSpPr txBox="1"/>
          <p:nvPr/>
        </p:nvSpPr>
        <p:spPr>
          <a:xfrm>
            <a:off x="960001" y="1101132"/>
            <a:ext cx="11025172" cy="3822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 is a pre-test loop, it is used 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don't know how many times the loop will run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 depends on a condition being true.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while (condition)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block of code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859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EB625D5-2B3B-3FFF-CE98-8D2D4A2B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E8B395EB-E838-F127-BEDC-4167CC2E9E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33A2030-B508-D9BA-9528-6D0DF0F78BF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2CCBBE-4D2D-C5CB-3E16-D17910DE15CA}"/>
              </a:ext>
            </a:extLst>
          </p:cNvPr>
          <p:cNvSpPr txBox="1"/>
          <p:nvPr/>
        </p:nvSpPr>
        <p:spPr>
          <a:xfrm>
            <a:off x="960001" y="1101132"/>
            <a:ext cx="11025172" cy="485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while 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&lt; 10)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++;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you forget to increase the variable used in the condition, the loop will never end. This will crash your browser.</a:t>
            </a:r>
          </a:p>
        </p:txBody>
      </p:sp>
      <p:pic>
        <p:nvPicPr>
          <p:cNvPr id="2" name="Picture 4" descr="While Loop in Java (with Example) - Scientech Easy">
            <a:extLst>
              <a:ext uri="{FF2B5EF4-FFF2-40B4-BE49-F238E27FC236}">
                <a16:creationId xmlns:a16="http://schemas.microsoft.com/office/drawing/2014/main" id="{B7A0C9E0-249B-9004-A3F1-00ADFB113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2" t="3154" r="56219" b="3914"/>
          <a:stretch/>
        </p:blipFill>
        <p:spPr bwMode="auto">
          <a:xfrm>
            <a:off x="7586133" y="427843"/>
            <a:ext cx="2868595" cy="430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45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25C62C1-9E75-F9FD-9ECC-7B380362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D6EF354-104C-2C1B-D20D-983D2ECC3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633212A5-76CD-6F0C-4EED-F38F2E0618F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5FA8F4-3A8B-8DE8-BB0B-B1BA314C6FE8}"/>
              </a:ext>
            </a:extLst>
          </p:cNvPr>
          <p:cNvSpPr txBox="1"/>
          <p:nvPr/>
        </p:nvSpPr>
        <p:spPr>
          <a:xfrm>
            <a:off x="960001" y="1101132"/>
            <a:ext cx="11025172" cy="493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 is a way to repeat some code in Java. The code will always run at least once, no matter what. After the code runs, it checks if a condition is true. If the condition is true, the code runs again. If the condition is false, the loop stops. It is also known as exit control loop.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do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block of code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 while(condition);</a:t>
            </a:r>
          </a:p>
        </p:txBody>
      </p:sp>
      <p:pic>
        <p:nvPicPr>
          <p:cNvPr id="2" name="Picture 4" descr="Java do while loop | DigitalOcean">
            <a:extLst>
              <a:ext uri="{FF2B5EF4-FFF2-40B4-BE49-F238E27FC236}">
                <a16:creationId xmlns:a16="http://schemas.microsoft.com/office/drawing/2014/main" id="{69BA1319-27C3-8859-39B0-DE6CC83B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152" y="3581470"/>
            <a:ext cx="4267121" cy="288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201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7D29E01-4721-8701-E83A-C4DCDDAF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854CAC2-3BE6-8D9A-7011-47FC1A94D9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F7863EDC-152F-213D-F51F-6076CC8437E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A03B47-2CAE-ACFF-7CF6-42625144C34F}"/>
              </a:ext>
            </a:extLst>
          </p:cNvPr>
          <p:cNvSpPr txBox="1"/>
          <p:nvPr/>
        </p:nvSpPr>
        <p:spPr>
          <a:xfrm>
            <a:off x="960001" y="1101132"/>
            <a:ext cx="11025172" cy="376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3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let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 0; </a:t>
            </a:r>
            <a:endParaRPr lang="en-GB" sz="2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do {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console.log(``The number is ${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}`);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++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 while(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&lt; 10);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F1195-E0C8-A704-5422-1B99FABDC465}"/>
              </a:ext>
            </a:extLst>
          </p:cNvPr>
          <p:cNvSpPr txBox="1"/>
          <p:nvPr/>
        </p:nvSpPr>
        <p:spPr>
          <a:xfrm>
            <a:off x="7567607" y="719333"/>
            <a:ext cx="3292304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0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1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2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3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4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5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6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7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8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 9</a:t>
            </a:r>
          </a:p>
        </p:txBody>
      </p:sp>
    </p:spTree>
    <p:extLst>
      <p:ext uri="{BB962C8B-B14F-4D97-AF65-F5344CB8AC3E}">
        <p14:creationId xmlns:p14="http://schemas.microsoft.com/office/powerpoint/2010/main" val="188402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733</Words>
  <Application>Microsoft Office PowerPoint</Application>
  <PresentationFormat>Widescreen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Wingdings</vt:lpstr>
      <vt:lpstr>Office Theme</vt:lpstr>
      <vt:lpstr>PowerPoint Presentation</vt:lpstr>
      <vt:lpstr>What we Cover Today:</vt:lpstr>
      <vt:lpstr>Loop</vt:lpstr>
      <vt:lpstr>Loop</vt:lpstr>
      <vt:lpstr>Loop</vt:lpstr>
      <vt:lpstr>Loop</vt:lpstr>
      <vt:lpstr>Loop</vt:lpstr>
      <vt:lpstr>Loop</vt:lpstr>
      <vt:lpstr>Loop</vt:lpstr>
      <vt:lpstr>Loop</vt:lpstr>
      <vt:lpstr>Loop</vt:lpstr>
      <vt:lpstr>Loop</vt:lpstr>
      <vt:lpstr>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2025-12-15T16:35:35Z</dcterms:created>
  <dcterms:modified xsi:type="dcterms:W3CDTF">2025-12-15T16:37:30Z</dcterms:modified>
</cp:coreProperties>
</file>