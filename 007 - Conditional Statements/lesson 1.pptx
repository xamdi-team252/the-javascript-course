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852" r:id="rId2"/>
    <p:sldId id="470" r:id="rId3"/>
    <p:sldId id="856" r:id="rId4"/>
    <p:sldId id="857" r:id="rId5"/>
    <p:sldId id="372" r:id="rId6"/>
    <p:sldId id="373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13E6-02C5-4BC8-A82B-BDF0A471EEE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40A23-E605-485B-A9A7-10EB4C3E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55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C28ED3C-75DD-28E7-124B-3721B100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752DAAE1-A6D5-DBCC-6A01-20537D9C8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E8F39BD-66BC-F49A-F7AC-5C71A8E70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5633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3131B39-F059-EDAE-2BF4-AE5230F2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67F8C26-6C5D-67DC-A1AD-ABF789FE4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62E225A-6F28-16D2-5D6C-8768FB1F2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489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A81ACD4-059A-6730-67D2-4B66B9E6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9B3FCE6-2C9A-EF08-EE28-DB1DF767F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8B4A602-2644-75A9-0FF2-2DAAA21F0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804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C0B17CF-17F5-A538-A3F5-A6D49313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C31CEC9-53F1-29E0-BF7A-A25EE9B67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90627F2-92C6-975E-B971-6865492BA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738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6B21D75-67E3-40E2-56D8-62B285A8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2CC71B7-18D7-00B4-7C65-D5A3BC2E7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C9CF2DB-D52D-49F2-B7F0-D3BCBAAC5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139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95B0518-E6F0-F020-AC37-3D7A4B0F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7276AAD2-9D58-79B7-8F3B-89B0FDBA8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594D654-D554-83D0-7641-7BB42959C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288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BD5A9BC-BD5D-6804-0448-2F8B7A2B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D40AC2FF-0B98-1AB0-D479-0E5A4D095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B9353486-E0D8-B9F4-A961-3912454A7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986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1EBAA8C-EBF4-62B7-BE1D-B13BA690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251F2B4-0F9D-0048-D200-F302847065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DD41E8B-B887-5228-A7CE-2A85B8FB7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9705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14E463E-7D8C-DDA3-C02F-D572CE4A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CCF6A97-C51B-8B00-A674-62438B499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422B7412-FC7B-13E3-85CA-3743F2271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002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C253C92-6CEC-A944-C7CC-7D41F778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06B393C-9E44-AAC7-61A5-5568650C4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D832AFA1-B98E-056D-C212-C040BA05E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926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01F1E19-3549-962D-CB0B-3114F143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9CA393A-7C41-6B64-80A3-8A762A4AA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2BBDC5F-CB41-0012-0B9A-0B3918E6A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456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CC64357-70CF-5608-533E-B63DC9FC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74F7716C-1F5F-DEE1-96D3-735291B43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B158C3C9-1EB8-C90A-48EF-82D7D7A58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461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06DF-09BC-A20A-81E7-0733B62F1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1EA38-16DB-810C-F779-4443FC891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9F7E2-8A7A-3A4A-E2ED-3992B773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F2F9A-AA60-B370-F5A3-AEC60CF1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299A-5945-C364-599B-A912949A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2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0B00-F692-2711-F964-EDA35C1C6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D50D2-EE13-D69D-B320-9654F6F74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AA743-BAB3-FB1E-E43C-E4FE6D83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CF31F-393B-6DC7-B4D6-EFA191DB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5FA64-841C-FCD3-882A-F426601B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2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A3C0-16C7-0D62-7BAC-AF930F783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DC72E-1346-305D-CBFC-E07CF63E2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41962-6B3E-AABB-53B9-92ECF24C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25080-6AC6-19A4-3429-E901052C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E983E-009B-F5B2-81C0-2296B247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AF48-D9B6-B890-1FA5-51330CF4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81AB-9EE1-FA4D-7789-2E9BF7A4F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8F58E-6717-785B-1E8F-EF78AE579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58502-48AD-D0D7-D216-F38CBA65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4FABD-53BA-DEA4-4EA2-09D15E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5A7D0-B708-0797-3021-E52DEA2C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9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BED8-9537-9518-5C53-A9A652EA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4B38A-E6D8-63D4-3B9D-4B44CDB8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A962C-2D57-AA30-34E3-2893FF462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93416-0AB1-B794-0C26-52C7F48F5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203DD5-8536-5BD0-988E-806999AF3D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2D49D-3D8C-C147-2416-E338C0AF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F3E9C-03FF-1F7E-996B-516FDF82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25E62-1B6F-A7FD-C0BB-2DA3EC07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0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2A1D-8D7E-BCA3-D8B8-27CB2C54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C5730-650A-B5CB-10DE-0FC9369B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5090A-1EA0-44F6-B97D-5582D6DE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B4B90-7E1F-9F2B-7919-A7F64698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0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D8DAD-9E9D-DEE0-C85B-C5C317AE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2E156-7642-52B3-D843-85B0C71E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2D947-311F-263C-1F54-72C3FB9D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0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8EB2-73D1-AAAB-0882-83ADBC54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7C196-CBB7-C1B3-6F6A-088055FF1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81372-BD79-ED73-9E31-14BF89778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3D0A7-F444-A89C-1E79-E1235A8C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AD8E9-08D8-3D8D-3A58-E3A0424D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B9B9C-52E1-9C4B-1896-9BC556E6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7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58C5-729D-B432-F921-425076EF8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C7F67-D299-2E7E-13BA-1DA44DE7F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7F4AE-C8E2-B702-EF73-287E8F763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C0F06-0D6C-695D-81C6-9A024F0E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803-692F-BF9C-C2B9-E6BAF9D2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3D402-D5D2-6AB6-A449-AAA93994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6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7A18-2432-8CEB-8E8D-00C6296E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09542-F5DC-4AA3-920C-16F165B0C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2A095-2A12-DE16-BDEA-FB2CF019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F3E0B-7F70-ED89-2D17-BBF28997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519D4-DEA6-7AD6-895E-741B55E1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2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D2C9B-66F9-D4F4-B2E6-6732081A4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00ED7-B213-FEB1-8953-6D7A66995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3F681-CCAC-33BE-FB3B-364C218B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3DFF0-9250-E754-C097-0468C526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3A9CB-0ADA-ED7D-7855-C2885650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7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4631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4430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7AAFB-7EFB-6818-F53D-D6CAD1C9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623D0-2909-AB80-D8C9-69B7B4B31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121D4-7D2E-036F-1DE3-D443A9689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F2D94-EEF4-4AFD-AFEC-48933513A14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4D557-A61A-9D9A-CCD8-751203E6C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099FC-C902-E955-4805-3E2CB5701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30E88-7523-4711-9E57-33B274C4D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8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JavaScript Conditional Statement and Loops">
            <a:extLst>
              <a:ext uri="{FF2B5EF4-FFF2-40B4-BE49-F238E27FC236}">
                <a16:creationId xmlns:a16="http://schemas.microsoft.com/office/drawing/2014/main" id="{BD8B2D2A-AC6C-0E74-CEC2-AFECD89E4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95E203-024B-94C6-4D59-377F52D15999}"/>
              </a:ext>
            </a:extLst>
          </p:cNvPr>
          <p:cNvSpPr/>
          <p:nvPr/>
        </p:nvSpPr>
        <p:spPr>
          <a:xfrm>
            <a:off x="5116286" y="1774372"/>
            <a:ext cx="2950029" cy="707571"/>
          </a:xfrm>
          <a:prstGeom prst="rect">
            <a:avLst/>
          </a:prstGeom>
          <a:solidFill>
            <a:srgbClr val="F0DE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1426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dirty="0"/>
              <a:t>Truthy and Falsy values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" sz="2400" dirty="0"/>
              <a:t>Comparison Operators</a:t>
            </a:r>
            <a:endParaRPr lang="en-GB" sz="2400" dirty="0"/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" sz="2400" dirty="0"/>
              <a:t>Logical Operators</a:t>
            </a:r>
            <a:endParaRPr lang="en-GB" sz="2400" dirty="0"/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US" sz="2400" dirty="0"/>
              <a:t>I</a:t>
            </a:r>
            <a:r>
              <a:rPr lang="en" sz="2400" dirty="0"/>
              <a:t>f Statement and</a:t>
            </a:r>
          </a:p>
          <a:p>
            <a:pPr marL="0" indent="0"/>
            <a:r>
              <a:rPr lang="en-US" sz="2400" dirty="0"/>
              <a:t>I</a:t>
            </a:r>
            <a:r>
              <a:rPr lang="en" sz="2400" dirty="0"/>
              <a:t>f-else Statement</a:t>
            </a:r>
            <a:endParaRPr lang="en-GB" sz="2400" dirty="0"/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US" sz="2400" dirty="0"/>
              <a:t>else if</a:t>
            </a:r>
            <a:r>
              <a:rPr lang="en" sz="2400" dirty="0"/>
              <a:t> Statement</a:t>
            </a:r>
            <a:endParaRPr lang="en-GB" sz="2400" dirty="0"/>
          </a:p>
        </p:txBody>
      </p:sp>
      <p:sp>
        <p:nvSpPr>
          <p:cNvPr id="2" name="Google Shape;217;p29">
            <a:extLst>
              <a:ext uri="{FF2B5EF4-FFF2-40B4-BE49-F238E27FC236}">
                <a16:creationId xmlns:a16="http://schemas.microsoft.com/office/drawing/2014/main" id="{5BB09D62-BF6A-DB34-274C-168462175DAA}"/>
              </a:ext>
            </a:extLst>
          </p:cNvPr>
          <p:cNvSpPr txBox="1">
            <a:spLocks/>
          </p:cNvSpPr>
          <p:nvPr/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" dirty="0"/>
              <a:t>06</a:t>
            </a:r>
          </a:p>
        </p:txBody>
      </p:sp>
      <p:cxnSp>
        <p:nvCxnSpPr>
          <p:cNvPr id="7" name="Google Shape;230;p29">
            <a:extLst>
              <a:ext uri="{FF2B5EF4-FFF2-40B4-BE49-F238E27FC236}">
                <a16:creationId xmlns:a16="http://schemas.microsoft.com/office/drawing/2014/main" id="{E7A130C1-8D36-5669-4FC9-F21CE2589541}"/>
              </a:ext>
            </a:extLst>
          </p:cNvPr>
          <p:cNvCxnSpPr/>
          <p:nvPr/>
        </p:nvCxnSpPr>
        <p:spPr>
          <a:xfrm>
            <a:off x="9035454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220;p29">
            <a:extLst>
              <a:ext uri="{FF2B5EF4-FFF2-40B4-BE49-F238E27FC236}">
                <a16:creationId xmlns:a16="http://schemas.microsoft.com/office/drawing/2014/main" id="{63A31314-ACE2-D4CA-7A22-1F63F120AAC0}"/>
              </a:ext>
            </a:extLst>
          </p:cNvPr>
          <p:cNvSpPr txBox="1">
            <a:spLocks/>
          </p:cNvSpPr>
          <p:nvPr/>
        </p:nvSpPr>
        <p:spPr>
          <a:xfrm>
            <a:off x="7970937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5165C2E5-340E-F7C3-F0AC-5818B6D66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BC75741-55A6-F9C4-22CC-0F2404E660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Truthy and Falsy values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B6C94E6-4346-0EA6-AF82-648E83D9018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C5F5DE-0204-6647-9F96-3726948BFE51}"/>
              </a:ext>
            </a:extLst>
          </p:cNvPr>
          <p:cNvSpPr txBox="1"/>
          <p:nvPr/>
        </p:nvSpPr>
        <p:spPr>
          <a:xfrm>
            <a:off x="960001" y="1101133"/>
            <a:ext cx="11025172" cy="5763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JavaScript, every value becomes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we check it in an if statement.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Truthy – a value is truthy if JavaScript thinks it is true.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Falsy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a value is </a:t>
            </a:r>
            <a:r>
              <a:rPr lang="en-GB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falsy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 JavaScript thinks it is false.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False, 0, “”, null, undefined, </a:t>
            </a:r>
            <a:r>
              <a:rPr lang="en-GB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endParaRPr lang="en-GB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Truthy Examples: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("Hello") console.log("truthy");   // string with text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(123) console.log("truthy");       // number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([]) console.log("truthy");        // empty array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({}) console.log("truthy");        // empty object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("0") console.log("truthy");       // string "0"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("false") console.log("truthy");   // string "false"</a:t>
            </a:r>
          </a:p>
        </p:txBody>
      </p:sp>
    </p:spTree>
    <p:extLst>
      <p:ext uri="{BB962C8B-B14F-4D97-AF65-F5344CB8AC3E}">
        <p14:creationId xmlns:p14="http://schemas.microsoft.com/office/powerpoint/2010/main" val="101163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3B1E3D73-1750-9422-5445-0CFD5C1B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BF3720F-7F30-341F-37B0-7B1C653AF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Truthy and Falsy values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1EA3F54D-98B9-A4EC-3997-372EC27BB57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DD0653-1634-E41A-CEA9-81461E5F7556}"/>
              </a:ext>
            </a:extLst>
          </p:cNvPr>
          <p:cNvSpPr txBox="1"/>
          <p:nvPr/>
        </p:nvSpPr>
        <p:spPr>
          <a:xfrm>
            <a:off x="960001" y="1101132"/>
            <a:ext cx="11025172" cy="3055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Falsy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Examples: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(0) console.log("truthy");         // no output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("") console.log("truthy");        // no output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(null) console.log("truthy");      // no output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(undefined) console.log("truthy"); // no output</a:t>
            </a:r>
          </a:p>
          <a:p>
            <a:pPr lvl="0"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</a:t>
            </a:r>
            <a:r>
              <a:rPr lang="en-GB" sz="2133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console.log("truthy");       // no output</a:t>
            </a:r>
          </a:p>
        </p:txBody>
      </p:sp>
    </p:spTree>
    <p:extLst>
      <p:ext uri="{BB962C8B-B14F-4D97-AF65-F5344CB8AC3E}">
        <p14:creationId xmlns:p14="http://schemas.microsoft.com/office/powerpoint/2010/main" val="337613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6292C25-8669-0DA5-2439-966A92FA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4BA626D-4F72-739A-D789-62B267C85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Comparison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8467547-73F7-6101-AE72-034E3A6BBF76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8328FF-CE68-0D41-CEDE-1CD71A31632C}"/>
              </a:ext>
            </a:extLst>
          </p:cNvPr>
          <p:cNvSpPr txBox="1"/>
          <p:nvPr/>
        </p:nvSpPr>
        <p:spPr>
          <a:xfrm>
            <a:off x="960001" y="998541"/>
            <a:ext cx="11025172" cy="11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Comparison operators are used to compare two values.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Comparison operators always return true or false. Given x = 5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B1A490-0EC8-D326-010D-A0650F71BCE2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168862"/>
          <a:ext cx="8338460" cy="4674935"/>
        </p:xfrm>
        <a:graphic>
          <a:graphicData uri="http://schemas.openxmlformats.org/drawingml/2006/table">
            <a:tbl>
              <a:tblPr/>
              <a:tblGrid>
                <a:gridCol w="2084615">
                  <a:extLst>
                    <a:ext uri="{9D8B030D-6E8A-4147-A177-3AD203B41FA5}">
                      <a16:colId xmlns:a16="http://schemas.microsoft.com/office/drawing/2014/main" val="2438443146"/>
                    </a:ext>
                  </a:extLst>
                </a:gridCol>
                <a:gridCol w="2084615">
                  <a:extLst>
                    <a:ext uri="{9D8B030D-6E8A-4147-A177-3AD203B41FA5}">
                      <a16:colId xmlns:a16="http://schemas.microsoft.com/office/drawing/2014/main" val="1830712641"/>
                    </a:ext>
                  </a:extLst>
                </a:gridCol>
                <a:gridCol w="2084615">
                  <a:extLst>
                    <a:ext uri="{9D8B030D-6E8A-4147-A177-3AD203B41FA5}">
                      <a16:colId xmlns:a16="http://schemas.microsoft.com/office/drawing/2014/main" val="2430543877"/>
                    </a:ext>
                  </a:extLst>
                </a:gridCol>
                <a:gridCol w="2084615">
                  <a:extLst>
                    <a:ext uri="{9D8B030D-6E8A-4147-A177-3AD203B41FA5}">
                      <a16:colId xmlns:a16="http://schemas.microsoft.com/office/drawing/2014/main" val="554038531"/>
                    </a:ext>
                  </a:extLst>
                </a:gridCol>
              </a:tblGrid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dirty="0">
                          <a:effectLst/>
                        </a:rPr>
                        <a:t>Operator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>
                          <a:effectLst/>
                        </a:rPr>
                        <a:t>Description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>
                          <a:effectLst/>
                        </a:rPr>
                        <a:t>Comparing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dirty="0">
                          <a:effectLst/>
                        </a:rPr>
                        <a:t>Returns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29364"/>
                  </a:ext>
                </a:extLst>
              </a:tr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==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equal to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x == 8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false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689432"/>
                  </a:ext>
                </a:extLst>
              </a:tr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x == "5"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true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518106"/>
                  </a:ext>
                </a:extLst>
              </a:tr>
              <a:tr h="5523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===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300" dirty="0">
                          <a:effectLst/>
                        </a:rPr>
                        <a:t>equal value and equal type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=== 5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true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058778"/>
                  </a:ext>
                </a:extLst>
              </a:tr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=== "5"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false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745027"/>
                  </a:ext>
                </a:extLst>
              </a:tr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!=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not equal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!= 8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true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515703"/>
                  </a:ext>
                </a:extLst>
              </a:tr>
              <a:tr h="5523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!==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300">
                          <a:effectLst/>
                        </a:rPr>
                        <a:t>not equal value or not equal type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!== 5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false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217967"/>
                  </a:ext>
                </a:extLst>
              </a:tr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!== "5"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true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748525"/>
                  </a:ext>
                </a:extLst>
              </a:tr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300">
                        <a:effectLst/>
                      </a:endParaRP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!== 8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true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581"/>
                  </a:ext>
                </a:extLst>
              </a:tr>
              <a:tr h="3934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&gt;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greater than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&gt; 8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false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110795"/>
                  </a:ext>
                </a:extLst>
              </a:tr>
              <a:tr h="2788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&lt;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less than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&lt; 8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true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23940"/>
                  </a:ext>
                </a:extLst>
              </a:tr>
              <a:tr h="5523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&gt;=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300" dirty="0">
                          <a:effectLst/>
                        </a:rPr>
                        <a:t>greater than or equal to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x &gt;= 8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false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003061"/>
                  </a:ext>
                </a:extLst>
              </a:tr>
              <a:tr h="3934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&lt;=</a:t>
                      </a:r>
                    </a:p>
                  </a:txBody>
                  <a:tcPr marL="75665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300">
                          <a:effectLst/>
                        </a:rPr>
                        <a:t>less than or equal to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&lt;= 8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true</a:t>
                      </a:r>
                    </a:p>
                  </a:txBody>
                  <a:tcPr marL="37833" marR="37833" marT="37833" marB="3783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72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92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0111C1E-1442-2AC0-23AA-D2EFBFBB2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4BE5595-5EF4-8588-595F-1421EA448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Logical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3B2107E-DC06-857B-DF0A-A33F2F68F28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5EB83A5-10EA-0983-7B85-5AE0E6B06C54}"/>
              </a:ext>
            </a:extLst>
          </p:cNvPr>
          <p:cNvSpPr txBox="1"/>
          <p:nvPr/>
        </p:nvSpPr>
        <p:spPr>
          <a:xfrm>
            <a:off x="960001" y="1101133"/>
            <a:ext cx="11025172" cy="548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operators are used to combine </a:t>
            </a:r>
            <a:r>
              <a:rPr lang="en-GB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boolean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expressions.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operators can be used to modify the results of comparisons.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Typically, you will use a comparison operator to check a condition, and a logical operator to combine conditions into more complex logic.</a:t>
            </a:r>
          </a:p>
          <a:p>
            <a:pPr lvl="0"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AND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&amp;&amp;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operator returns true if both expressions are true, otherwise false: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: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x = 6;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y = 3;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z = (x &lt; 10 &amp;&amp; y &gt; 1) // true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77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7C1D1FF-D9B6-4C25-9C9B-D3FACF8F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448377C-41F8-E4FB-AC89-C35DEE517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Logical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D440AF63-455D-0C79-8894-290E1388CEB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A9439F4-332A-D922-DBF4-1634EBA841FE}"/>
              </a:ext>
            </a:extLst>
          </p:cNvPr>
          <p:cNvSpPr txBox="1"/>
          <p:nvPr/>
        </p:nvSpPr>
        <p:spPr>
          <a:xfrm>
            <a:off x="960001" y="1101132"/>
            <a:ext cx="11025172" cy="3268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OR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||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operator returns true if one or both expressions are true, otherwise false: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: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x = 6;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y = -3;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z = (x &gt; 0 || y &gt; 0); // true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86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BED9BEE-4120-B9A3-2763-72EA3726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DB69C598-EB11-C1B3-92A5-86A007A9E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Logical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FA12D6A-1D15-64F3-B02C-538A2BC33D3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7C54936-589F-2E0E-D0ED-BFF059497F7C}"/>
              </a:ext>
            </a:extLst>
          </p:cNvPr>
          <p:cNvSpPr txBox="1"/>
          <p:nvPr/>
        </p:nvSpPr>
        <p:spPr>
          <a:xfrm>
            <a:off x="960001" y="1101132"/>
            <a:ext cx="11025172" cy="274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NOT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operator returns true for false expressions and false for true expressions.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: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x = (5 == 8);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y = !(5 == 8); // true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5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FD69E197-53FF-ED37-EAF0-47E9923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1C8B7F4-2160-8D8C-FF22-77AAC24D27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I</a:t>
            </a:r>
            <a:r>
              <a:rPr lang="en" dirty="0"/>
              <a:t>f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EE06CFF-12D1-DA60-9A22-BBAEDC07170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80CFFE-E926-D753-39B2-7130827ED7B0}"/>
              </a:ext>
            </a:extLst>
          </p:cNvPr>
          <p:cNvSpPr txBox="1"/>
          <p:nvPr/>
        </p:nvSpPr>
        <p:spPr>
          <a:xfrm>
            <a:off x="960001" y="1101133"/>
            <a:ext cx="11025172" cy="588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if statement to specify a block of Java code to be executed if a condition is true.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if (condition)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block of code to be executed if the condition is true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x = 20;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y = 18;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if (x &gt; y) {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console.log(“x is greater than y”);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Output: x is greater than 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844A7E-4D27-11D4-979A-B242E0064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747" y="3231315"/>
            <a:ext cx="2784644" cy="362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5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915CBAC-09E8-2DF3-25A3-697D01DC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4A0AA31-FDD2-B96D-E68D-D0511D4A0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I</a:t>
            </a:r>
            <a:r>
              <a:rPr lang="en" dirty="0"/>
              <a:t>f-else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16C8FF6D-C885-F740-E8F0-7A0ECDD57B5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61ABC3-CED8-31EE-F830-9E3BA2B67FBC}"/>
              </a:ext>
            </a:extLst>
          </p:cNvPr>
          <p:cNvSpPr txBox="1"/>
          <p:nvPr/>
        </p:nvSpPr>
        <p:spPr>
          <a:xfrm>
            <a:off x="960001" y="1101133"/>
            <a:ext cx="11025172" cy="443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else statement to specify a block of code to be executed if the condition is false.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if (condition) {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block of code to be executed if the condition is true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{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// block of code to be executed if the condition is false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27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3260C4D-AAB2-C0F8-D2C8-853CC630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5F92136-DE1E-5EE4-4697-9E1745DB60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I</a:t>
            </a:r>
            <a:r>
              <a:rPr lang="en" dirty="0"/>
              <a:t>f-else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B8406EB-F624-1F4B-DA9E-E31A2732324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1012B6E-31BC-1C8C-1254-D929F1F18C6B}"/>
              </a:ext>
            </a:extLst>
          </p:cNvPr>
          <p:cNvSpPr txBox="1"/>
          <p:nvPr/>
        </p:nvSpPr>
        <p:spPr>
          <a:xfrm>
            <a:off x="960001" y="1101133"/>
            <a:ext cx="11025172" cy="530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CA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x = 20;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y = 25;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if (x &gt; y) {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console.log(“x is greater than y”);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{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console.log(“y is greater than x”);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Output: y is greater than 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F119C7-66BA-04B5-FDD0-D5F7CC2C6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803" y="337532"/>
            <a:ext cx="6763197" cy="277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45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F53BAAB7-C875-781E-E255-0BD0CC39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123A6EE-F007-F736-9E6A-8AD5068B2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else if</a:t>
            </a:r>
            <a:r>
              <a:rPr lang="en" dirty="0"/>
              <a:t>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67C1A8D-65F1-6861-5E39-3187F0142D9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016E5FB-9A09-CE7B-C202-8103CB7A3333}"/>
              </a:ext>
            </a:extLst>
          </p:cNvPr>
          <p:cNvSpPr txBox="1"/>
          <p:nvPr/>
        </p:nvSpPr>
        <p:spPr>
          <a:xfrm>
            <a:off x="960001" y="1101132"/>
            <a:ext cx="11025172" cy="486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else statement to specify a block of code to be executed if the condition is false.</a:t>
            </a:r>
          </a:p>
          <a:p>
            <a:pPr lvl="0">
              <a:lnSpc>
                <a:spcPct val="150000"/>
              </a:lnSpc>
            </a:pPr>
            <a:r>
              <a:rPr lang="da-DK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if (condition) {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// block of code to be executed if the condition is true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if (condition) {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// block of code to be executed if the condition1 is false and condition2 is true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{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// block of code to be executed if the condition1 is false and condition2 is false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6198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A188372-6D62-8AAA-4634-9D84153A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A8BB61AF-BB5E-5C42-9FB8-7D750B5917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else if</a:t>
            </a:r>
            <a:r>
              <a:rPr lang="en" dirty="0"/>
              <a:t>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1A57EDA-3280-C965-E38F-B11A4E3B50D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3B3E08-632B-0479-5228-73F9315CD674}"/>
              </a:ext>
            </a:extLst>
          </p:cNvPr>
          <p:cNvSpPr txBox="1"/>
          <p:nvPr/>
        </p:nvSpPr>
        <p:spPr>
          <a:xfrm>
            <a:off x="960001" y="1101132"/>
            <a:ext cx="11025172" cy="551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CA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time = 17;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(time &lt; 12) {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CA" sz="2133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(“Good Morning”);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 if (time &lt; 19) {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CA" sz="2133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(“Good afternoon”);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 {</a:t>
            </a:r>
          </a:p>
          <a:p>
            <a:pPr lvl="0"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CA" sz="2133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(“Good evening”);</a:t>
            </a:r>
          </a:p>
          <a:p>
            <a:pPr>
              <a:lnSpc>
                <a:spcPct val="150000"/>
              </a:lnSpc>
            </a:pPr>
            <a:r>
              <a:rPr lang="en-CA" sz="2133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 Output: Good afternoon</a:t>
            </a:r>
          </a:p>
        </p:txBody>
      </p:sp>
    </p:spTree>
    <p:extLst>
      <p:ext uri="{BB962C8B-B14F-4D97-AF65-F5344CB8AC3E}">
        <p14:creationId xmlns:p14="http://schemas.microsoft.com/office/powerpoint/2010/main" val="2090712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5941367E-037A-DF6C-CEDC-DFA87E31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034BB706-C957-A031-644A-515A4E340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else if</a:t>
            </a:r>
            <a:r>
              <a:rPr lang="en" dirty="0"/>
              <a:t> Statement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1557EE1-D07C-35B7-F953-FAC5B6CCCE4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2" name="Picture 2" descr="If else in JavaScript | Nested if else, Example - Scientech Easy">
            <a:extLst>
              <a:ext uri="{FF2B5EF4-FFF2-40B4-BE49-F238E27FC236}">
                <a16:creationId xmlns:a16="http://schemas.microsoft.com/office/drawing/2014/main" id="{278FF281-2018-E653-CBCD-3CC32CF59A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" t="4123" r="2338" b="4670"/>
          <a:stretch/>
        </p:blipFill>
        <p:spPr bwMode="auto">
          <a:xfrm>
            <a:off x="2436560" y="1186544"/>
            <a:ext cx="7318880" cy="510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86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879</Words>
  <Application>Microsoft Office PowerPoint</Application>
  <PresentationFormat>Widescreen</PresentationFormat>
  <Paragraphs>160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Wingdings</vt:lpstr>
      <vt:lpstr>Office Theme</vt:lpstr>
      <vt:lpstr>PowerPoint Presentation</vt:lpstr>
      <vt:lpstr>What we Cover Today:</vt:lpstr>
      <vt:lpstr>Truthy and Falsy values</vt:lpstr>
      <vt:lpstr>Truthy and Falsy values</vt:lpstr>
      <vt:lpstr>Comparison Operators</vt:lpstr>
      <vt:lpstr>Logical Operators</vt:lpstr>
      <vt:lpstr>Logical Operators</vt:lpstr>
      <vt:lpstr>Logical Operators</vt:lpstr>
      <vt:lpstr>If Statement</vt:lpstr>
      <vt:lpstr>If-else Statement</vt:lpstr>
      <vt:lpstr>If-else Statement</vt:lpstr>
      <vt:lpstr>else if Statement</vt:lpstr>
      <vt:lpstr>else if Statement</vt:lpstr>
      <vt:lpstr>else if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2</cp:revision>
  <dcterms:created xsi:type="dcterms:W3CDTF">2025-12-15T16:25:16Z</dcterms:created>
  <dcterms:modified xsi:type="dcterms:W3CDTF">2025-12-15T16:28:48Z</dcterms:modified>
</cp:coreProperties>
</file>